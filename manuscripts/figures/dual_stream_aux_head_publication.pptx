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eam group 2"/>
          <p:cNvSpPr/>
          <p:nvPr/>
        </p:nvSpPr>
        <p:spPr>
          <a:xfrm>
            <a:off x="274320" y="713232"/>
            <a:ext cx="4709160" cy="5340096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CE5EC"/>
            </a:solidFill>
            <a:prstDash val="dash"/>
          </a:ln>
        </p:spPr>
        <p:txBody>
          <a:bodyPr wrap="square" rtlCol="0" anchor="ctr"/>
          <a:lstStyle/>
          <a:p>
            <a:pPr algn="ctr"/>
            <a:r>
              <a:rPr lang="en-US" sz="780">
                <a:solidFill>
                  <a:srgbClr val="1D1D1D"/>
                </a:solidFill>
              </a:rPr>
              <a:t/>
            </a:r>
            <a:endParaRPr lang="en-US" sz="780"/>
          </a:p>
        </p:txBody>
      </p:sp>
      <p:sp>
        <p:nvSpPr>
          <p:cNvPr id="3" name="fusion group 3"/>
          <p:cNvSpPr/>
          <p:nvPr/>
        </p:nvSpPr>
        <p:spPr>
          <a:xfrm>
            <a:off x="5166360" y="1719072"/>
            <a:ext cx="2240280" cy="3346704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7EBEA"/>
            </a:solidFill>
            <a:prstDash val="dash"/>
          </a:ln>
        </p:spPr>
        <p:txBody>
          <a:bodyPr wrap="square" rtlCol="0" anchor="ctr"/>
          <a:lstStyle/>
          <a:p>
            <a:pPr algn="ctr"/>
            <a:r>
              <a:rPr lang="en-US" sz="780">
                <a:solidFill>
                  <a:srgbClr val="1D1D1D"/>
                </a:solidFill>
              </a:rPr>
              <a:t/>
            </a:r>
            <a:endParaRPr lang="en-US" sz="780"/>
          </a:p>
        </p:txBody>
      </p:sp>
      <p:sp>
        <p:nvSpPr>
          <p:cNvPr id="4" name="aux group 4"/>
          <p:cNvSpPr/>
          <p:nvPr/>
        </p:nvSpPr>
        <p:spPr>
          <a:xfrm>
            <a:off x="7936992" y="713232"/>
            <a:ext cx="3794760" cy="2340864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EADCE0"/>
            </a:solidFill>
            <a:prstDash val="dash"/>
          </a:ln>
        </p:spPr>
        <p:txBody>
          <a:bodyPr wrap="square" rtlCol="0" anchor="ctr"/>
          <a:lstStyle/>
          <a:p>
            <a:pPr algn="ctr"/>
            <a:r>
              <a:rPr lang="en-US" sz="780">
                <a:solidFill>
                  <a:srgbClr val="1D1D1D"/>
                </a:solidFill>
              </a:rPr>
              <a:t/>
            </a:r>
            <a:endParaRPr lang="en-US" sz="780"/>
          </a:p>
        </p:txBody>
      </p:sp>
      <p:sp>
        <p:nvSpPr>
          <p:cNvPr id="5" name="ppo group 5"/>
          <p:cNvSpPr/>
          <p:nvPr/>
        </p:nvSpPr>
        <p:spPr>
          <a:xfrm>
            <a:off x="7936992" y="3822192"/>
            <a:ext cx="3246120" cy="181051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EE3EA"/>
            </a:solidFill>
            <a:prstDash val="dash"/>
          </a:ln>
        </p:spPr>
        <p:txBody>
          <a:bodyPr wrap="square" rtlCol="0" anchor="ctr"/>
          <a:lstStyle/>
          <a:p>
            <a:pPr algn="ctr"/>
            <a:r>
              <a:rPr lang="en-US" sz="780">
                <a:solidFill>
                  <a:srgbClr val="1D1D1D"/>
                </a:solidFill>
              </a:rPr>
              <a:t/>
            </a:r>
            <a:endParaRPr lang="en-US" sz="780"/>
          </a:p>
        </p:txBody>
      </p:sp>
      <p:sp>
        <p:nvSpPr>
          <p:cNvPr id="6" name="text 6"/>
          <p:cNvSpPr txBox="1"/>
          <p:nvPr/>
        </p:nvSpPr>
        <p:spPr>
          <a:xfrm>
            <a:off x="1234440" y="896112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780" b="1">
                <a:solidFill>
                  <a:srgbClr val="355C7D"/>
                </a:solidFill>
              </a:rPr>
              <a:t>Spatial branch</a:t>
            </a:r>
            <a:endParaRPr lang="en-US" sz="780"/>
          </a:p>
        </p:txBody>
      </p:sp>
      <p:sp>
        <p:nvSpPr>
          <p:cNvPr id="7" name="shape 7"/>
          <p:cNvSpPr/>
          <p:nvPr/>
        </p:nvSpPr>
        <p:spPr>
          <a:xfrm>
            <a:off x="566928" y="1499616"/>
            <a:ext cx="1051560" cy="612648"/>
          </a:xfrm>
          <a:prstGeom prst="roundRect">
            <a:avLst/>
          </a:prstGeom>
          <a:solidFill>
            <a:srgbClr val="EEF4F8"/>
          </a:solidFill>
          <a:ln w="12000">
            <a:solidFill>
              <a:srgbClr val="355C7D"/>
            </a:solidFill>
          </a:ln>
        </p:spPr>
        <p:txBody>
          <a:bodyPr wrap="square" rtlCol="0" anchor="ctr"/>
          <a:lstStyle/>
          <a:p>
            <a:pPr algn="ctr"/>
            <a:r>
              <a:rPr lang="en-US" sz="740" b="1">
                <a:solidFill>
                  <a:srgbClr val="1D1D1D"/>
                </a:solidFill>
              </a:rPr>
              <a:t>Spatial</a:t>
            </a:r>
            <a:endParaRPr lang="en-US" sz="740"/>
          </a:p>
          <a:p>
            <a:pPr algn="ctr"/>
            <a:r>
              <a:rPr lang="en-US" sz="740" b="1">
                <a:solidFill>
                  <a:srgbClr val="1D1D1D"/>
                </a:solidFill>
              </a:rPr>
              <a:t>state</a:t>
            </a:r>
            <a:endParaRPr lang="en-US" sz="740"/>
          </a:p>
          <a:p>
            <a:pPr algn="ctr"/>
            <a:r>
              <a:rPr lang="en-US" sz="740" b="1">
                <a:solidFill>
                  <a:srgbClr val="1D1D1D"/>
                </a:solidFill>
              </a:rPr>
              <a:t>12-dim</a:t>
            </a:r>
            <a:endParaRPr lang="en-US" sz="740"/>
          </a:p>
        </p:txBody>
      </p:sp>
      <p:sp>
        <p:nvSpPr>
          <p:cNvPr id="8" name="shape 8"/>
          <p:cNvSpPr/>
          <p:nvPr/>
        </p:nvSpPr>
        <p:spPr>
          <a:xfrm>
            <a:off x="2011680" y="1499616"/>
            <a:ext cx="1051560" cy="612648"/>
          </a:xfrm>
          <a:prstGeom prst="roundRect">
            <a:avLst/>
          </a:prstGeom>
          <a:solidFill>
            <a:srgbClr val="D8E6EF"/>
          </a:solidFill>
          <a:ln w="12000">
            <a:solidFill>
              <a:srgbClr val="355C7D"/>
            </a:solidFill>
          </a:ln>
        </p:spPr>
        <p:txBody>
          <a:bodyPr wrap="square" rtlCol="0" anchor="ctr"/>
          <a:lstStyle/>
          <a:p>
            <a:pPr algn="ctr"/>
            <a:r>
              <a:rPr lang="en-US" sz="740" b="1">
                <a:solidFill>
                  <a:srgbClr val="1D1D1D"/>
                </a:solidFill>
              </a:rPr>
              <a:t>MLP</a:t>
            </a:r>
            <a:endParaRPr lang="en-US" sz="740"/>
          </a:p>
          <a:p>
            <a:pPr algn="ctr"/>
            <a:r>
              <a:rPr lang="en-US" sz="740" b="1">
                <a:solidFill>
                  <a:srgbClr val="1D1D1D"/>
                </a:solidFill>
              </a:rPr>
              <a:t>12 -&gt; 32</a:t>
            </a:r>
            <a:endParaRPr lang="en-US" sz="740"/>
          </a:p>
        </p:txBody>
      </p:sp>
      <p:sp>
        <p:nvSpPr>
          <p:cNvPr id="9" name="shape 9"/>
          <p:cNvSpPr/>
          <p:nvPr/>
        </p:nvSpPr>
        <p:spPr>
          <a:xfrm>
            <a:off x="3456432" y="1499616"/>
            <a:ext cx="1097280" cy="612648"/>
          </a:xfrm>
          <a:prstGeom prst="roundRect">
            <a:avLst/>
          </a:prstGeom>
          <a:solidFill>
            <a:srgbClr val="C9DDED"/>
          </a:solidFill>
          <a:ln w="12000">
            <a:solidFill>
              <a:srgbClr val="355C7D"/>
            </a:solidFill>
          </a:ln>
        </p:spPr>
        <p:txBody>
          <a:bodyPr wrap="square" rtlCol="0" anchor="ctr"/>
          <a:lstStyle/>
          <a:p>
            <a:pPr algn="ctr"/>
            <a:r>
              <a:rPr lang="en-US" sz="700">
                <a:solidFill>
                  <a:srgbClr val="1D1D1D"/>
                </a:solidFill>
              </a:rPr>
              <a:t>Spatial</a:t>
            </a:r>
            <a:endParaRPr lang="en-US" sz="700"/>
          </a:p>
          <a:p>
            <a:pPr algn="ctr"/>
            <a:r>
              <a:rPr lang="en-US" sz="700">
                <a:solidFill>
                  <a:srgbClr val="1D1D1D"/>
                </a:solidFill>
              </a:rPr>
              <a:t>embedding</a:t>
            </a:r>
            <a:endParaRPr lang="en-US" sz="700"/>
          </a:p>
        </p:txBody>
      </p:sp>
      <p:cxnSp>
        <p:nvCxnSpPr>
          <p:cNvPr id="10" name="connector 10"/>
          <p:cNvCxnSpPr/>
          <p:nvPr/>
        </p:nvCxnSpPr>
        <p:spPr>
          <a:xfrm>
            <a:off x="1618488" y="1810512"/>
            <a:ext cx="393192" cy="914"/>
          </a:xfrm>
          <a:prstGeom prst="line">
            <a:avLst/>
          </a:prstGeom>
          <a:ln w="15000">
            <a:solidFill>
              <a:srgbClr val="355C7D"/>
            </a:solidFill>
            <a:tailEnd type="none"/>
            <a:headEnd type="triangle"/>
          </a:ln>
        </p:spPr>
      </p:cxnSp>
      <p:cxnSp>
        <p:nvCxnSpPr>
          <p:cNvPr id="11" name="connector 11"/>
          <p:cNvCxnSpPr/>
          <p:nvPr/>
        </p:nvCxnSpPr>
        <p:spPr>
          <a:xfrm>
            <a:off x="3063240" y="1810512"/>
            <a:ext cx="393192" cy="914"/>
          </a:xfrm>
          <a:prstGeom prst="line">
            <a:avLst/>
          </a:prstGeom>
          <a:ln w="15000">
            <a:solidFill>
              <a:srgbClr val="355C7D"/>
            </a:solidFill>
            <a:tailEnd type="none"/>
            <a:headEnd type="triangle"/>
          </a:ln>
        </p:spPr>
      </p:cxnSp>
      <p:sp>
        <p:nvSpPr>
          <p:cNvPr id="12" name="text 12"/>
          <p:cNvSpPr txBox="1"/>
          <p:nvPr/>
        </p:nvSpPr>
        <p:spPr>
          <a:xfrm>
            <a:off x="658368" y="2286000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540">
                <a:solidFill>
                  <a:srgbClr val="6E7781"/>
                </a:solidFill>
              </a:rPr>
              <a:t>robot/hand position, distance, boundary, stride, previous action</a:t>
            </a:r>
            <a:endParaRPr lang="en-US" sz="540"/>
          </a:p>
        </p:txBody>
      </p:sp>
      <p:sp>
        <p:nvSpPr>
          <p:cNvPr id="13" name="text 13"/>
          <p:cNvSpPr txBox="1"/>
          <p:nvPr/>
        </p:nvSpPr>
        <p:spPr>
          <a:xfrm>
            <a:off x="1234440" y="3547872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780" b="1">
                <a:solidFill>
                  <a:srgbClr val="7A6A43"/>
                </a:solidFill>
              </a:rPr>
              <a:t>Temporal branch</a:t>
            </a:r>
            <a:endParaRPr lang="en-US" sz="780"/>
          </a:p>
        </p:txBody>
      </p:sp>
      <p:sp>
        <p:nvSpPr>
          <p:cNvPr id="14" name="shape 14"/>
          <p:cNvSpPr/>
          <p:nvPr/>
        </p:nvSpPr>
        <p:spPr>
          <a:xfrm>
            <a:off x="566928" y="4169664"/>
            <a:ext cx="1051560" cy="612648"/>
          </a:xfrm>
          <a:prstGeom prst="roundRect">
            <a:avLst/>
          </a:prstGeom>
          <a:solidFill>
            <a:srgbClr val="F7F2E8"/>
          </a:solidFill>
          <a:ln w="12000">
            <a:solidFill>
              <a:srgbClr val="7A6A43"/>
            </a:solidFill>
          </a:ln>
        </p:spPr>
        <p:txBody>
          <a:bodyPr wrap="square" rtlCol="0" anchor="ctr"/>
          <a:lstStyle/>
          <a:p>
            <a:pPr algn="ctr"/>
            <a:r>
              <a:rPr lang="en-US" sz="740" b="1">
                <a:solidFill>
                  <a:srgbClr val="1D1D1D"/>
                </a:solidFill>
              </a:rPr>
              <a:t>History</a:t>
            </a:r>
            <a:endParaRPr lang="en-US" sz="740"/>
          </a:p>
          <a:p>
            <a:pPr algn="ctr"/>
            <a:r>
              <a:rPr lang="en-US" sz="740" b="1">
                <a:solidFill>
                  <a:srgbClr val="1D1D1D"/>
                </a:solidFill>
              </a:rPr>
              <a:t>16 x 2</a:t>
            </a:r>
            <a:endParaRPr lang="en-US" sz="740"/>
          </a:p>
        </p:txBody>
      </p:sp>
      <p:sp>
        <p:nvSpPr>
          <p:cNvPr id="15" name="shape 15"/>
          <p:cNvSpPr/>
          <p:nvPr/>
        </p:nvSpPr>
        <p:spPr>
          <a:xfrm>
            <a:off x="2011680" y="4169664"/>
            <a:ext cx="1051560" cy="612648"/>
          </a:xfrm>
          <a:prstGeom prst="roundRect">
            <a:avLst/>
          </a:prstGeom>
          <a:solidFill>
            <a:srgbClr val="E9DDBF"/>
          </a:solidFill>
          <a:ln w="12000">
            <a:solidFill>
              <a:srgbClr val="7A6A43"/>
            </a:solidFill>
          </a:ln>
        </p:spPr>
        <p:txBody>
          <a:bodyPr wrap="square" rtlCol="0" anchor="ctr"/>
          <a:lstStyle/>
          <a:p>
            <a:pPr algn="ctr"/>
            <a:r>
              <a:rPr lang="en-US" sz="740" b="1">
                <a:solidFill>
                  <a:srgbClr val="1D1D1D"/>
                </a:solidFill>
              </a:rPr>
              <a:t>LSTM</a:t>
            </a:r>
            <a:endParaRPr lang="en-US" sz="740"/>
          </a:p>
          <a:p>
            <a:pPr algn="ctr"/>
            <a:r>
              <a:rPr lang="en-US" sz="740" b="1">
                <a:solidFill>
                  <a:srgbClr val="1D1D1D"/>
                </a:solidFill>
              </a:rPr>
              <a:t>2 layers</a:t>
            </a:r>
            <a:endParaRPr lang="en-US" sz="740"/>
          </a:p>
        </p:txBody>
      </p:sp>
      <p:sp>
        <p:nvSpPr>
          <p:cNvPr id="16" name="shape 16"/>
          <p:cNvSpPr/>
          <p:nvPr/>
        </p:nvSpPr>
        <p:spPr>
          <a:xfrm>
            <a:off x="3456432" y="4169664"/>
            <a:ext cx="1097280" cy="612648"/>
          </a:xfrm>
          <a:prstGeom prst="roundRect">
            <a:avLst/>
          </a:prstGeom>
          <a:solidFill>
            <a:srgbClr val="EAC7A9"/>
          </a:solidFill>
          <a:ln w="12000">
            <a:solidFill>
              <a:srgbClr val="7A6A43"/>
            </a:solidFill>
          </a:ln>
        </p:spPr>
        <p:txBody>
          <a:bodyPr wrap="square" rtlCol="0" anchor="ctr"/>
          <a:lstStyle/>
          <a:p>
            <a:pPr algn="ctr"/>
            <a:r>
              <a:rPr lang="en-US" sz="700">
                <a:solidFill>
                  <a:srgbClr val="1D1D1D"/>
                </a:solidFill>
              </a:rPr>
              <a:t>Temporal</a:t>
            </a:r>
            <a:endParaRPr lang="en-US" sz="700"/>
          </a:p>
          <a:p>
            <a:pPr algn="ctr"/>
            <a:r>
              <a:rPr lang="en-US" sz="700">
                <a:solidFill>
                  <a:srgbClr val="1D1D1D"/>
                </a:solidFill>
              </a:rPr>
              <a:t>embedding</a:t>
            </a:r>
            <a:endParaRPr lang="en-US" sz="700"/>
          </a:p>
        </p:txBody>
      </p:sp>
      <p:cxnSp>
        <p:nvCxnSpPr>
          <p:cNvPr id="17" name="connector 17"/>
          <p:cNvCxnSpPr/>
          <p:nvPr/>
        </p:nvCxnSpPr>
        <p:spPr>
          <a:xfrm>
            <a:off x="1618488" y="4480560"/>
            <a:ext cx="393192" cy="914"/>
          </a:xfrm>
          <a:prstGeom prst="line">
            <a:avLst/>
          </a:prstGeom>
          <a:ln w="15000">
            <a:solidFill>
              <a:srgbClr val="7A6A43"/>
            </a:solidFill>
            <a:tailEnd type="none"/>
            <a:headEnd type="triangle"/>
          </a:ln>
        </p:spPr>
      </p:cxnSp>
      <p:cxnSp>
        <p:nvCxnSpPr>
          <p:cNvPr id="18" name="connector 18"/>
          <p:cNvCxnSpPr/>
          <p:nvPr/>
        </p:nvCxnSpPr>
        <p:spPr>
          <a:xfrm>
            <a:off x="3063240" y="4480560"/>
            <a:ext cx="393192" cy="914"/>
          </a:xfrm>
          <a:prstGeom prst="line">
            <a:avLst/>
          </a:prstGeom>
          <a:ln w="15000">
            <a:solidFill>
              <a:srgbClr val="7A6A43"/>
            </a:solidFill>
            <a:tailEnd type="none"/>
            <a:headEnd type="triangle"/>
          </a:ln>
        </p:spPr>
      </p:cxnSp>
      <p:sp>
        <p:nvSpPr>
          <p:cNvPr id="19" name="text 19"/>
          <p:cNvSpPr txBox="1"/>
          <p:nvPr/>
        </p:nvSpPr>
        <p:spPr>
          <a:xfrm>
            <a:off x="914400" y="4992624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560">
                <a:solidFill>
                  <a:srgbClr val="8A5A49"/>
                </a:solidFill>
              </a:rPr>
              <a:t>recent relative hand displacements</a:t>
            </a:r>
            <a:endParaRPr lang="en-US" sz="560"/>
          </a:p>
        </p:txBody>
      </p:sp>
      <p:sp>
        <p:nvSpPr>
          <p:cNvPr id="20" name="text 20"/>
          <p:cNvSpPr txBox="1"/>
          <p:nvPr/>
        </p:nvSpPr>
        <p:spPr>
          <a:xfrm>
            <a:off x="5440680" y="1901952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780" b="1">
                <a:solidFill>
                  <a:srgbClr val="2B7A78"/>
                </a:solidFill>
              </a:rPr>
              <a:t>Fusion</a:t>
            </a:r>
            <a:endParaRPr lang="en-US" sz="780"/>
          </a:p>
        </p:txBody>
      </p:sp>
      <p:sp>
        <p:nvSpPr>
          <p:cNvPr id="21" name="shape 21"/>
          <p:cNvSpPr/>
          <p:nvPr/>
        </p:nvSpPr>
        <p:spPr>
          <a:xfrm>
            <a:off x="5321808" y="2761488"/>
            <a:ext cx="1170432" cy="877824"/>
          </a:xfrm>
          <a:prstGeom prst="roundRect">
            <a:avLst/>
          </a:prstGeom>
          <a:solidFill>
            <a:srgbClr val="ECF6F5"/>
          </a:solidFill>
          <a:ln w="12000">
            <a:solidFill>
              <a:srgbClr val="2B7A78"/>
            </a:solidFill>
          </a:ln>
        </p:spPr>
        <p:txBody>
          <a:bodyPr wrap="square" rtlCol="0" anchor="ctr"/>
          <a:lstStyle/>
          <a:p>
            <a:pPr algn="ctr"/>
            <a:r>
              <a:rPr lang="en-US" sz="660" b="1">
                <a:solidFill>
                  <a:srgbClr val="1D1D1D"/>
                </a:solidFill>
              </a:rPr>
              <a:t>Concat</a:t>
            </a:r>
            <a:endParaRPr lang="en-US" sz="660"/>
          </a:p>
          <a:p>
            <a:pPr algn="ctr"/>
            <a:r>
              <a:rPr lang="en-US" sz="660" b="1">
                <a:solidFill>
                  <a:srgbClr val="1D1D1D"/>
                </a:solidFill>
              </a:rPr>
              <a:t>+</a:t>
            </a:r>
            <a:endParaRPr lang="en-US" sz="660"/>
          </a:p>
          <a:p>
            <a:pPr algn="ctr"/>
            <a:r>
              <a:rPr lang="en-US" sz="660" b="1">
                <a:solidFill>
                  <a:srgbClr val="1D1D1D"/>
                </a:solidFill>
              </a:rPr>
              <a:t>Linear</a:t>
            </a:r>
            <a:endParaRPr lang="en-US" sz="660"/>
          </a:p>
          <a:p>
            <a:pPr algn="ctr"/>
            <a:r>
              <a:rPr lang="en-US" sz="660" b="1">
                <a:solidFill>
                  <a:srgbClr val="1D1D1D"/>
                </a:solidFill>
              </a:rPr>
              <a:t>projection</a:t>
            </a:r>
            <a:endParaRPr lang="en-US" sz="660"/>
          </a:p>
        </p:txBody>
      </p:sp>
      <p:sp>
        <p:nvSpPr>
          <p:cNvPr id="22" name="shape 22"/>
          <p:cNvSpPr/>
          <p:nvPr/>
        </p:nvSpPr>
        <p:spPr>
          <a:xfrm>
            <a:off x="6748272" y="2880360"/>
            <a:ext cx="877824" cy="621792"/>
          </a:xfrm>
          <a:prstGeom prst="roundRect">
            <a:avLst/>
          </a:prstGeom>
          <a:solidFill>
            <a:srgbClr val="CDE7E4"/>
          </a:solidFill>
          <a:ln w="12000">
            <a:solidFill>
              <a:srgbClr val="2B7A78"/>
            </a:solidFill>
          </a:ln>
        </p:spPr>
        <p:txBody>
          <a:bodyPr wrap="square" rtlCol="0" anchor="ctr"/>
          <a:lstStyle/>
          <a:p>
            <a:pPr algn="ctr"/>
            <a:r>
              <a:rPr lang="en-US" sz="720" b="1">
                <a:solidFill>
                  <a:srgbClr val="1D1D1D"/>
                </a:solidFill>
              </a:rPr>
              <a:t>Latent</a:t>
            </a:r>
            <a:endParaRPr lang="en-US" sz="720"/>
          </a:p>
          <a:p>
            <a:pPr algn="ctr"/>
            <a:r>
              <a:rPr lang="en-US" sz="720" b="1">
                <a:solidFill>
                  <a:srgbClr val="1D1D1D"/>
                </a:solidFill>
              </a:rPr>
              <a:t>state</a:t>
            </a:r>
            <a:endParaRPr lang="en-US" sz="720"/>
          </a:p>
        </p:txBody>
      </p:sp>
      <p:cxnSp>
        <p:nvCxnSpPr>
          <p:cNvPr id="23" name="connector 23"/>
          <p:cNvCxnSpPr/>
          <p:nvPr/>
        </p:nvCxnSpPr>
        <p:spPr>
          <a:xfrm>
            <a:off x="4553712" y="1810512"/>
            <a:ext cx="274320" cy="914"/>
          </a:xfrm>
          <a:prstGeom prst="line">
            <a:avLst/>
          </a:prstGeom>
          <a:ln w="15000">
            <a:solidFill>
              <a:srgbClr val="355C7D"/>
            </a:solidFill>
            <a:tailEnd type="none"/>
            <a:headEnd type="none"/>
          </a:ln>
        </p:spPr>
      </p:cxnSp>
      <p:cxnSp>
        <p:nvCxnSpPr>
          <p:cNvPr id="24" name="connector 24"/>
          <p:cNvCxnSpPr/>
          <p:nvPr/>
        </p:nvCxnSpPr>
        <p:spPr>
          <a:xfrm>
            <a:off x="4828032" y="1810512"/>
            <a:ext cx="914" cy="1645920"/>
          </a:xfrm>
          <a:prstGeom prst="line">
            <a:avLst/>
          </a:prstGeom>
          <a:ln w="15000">
            <a:solidFill>
              <a:srgbClr val="355C7D"/>
            </a:solidFill>
            <a:tailEnd type="none"/>
            <a:headEnd type="none"/>
          </a:ln>
        </p:spPr>
      </p:cxnSp>
      <p:cxnSp>
        <p:nvCxnSpPr>
          <p:cNvPr id="25" name="connector 25"/>
          <p:cNvCxnSpPr/>
          <p:nvPr/>
        </p:nvCxnSpPr>
        <p:spPr>
          <a:xfrm>
            <a:off x="4828032" y="3456432"/>
            <a:ext cx="493776" cy="914"/>
          </a:xfrm>
          <a:prstGeom prst="line">
            <a:avLst/>
          </a:prstGeom>
          <a:ln w="15000">
            <a:solidFill>
              <a:srgbClr val="355C7D"/>
            </a:solidFill>
            <a:tailEnd type="none"/>
            <a:headEnd type="triangle"/>
          </a:ln>
        </p:spPr>
      </p:cxnSp>
      <p:cxnSp>
        <p:nvCxnSpPr>
          <p:cNvPr id="26" name="connector 26"/>
          <p:cNvCxnSpPr/>
          <p:nvPr/>
        </p:nvCxnSpPr>
        <p:spPr>
          <a:xfrm>
            <a:off x="4553712" y="4480560"/>
            <a:ext cx="274320" cy="914"/>
          </a:xfrm>
          <a:prstGeom prst="line">
            <a:avLst/>
          </a:prstGeom>
          <a:ln w="15000">
            <a:solidFill>
              <a:srgbClr val="7A6A43"/>
            </a:solidFill>
            <a:tailEnd type="none"/>
            <a:headEnd type="none"/>
          </a:ln>
        </p:spPr>
      </p:cxnSp>
      <p:cxnSp>
        <p:nvCxnSpPr>
          <p:cNvPr id="27" name="connector 27"/>
          <p:cNvCxnSpPr/>
          <p:nvPr/>
        </p:nvCxnSpPr>
        <p:spPr>
          <a:xfrm flipV="1">
            <a:off x="4828032" y="2944368"/>
            <a:ext cx="914" cy="1536192"/>
          </a:xfrm>
          <a:prstGeom prst="line">
            <a:avLst/>
          </a:prstGeom>
          <a:ln w="15000">
            <a:solidFill>
              <a:srgbClr val="7A6A43"/>
            </a:solidFill>
            <a:tailEnd type="none"/>
            <a:headEnd type="none"/>
          </a:ln>
        </p:spPr>
      </p:cxnSp>
      <p:cxnSp>
        <p:nvCxnSpPr>
          <p:cNvPr id="28" name="connector 28"/>
          <p:cNvCxnSpPr/>
          <p:nvPr/>
        </p:nvCxnSpPr>
        <p:spPr>
          <a:xfrm>
            <a:off x="4828032" y="2944368"/>
            <a:ext cx="493776" cy="914"/>
          </a:xfrm>
          <a:prstGeom prst="line">
            <a:avLst/>
          </a:prstGeom>
          <a:ln w="15000">
            <a:solidFill>
              <a:srgbClr val="7A6A43"/>
            </a:solidFill>
            <a:tailEnd type="none"/>
            <a:headEnd type="triangle"/>
          </a:ln>
        </p:spPr>
      </p:cxnSp>
      <p:cxnSp>
        <p:nvCxnSpPr>
          <p:cNvPr id="29" name="connector 29"/>
          <p:cNvCxnSpPr/>
          <p:nvPr/>
        </p:nvCxnSpPr>
        <p:spPr>
          <a:xfrm>
            <a:off x="6492240" y="3200400"/>
            <a:ext cx="256032" cy="914"/>
          </a:xfrm>
          <a:prstGeom prst="line">
            <a:avLst/>
          </a:prstGeom>
          <a:ln w="15000">
            <a:solidFill>
              <a:srgbClr val="2B7A78"/>
            </a:solidFill>
            <a:tailEnd type="none"/>
            <a:headEnd type="triangle"/>
          </a:ln>
        </p:spPr>
      </p:cxnSp>
      <p:sp>
        <p:nvSpPr>
          <p:cNvPr id="30" name="text 30"/>
          <p:cNvSpPr txBox="1"/>
          <p:nvPr/>
        </p:nvSpPr>
        <p:spPr>
          <a:xfrm>
            <a:off x="8613648" y="89611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780" b="1">
                <a:solidFill>
                  <a:srgbClr val="8F3A4A"/>
                </a:solidFill>
              </a:rPr>
              <a:t>Auxiliary prediction head</a:t>
            </a:r>
            <a:endParaRPr lang="en-US" sz="780"/>
          </a:p>
        </p:txBody>
      </p:sp>
      <p:sp>
        <p:nvSpPr>
          <p:cNvPr id="31" name="shape 31"/>
          <p:cNvSpPr/>
          <p:nvPr/>
        </p:nvSpPr>
        <p:spPr>
          <a:xfrm>
            <a:off x="8211312" y="1481328"/>
            <a:ext cx="877824" cy="566928"/>
          </a:xfrm>
          <a:prstGeom prst="roundRect">
            <a:avLst/>
          </a:prstGeom>
          <a:solidFill>
            <a:srgbClr val="F8EEF0"/>
          </a:solidFill>
          <a:ln w="12000">
            <a:solidFill>
              <a:srgbClr val="8F3A4A"/>
            </a:solidFill>
          </a:ln>
        </p:spPr>
        <p:txBody>
          <a:bodyPr wrap="square" rtlCol="0" anchor="ctr"/>
          <a:lstStyle/>
          <a:p>
            <a:pPr algn="ctr"/>
            <a:r>
              <a:rPr lang="en-US" sz="680" b="1">
                <a:solidFill>
                  <a:srgbClr val="1D1D1D"/>
                </a:solidFill>
              </a:rPr>
              <a:t>FC</a:t>
            </a:r>
            <a:endParaRPr lang="en-US" sz="680"/>
          </a:p>
          <a:p>
            <a:pPr algn="ctr"/>
            <a:r>
              <a:rPr lang="en-US" sz="680" b="1">
                <a:solidFill>
                  <a:srgbClr val="1D1D1D"/>
                </a:solidFill>
              </a:rPr>
              <a:t>64 -&gt; 16</a:t>
            </a:r>
            <a:endParaRPr lang="en-US" sz="680"/>
          </a:p>
        </p:txBody>
      </p:sp>
      <p:sp>
        <p:nvSpPr>
          <p:cNvPr id="32" name="shape 32"/>
          <p:cNvSpPr/>
          <p:nvPr/>
        </p:nvSpPr>
        <p:spPr>
          <a:xfrm>
            <a:off x="9400032" y="1481328"/>
            <a:ext cx="877824" cy="566928"/>
          </a:xfrm>
          <a:prstGeom prst="roundRect">
            <a:avLst/>
          </a:prstGeom>
          <a:solidFill>
            <a:srgbClr val="EFD4D9"/>
          </a:solidFill>
          <a:ln w="12000">
            <a:solidFill>
              <a:srgbClr val="8F3A4A"/>
            </a:solidFill>
          </a:ln>
        </p:spPr>
        <p:txBody>
          <a:bodyPr wrap="square" rtlCol="0" anchor="ctr"/>
          <a:lstStyle/>
          <a:p>
            <a:pPr algn="ctr"/>
            <a:r>
              <a:rPr lang="en-US" sz="680" b="1">
                <a:solidFill>
                  <a:srgbClr val="1D1D1D"/>
                </a:solidFill>
              </a:rPr>
              <a:t>FC</a:t>
            </a:r>
            <a:endParaRPr lang="en-US" sz="680"/>
          </a:p>
          <a:p>
            <a:pPr algn="ctr"/>
            <a:r>
              <a:rPr lang="en-US" sz="680" b="1">
                <a:solidFill>
                  <a:srgbClr val="1D1D1D"/>
                </a:solidFill>
              </a:rPr>
              <a:t>16 -&gt; 2</a:t>
            </a:r>
            <a:endParaRPr lang="en-US" sz="680"/>
          </a:p>
        </p:txBody>
      </p:sp>
      <p:sp>
        <p:nvSpPr>
          <p:cNvPr id="33" name="shape 33"/>
          <p:cNvSpPr/>
          <p:nvPr/>
        </p:nvSpPr>
        <p:spPr>
          <a:xfrm>
            <a:off x="10588752" y="1481328"/>
            <a:ext cx="877824" cy="566928"/>
          </a:xfrm>
          <a:prstGeom prst="roundRect">
            <a:avLst/>
          </a:prstGeom>
          <a:solidFill>
            <a:srgbClr val="F8EEF0"/>
          </a:solidFill>
          <a:ln w="12000">
            <a:solidFill>
              <a:srgbClr val="8F3A4A"/>
            </a:solidFill>
          </a:ln>
        </p:spPr>
        <p:txBody>
          <a:bodyPr wrap="square" rtlCol="0" anchor="ctr"/>
          <a:lstStyle/>
          <a:p>
            <a:pPr algn="ctr"/>
            <a:r>
              <a:rPr lang="en-US" sz="620">
                <a:solidFill>
                  <a:srgbClr val="1D1D1D"/>
                </a:solidFill>
              </a:rPr>
              <a:t>Next hand</a:t>
            </a:r>
            <a:endParaRPr lang="en-US" sz="620"/>
          </a:p>
          <a:p>
            <a:pPr algn="ctr"/>
            <a:r>
              <a:rPr lang="en-US" sz="620">
                <a:solidFill>
                  <a:srgbClr val="1D1D1D"/>
                </a:solidFill>
              </a:rPr>
              <a:t>motion</a:t>
            </a:r>
            <a:endParaRPr lang="en-US" sz="620"/>
          </a:p>
        </p:txBody>
      </p:sp>
      <p:cxnSp>
        <p:nvCxnSpPr>
          <p:cNvPr id="34" name="connector 34"/>
          <p:cNvCxnSpPr/>
          <p:nvPr/>
        </p:nvCxnSpPr>
        <p:spPr>
          <a:xfrm>
            <a:off x="7626096" y="3200400"/>
            <a:ext cx="256032" cy="914"/>
          </a:xfrm>
          <a:prstGeom prst="line">
            <a:avLst/>
          </a:prstGeom>
          <a:ln w="15000">
            <a:solidFill>
              <a:srgbClr val="8F3A4A"/>
            </a:solidFill>
            <a:tailEnd type="none"/>
            <a:headEnd type="none"/>
          </a:ln>
        </p:spPr>
      </p:cxnSp>
      <p:cxnSp>
        <p:nvCxnSpPr>
          <p:cNvPr id="35" name="connector 35"/>
          <p:cNvCxnSpPr/>
          <p:nvPr/>
        </p:nvCxnSpPr>
        <p:spPr>
          <a:xfrm flipV="1">
            <a:off x="7882128" y="1764792"/>
            <a:ext cx="914" cy="1435608"/>
          </a:xfrm>
          <a:prstGeom prst="line">
            <a:avLst/>
          </a:prstGeom>
          <a:ln w="15000">
            <a:solidFill>
              <a:srgbClr val="8F3A4A"/>
            </a:solidFill>
            <a:tailEnd type="none"/>
            <a:headEnd type="none"/>
          </a:ln>
        </p:spPr>
      </p:cxnSp>
      <p:cxnSp>
        <p:nvCxnSpPr>
          <p:cNvPr id="36" name="connector 36"/>
          <p:cNvCxnSpPr/>
          <p:nvPr/>
        </p:nvCxnSpPr>
        <p:spPr>
          <a:xfrm>
            <a:off x="7882128" y="1764792"/>
            <a:ext cx="329184" cy="914"/>
          </a:xfrm>
          <a:prstGeom prst="line">
            <a:avLst/>
          </a:prstGeom>
          <a:ln w="15000">
            <a:solidFill>
              <a:srgbClr val="8F3A4A"/>
            </a:solidFill>
            <a:tailEnd type="none"/>
            <a:headEnd type="triangle"/>
          </a:ln>
        </p:spPr>
      </p:cxnSp>
      <p:cxnSp>
        <p:nvCxnSpPr>
          <p:cNvPr id="37" name="connector 37"/>
          <p:cNvCxnSpPr/>
          <p:nvPr/>
        </p:nvCxnSpPr>
        <p:spPr>
          <a:xfrm>
            <a:off x="9089136" y="1764792"/>
            <a:ext cx="310896" cy="914"/>
          </a:xfrm>
          <a:prstGeom prst="line">
            <a:avLst/>
          </a:prstGeom>
          <a:ln w="15000">
            <a:solidFill>
              <a:srgbClr val="8F3A4A"/>
            </a:solidFill>
            <a:tailEnd type="none"/>
            <a:headEnd type="triangle"/>
          </a:ln>
        </p:spPr>
      </p:cxnSp>
      <p:cxnSp>
        <p:nvCxnSpPr>
          <p:cNvPr id="38" name="connector 38"/>
          <p:cNvCxnSpPr/>
          <p:nvPr/>
        </p:nvCxnSpPr>
        <p:spPr>
          <a:xfrm>
            <a:off x="10277856" y="1764792"/>
            <a:ext cx="310896" cy="914"/>
          </a:xfrm>
          <a:prstGeom prst="line">
            <a:avLst/>
          </a:prstGeom>
          <a:ln w="15000">
            <a:solidFill>
              <a:srgbClr val="8F3A4A"/>
            </a:solidFill>
            <a:tailEnd type="none"/>
            <a:headEnd type="triangle"/>
          </a:ln>
        </p:spPr>
      </p:cxnSp>
      <p:sp>
        <p:nvSpPr>
          <p:cNvPr id="39" name="text 39"/>
          <p:cNvSpPr txBox="1"/>
          <p:nvPr/>
        </p:nvSpPr>
        <p:spPr>
          <a:xfrm>
            <a:off x="8732520" y="2322576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540">
                <a:solidFill>
                  <a:srgbClr val="8F3A4A"/>
                </a:solidFill>
              </a:rPr>
              <a:t>MSE loss with next observation</a:t>
            </a:r>
            <a:endParaRPr lang="en-US" sz="540"/>
          </a:p>
        </p:txBody>
      </p:sp>
      <p:sp>
        <p:nvSpPr>
          <p:cNvPr id="40" name="text 40"/>
          <p:cNvSpPr txBox="1"/>
          <p:nvPr/>
        </p:nvSpPr>
        <p:spPr>
          <a:xfrm>
            <a:off x="8641080" y="3977640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780" b="1">
                <a:solidFill>
                  <a:srgbClr val="4C566A"/>
                </a:solidFill>
              </a:rPr>
              <a:t>PPO heads</a:t>
            </a:r>
            <a:endParaRPr lang="en-US" sz="780"/>
          </a:p>
        </p:txBody>
      </p:sp>
      <p:sp>
        <p:nvSpPr>
          <p:cNvPr id="41" name="shape 41"/>
          <p:cNvSpPr/>
          <p:nvPr/>
        </p:nvSpPr>
        <p:spPr>
          <a:xfrm>
            <a:off x="8229600" y="4462272"/>
            <a:ext cx="868680" cy="530352"/>
          </a:xfrm>
          <a:prstGeom prst="roundRect">
            <a:avLst/>
          </a:prstGeom>
          <a:solidFill>
            <a:srgbClr val="E6EDF5"/>
          </a:solidFill>
          <a:ln w="12000">
            <a:solidFill>
              <a:srgbClr val="355C7D"/>
            </a:solidFill>
          </a:ln>
        </p:spPr>
        <p:txBody>
          <a:bodyPr wrap="square" rtlCol="0" anchor="ctr"/>
          <a:lstStyle/>
          <a:p>
            <a:pPr algn="ctr"/>
            <a:r>
              <a:rPr lang="en-US" sz="720" b="1">
                <a:solidFill>
                  <a:srgbClr val="1D1D1D"/>
                </a:solidFill>
              </a:rPr>
              <a:t>Actor</a:t>
            </a:r>
            <a:endParaRPr lang="en-US" sz="720"/>
          </a:p>
        </p:txBody>
      </p:sp>
      <p:sp>
        <p:nvSpPr>
          <p:cNvPr id="42" name="shape 42"/>
          <p:cNvSpPr/>
          <p:nvPr/>
        </p:nvSpPr>
        <p:spPr>
          <a:xfrm>
            <a:off x="8229600" y="5084064"/>
            <a:ext cx="868680" cy="530352"/>
          </a:xfrm>
          <a:prstGeom prst="roundRect">
            <a:avLst/>
          </a:prstGeom>
          <a:solidFill>
            <a:srgbClr val="ECE9F2"/>
          </a:solidFill>
          <a:ln w="12000">
            <a:solidFill>
              <a:srgbClr val="5B557A"/>
            </a:solidFill>
          </a:ln>
        </p:spPr>
        <p:txBody>
          <a:bodyPr wrap="square" rtlCol="0" anchor="ctr"/>
          <a:lstStyle/>
          <a:p>
            <a:pPr algn="ctr"/>
            <a:r>
              <a:rPr lang="en-US" sz="720" b="1">
                <a:solidFill>
                  <a:srgbClr val="1D1D1D"/>
                </a:solidFill>
              </a:rPr>
              <a:t>Critic</a:t>
            </a:r>
            <a:endParaRPr lang="en-US" sz="720"/>
          </a:p>
        </p:txBody>
      </p:sp>
      <p:sp>
        <p:nvSpPr>
          <p:cNvPr id="43" name="shape 43"/>
          <p:cNvSpPr/>
          <p:nvPr/>
        </p:nvSpPr>
        <p:spPr>
          <a:xfrm>
            <a:off x="9464040" y="4462272"/>
            <a:ext cx="868680" cy="530352"/>
          </a:xfrm>
          <a:prstGeom prst="roundRect">
            <a:avLst/>
          </a:prstGeom>
          <a:solidFill>
            <a:srgbClr val="E6EDF5"/>
          </a:solidFill>
          <a:ln w="12000">
            <a:solidFill>
              <a:srgbClr val="355C7D"/>
            </a:solidFill>
          </a:ln>
        </p:spPr>
        <p:txBody>
          <a:bodyPr wrap="square" rtlCol="0" anchor="ctr"/>
          <a:lstStyle/>
          <a:p>
            <a:pPr algn="ctr"/>
            <a:r>
              <a:rPr lang="en-US" sz="680">
                <a:solidFill>
                  <a:srgbClr val="1D1D1D"/>
                </a:solidFill>
              </a:rPr>
              <a:t>2D action</a:t>
            </a:r>
            <a:endParaRPr lang="en-US" sz="680"/>
          </a:p>
        </p:txBody>
      </p:sp>
      <p:sp>
        <p:nvSpPr>
          <p:cNvPr id="44" name="shape 44"/>
          <p:cNvSpPr/>
          <p:nvPr/>
        </p:nvSpPr>
        <p:spPr>
          <a:xfrm>
            <a:off x="9464040" y="5084064"/>
            <a:ext cx="868680" cy="530352"/>
          </a:xfrm>
          <a:prstGeom prst="roundRect">
            <a:avLst/>
          </a:prstGeom>
          <a:solidFill>
            <a:srgbClr val="ECE9F2"/>
          </a:solidFill>
          <a:ln w="12000">
            <a:solidFill>
              <a:srgbClr val="5B557A"/>
            </a:solidFill>
          </a:ln>
        </p:spPr>
        <p:txBody>
          <a:bodyPr wrap="square" rtlCol="0" anchor="ctr"/>
          <a:lstStyle/>
          <a:p>
            <a:pPr algn="ctr"/>
            <a:r>
              <a:rPr lang="en-US" sz="720">
                <a:solidFill>
                  <a:srgbClr val="1D1D1D"/>
                </a:solidFill>
              </a:rPr>
              <a:t>Value</a:t>
            </a:r>
            <a:endParaRPr lang="en-US" sz="720"/>
          </a:p>
        </p:txBody>
      </p:sp>
      <p:cxnSp>
        <p:nvCxnSpPr>
          <p:cNvPr id="45" name="connector 45"/>
          <p:cNvCxnSpPr/>
          <p:nvPr/>
        </p:nvCxnSpPr>
        <p:spPr>
          <a:xfrm>
            <a:off x="7626096" y="3200400"/>
            <a:ext cx="256032" cy="914"/>
          </a:xfrm>
          <a:prstGeom prst="line">
            <a:avLst/>
          </a:prstGeom>
          <a:ln w="15000">
            <a:solidFill>
              <a:srgbClr val="4C566A"/>
            </a:solidFill>
            <a:tailEnd type="none"/>
            <a:headEnd type="none"/>
          </a:ln>
        </p:spPr>
      </p:cxnSp>
      <p:cxnSp>
        <p:nvCxnSpPr>
          <p:cNvPr id="46" name="connector 46"/>
          <p:cNvCxnSpPr/>
          <p:nvPr/>
        </p:nvCxnSpPr>
        <p:spPr>
          <a:xfrm>
            <a:off x="7882128" y="3200400"/>
            <a:ext cx="914" cy="1527048"/>
          </a:xfrm>
          <a:prstGeom prst="line">
            <a:avLst/>
          </a:prstGeom>
          <a:ln w="15000">
            <a:solidFill>
              <a:srgbClr val="4C566A"/>
            </a:solidFill>
            <a:tailEnd type="none"/>
            <a:headEnd type="none"/>
          </a:ln>
        </p:spPr>
      </p:cxnSp>
      <p:cxnSp>
        <p:nvCxnSpPr>
          <p:cNvPr id="47" name="connector 47"/>
          <p:cNvCxnSpPr/>
          <p:nvPr/>
        </p:nvCxnSpPr>
        <p:spPr>
          <a:xfrm>
            <a:off x="7882128" y="4727448"/>
            <a:ext cx="347472" cy="914"/>
          </a:xfrm>
          <a:prstGeom prst="line">
            <a:avLst/>
          </a:prstGeom>
          <a:ln w="15000">
            <a:solidFill>
              <a:srgbClr val="4C566A"/>
            </a:solidFill>
            <a:tailEnd type="none"/>
            <a:headEnd type="triangle"/>
          </a:ln>
        </p:spPr>
      </p:cxnSp>
      <p:cxnSp>
        <p:nvCxnSpPr>
          <p:cNvPr id="48" name="connector 48"/>
          <p:cNvCxnSpPr/>
          <p:nvPr/>
        </p:nvCxnSpPr>
        <p:spPr>
          <a:xfrm>
            <a:off x="7626096" y="3200400"/>
            <a:ext cx="256032" cy="914"/>
          </a:xfrm>
          <a:prstGeom prst="line">
            <a:avLst/>
          </a:prstGeom>
          <a:ln w="15000">
            <a:solidFill>
              <a:srgbClr val="4C566A"/>
            </a:solidFill>
            <a:tailEnd type="none"/>
            <a:headEnd type="none"/>
          </a:ln>
        </p:spPr>
      </p:cxnSp>
      <p:cxnSp>
        <p:nvCxnSpPr>
          <p:cNvPr id="49" name="connector 49"/>
          <p:cNvCxnSpPr/>
          <p:nvPr/>
        </p:nvCxnSpPr>
        <p:spPr>
          <a:xfrm>
            <a:off x="7882128" y="3200400"/>
            <a:ext cx="914" cy="2148840"/>
          </a:xfrm>
          <a:prstGeom prst="line">
            <a:avLst/>
          </a:prstGeom>
          <a:ln w="15000">
            <a:solidFill>
              <a:srgbClr val="4C566A"/>
            </a:solidFill>
            <a:tailEnd type="none"/>
            <a:headEnd type="none"/>
          </a:ln>
        </p:spPr>
      </p:cxnSp>
      <p:cxnSp>
        <p:nvCxnSpPr>
          <p:cNvPr id="50" name="connector 50"/>
          <p:cNvCxnSpPr/>
          <p:nvPr/>
        </p:nvCxnSpPr>
        <p:spPr>
          <a:xfrm>
            <a:off x="7882128" y="5349240"/>
            <a:ext cx="347472" cy="914"/>
          </a:xfrm>
          <a:prstGeom prst="line">
            <a:avLst/>
          </a:prstGeom>
          <a:ln w="15000">
            <a:solidFill>
              <a:srgbClr val="4C566A"/>
            </a:solidFill>
            <a:tailEnd type="none"/>
            <a:headEnd type="triangle"/>
          </a:ln>
        </p:spPr>
      </p:cxnSp>
      <p:cxnSp>
        <p:nvCxnSpPr>
          <p:cNvPr id="51" name="connector 51"/>
          <p:cNvCxnSpPr/>
          <p:nvPr/>
        </p:nvCxnSpPr>
        <p:spPr>
          <a:xfrm>
            <a:off x="9098280" y="4727448"/>
            <a:ext cx="365760" cy="914"/>
          </a:xfrm>
          <a:prstGeom prst="line">
            <a:avLst/>
          </a:prstGeom>
          <a:ln w="15000">
            <a:solidFill>
              <a:srgbClr val="355C7D"/>
            </a:solidFill>
            <a:tailEnd type="none"/>
            <a:headEnd type="triangle"/>
          </a:ln>
        </p:spPr>
      </p:cxnSp>
      <p:cxnSp>
        <p:nvCxnSpPr>
          <p:cNvPr id="52" name="connector 52"/>
          <p:cNvCxnSpPr/>
          <p:nvPr/>
        </p:nvCxnSpPr>
        <p:spPr>
          <a:xfrm>
            <a:off x="9098280" y="5349240"/>
            <a:ext cx="365760" cy="914"/>
          </a:xfrm>
          <a:prstGeom prst="line">
            <a:avLst/>
          </a:prstGeom>
          <a:ln w="15000">
            <a:solidFill>
              <a:srgbClr val="5B557A"/>
            </a:solidFill>
            <a:tailEnd type="none"/>
            <a:headEnd type="triangle"/>
          </a:ln>
        </p:spPr>
      </p:cxnSp>
      <p:sp>
        <p:nvSpPr>
          <p:cNvPr id="53" name="text 53"/>
          <p:cNvSpPr txBox="1"/>
          <p:nvPr/>
        </p:nvSpPr>
        <p:spPr>
          <a:xfrm>
            <a:off x="3931920" y="6144768"/>
            <a:ext cx="452628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580">
                <a:solidFill>
                  <a:srgbClr val="6E7781"/>
                </a:solidFill>
              </a:rPr>
              <a:t>The encoder is optimized by PPO loss and auxiliary next-motion prediction loss.</a:t>
            </a:r>
            <a:endParaRPr lang="en-US" sz="5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1F1F"/>
      </a:dk2>
      <a:lt2>
        <a:srgbClr val="F5F5F5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Dual Stream Encoder Publication Figure</dc:title>
  <dc:creator>Codex</dc:creator>
</cp:coreProperties>
</file>