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8912" y="118872"/>
            <a:ext cx="91440" cy="91440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73152"/>
            <a:ext cx="841248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robot / microrobot</a:t>
            </a:r>
          </a:p>
        </p:txBody>
      </p:sp>
      <p:sp>
        <p:nvSpPr>
          <p:cNvPr id="4" name="Oval 3"/>
          <p:cNvSpPr/>
          <p:nvPr/>
        </p:nvSpPr>
        <p:spPr>
          <a:xfrm>
            <a:off x="1554480" y="118872"/>
            <a:ext cx="91440" cy="91440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73352" y="73152"/>
            <a:ext cx="694944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patient hand</a:t>
            </a:r>
          </a:p>
        </p:txBody>
      </p:sp>
      <p:sp>
        <p:nvSpPr>
          <p:cNvPr id="6" name="Oval 5"/>
          <p:cNvSpPr/>
          <p:nvPr/>
        </p:nvSpPr>
        <p:spPr>
          <a:xfrm>
            <a:off x="2395728" y="118872"/>
            <a:ext cx="91440" cy="91440"/>
          </a:xfrm>
          <a:prstGeom prst="ellipse">
            <a:avLst/>
          </a:prstGeom>
          <a:solidFill>
            <a:srgbClr val="3A8C4A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73152"/>
            <a:ext cx="67665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vision /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0292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Simulation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3460" y="50292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2060" y="24688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0" y="64922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Adaptive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00050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446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4680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Vision and State Estimation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3460" y="400050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060" y="374446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0" y="414680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Real-World Rehabilitation Platform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293108" y="1618488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7388" y="1444752"/>
            <a:ext cx="621792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F6FA7"/>
                </a:solidFill>
                <a:latin typeface="Arial"/>
              </a:rPr>
              <a:t>O_t, r_t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4293108" y="2112264"/>
            <a:ext cx="530352" cy="109728"/>
          </a:xfrm>
          <a:prstGeom prst="left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4276" y="2249424"/>
            <a:ext cx="27432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F6F2E"/>
                </a:solidFill>
                <a:latin typeface="Arial"/>
              </a:rPr>
              <a:t>a_t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697980" y="3488436"/>
            <a:ext cx="109728" cy="530352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1988" y="3698748"/>
            <a:ext cx="841248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A8C4A"/>
                </a:solidFill>
                <a:latin typeface="Arial"/>
              </a:rPr>
              <a:t>trained policy</a:t>
            </a:r>
          </a:p>
        </p:txBody>
      </p:sp>
      <p:sp>
        <p:nvSpPr>
          <p:cNvPr id="26" name="Up Arrow 25"/>
          <p:cNvSpPr/>
          <p:nvPr/>
        </p:nvSpPr>
        <p:spPr>
          <a:xfrm>
            <a:off x="2331720" y="3488436"/>
            <a:ext cx="109728" cy="530352"/>
          </a:xfrm>
          <a:prstGeom prst="upArrow">
            <a:avLst/>
          </a:prstGeom>
          <a:solidFill>
            <a:srgbClr val="7356B6"/>
          </a:solidFill>
          <a:ln w="6350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19072" y="3698748"/>
            <a:ext cx="658368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356B6"/>
                </a:solidFill>
                <a:latin typeface="Arial"/>
              </a:rPr>
              <a:t>same task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4293108" y="5061204"/>
            <a:ext cx="530352" cy="109728"/>
          </a:xfrm>
          <a:prstGeom prst="lef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7972" y="4878324"/>
            <a:ext cx="475488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A8C4A"/>
                </a:solidFill>
                <a:latin typeface="Arial"/>
              </a:rPr>
              <a:t>image feed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293108" y="5692140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6260" y="5847588"/>
            <a:ext cx="475488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F6FA7"/>
                </a:solidFill>
                <a:latin typeface="Arial"/>
              </a:rPr>
              <a:t>real O_t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1554480"/>
            <a:ext cx="1627632" cy="1078992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insert simulated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workspace snapshot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0224" y="1554480"/>
            <a:ext cx="0" cy="1078992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01496" y="1554480"/>
            <a:ext cx="0" cy="1078992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572768" y="1554480"/>
            <a:ext cx="0" cy="1078992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44040" y="1554480"/>
            <a:ext cx="0" cy="1078992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15312" y="1554480"/>
            <a:ext cx="0" cy="1078992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8952" y="1824228"/>
            <a:ext cx="1627632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8952" y="2093976"/>
            <a:ext cx="1627632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8952" y="2363724"/>
            <a:ext cx="1627632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014984" y="1773936"/>
            <a:ext cx="82296" cy="82296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65960" y="2121408"/>
            <a:ext cx="137160" cy="137160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078992" y="1810512"/>
            <a:ext cx="393192" cy="91440"/>
          </a:xfrm>
          <a:prstGeom prst="line">
            <a:avLst/>
          </a:prstGeom>
          <a:ln w="12700">
            <a:solidFill>
              <a:srgbClr val="2F6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72184" y="1901952"/>
            <a:ext cx="338328" cy="182879"/>
          </a:xfrm>
          <a:prstGeom prst="line">
            <a:avLst/>
          </a:prstGeom>
          <a:ln w="12700">
            <a:solidFill>
              <a:srgbClr val="2F6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472184" y="1901952"/>
            <a:ext cx="54864" cy="54864"/>
          </a:xfrm>
          <a:prstGeom prst="ellipse">
            <a:avLst/>
          </a:prstGeom>
          <a:solidFill>
            <a:srgbClr val="C92525"/>
          </a:solidFill>
          <a:ln w="8890">
            <a:solidFill>
              <a:srgbClr val="C9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" y="2761488"/>
            <a:ext cx="162763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666A73"/>
                </a:solidFill>
                <a:latin typeface="Arial"/>
              </a:rPr>
              <a:t>ZPD pursuit task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51760" y="1216152"/>
            <a:ext cx="1335024" cy="384048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22222"/>
                </a:solidFill>
                <a:latin typeface="Arial"/>
              </a:rPr>
              <a:t>CMD-DR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22222"/>
                </a:solidFill>
                <a:latin typeface="Arial"/>
              </a:rPr>
              <a:t>patient model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3264408" y="1627632"/>
            <a:ext cx="118872" cy="146304"/>
          </a:xfrm>
          <a:prstGeom prst="down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651760" y="1801368"/>
            <a:ext cx="1335024" cy="393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Arial"/>
              </a:rPr>
              <a:t>Intent layer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22222"/>
                </a:solidFill>
                <a:latin typeface="Arial"/>
              </a:rPr>
              <a:t>scripted / learned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3264408" y="2221992"/>
            <a:ext cx="118872" cy="146304"/>
          </a:xfrm>
          <a:prstGeom prst="down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651760" y="2386584"/>
            <a:ext cx="1335024" cy="4389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Motor layer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delay / noise / smoothing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3264408" y="2862072"/>
            <a:ext cx="118872" cy="146304"/>
          </a:xfrm>
          <a:prstGeom prst="downArrow">
            <a:avLst/>
          </a:prstGeom>
          <a:solidFill>
            <a:srgbClr val="7356B6"/>
          </a:solidFill>
          <a:ln w="6350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651760" y="3044952"/>
            <a:ext cx="1335024" cy="493776"/>
          </a:xfrm>
          <a:prstGeom prst="roundRect">
            <a:avLst/>
          </a:prstGeom>
          <a:solidFill>
            <a:srgbClr val="F0ECFA"/>
          </a:solidFill>
          <a:ln w="15875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22222"/>
                </a:solidFill>
                <a:latin typeface="Arial"/>
              </a:rPr>
              <a:t>Task feedback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22222"/>
                </a:solidFill>
                <a:latin typeface="Arial"/>
              </a:rPr>
              <a:t>O_t, r_t / boundary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07508" y="1097280"/>
            <a:ext cx="3154680" cy="17922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72100" y="1225296"/>
            <a:ext cx="65836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2222"/>
                </a:solidFill>
                <a:latin typeface="Arial"/>
              </a:rPr>
              <a:t>Input layer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1948" y="1225296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2222"/>
                </a:solidFill>
                <a:latin typeface="Arial"/>
              </a:rPr>
              <a:t>Hidden layers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03236" y="1225296"/>
            <a:ext cx="64008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2222"/>
                </a:solidFill>
                <a:latin typeface="Arial"/>
              </a:rPr>
              <a:t>Output layer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5756148" y="1764792"/>
            <a:ext cx="658368" cy="182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756148" y="1783080"/>
            <a:ext cx="658368" cy="28346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756148" y="1783080"/>
            <a:ext cx="658368" cy="73152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756148" y="1783080"/>
            <a:ext cx="658368" cy="98755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56148" y="1764792"/>
            <a:ext cx="658368" cy="26517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756148" y="2029968"/>
            <a:ext cx="658368" cy="3657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756148" y="2029968"/>
            <a:ext cx="658368" cy="4846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756148" y="2029968"/>
            <a:ext cx="658368" cy="74066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756148" y="1764792"/>
            <a:ext cx="658368" cy="74980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756148" y="2066544"/>
            <a:ext cx="658368" cy="44805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756148" y="2514600"/>
            <a:ext cx="658368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756148" y="2514600"/>
            <a:ext cx="658368" cy="2560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756148" y="1764792"/>
            <a:ext cx="658368" cy="99669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756148" y="2066544"/>
            <a:ext cx="658368" cy="69494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756148" y="2514600"/>
            <a:ext cx="658368" cy="2468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756148" y="2761488"/>
            <a:ext cx="658368" cy="914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615684" y="1764792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615684" y="1764792"/>
            <a:ext cx="603504" cy="30175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615684" y="1764792"/>
            <a:ext cx="603504" cy="74980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615684" y="1764792"/>
            <a:ext cx="603504" cy="100584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615684" y="1764792"/>
            <a:ext cx="603504" cy="30175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615684" y="2066544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615684" y="2066544"/>
            <a:ext cx="603504" cy="44805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615684" y="2066544"/>
            <a:ext cx="603504" cy="7040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615684" y="1764792"/>
            <a:ext cx="603504" cy="74980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615684" y="2066544"/>
            <a:ext cx="603504" cy="44805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615684" y="2514600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615684" y="2514600"/>
            <a:ext cx="603504" cy="2560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615684" y="1764792"/>
            <a:ext cx="603504" cy="100584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615684" y="2066544"/>
            <a:ext cx="603504" cy="7040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615684" y="2514600"/>
            <a:ext cx="603504" cy="2560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615684" y="2770632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420356" y="1764792"/>
            <a:ext cx="621792" cy="475487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420356" y="2066544"/>
            <a:ext cx="621792" cy="173735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420356" y="2240279"/>
            <a:ext cx="621792" cy="274321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420356" y="2240279"/>
            <a:ext cx="621792" cy="530353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5591556" y="1700784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591556" y="1947672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591556" y="2432304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591556" y="2679192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414516" y="166420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219188" y="166420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414516" y="1965960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219188" y="1965960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414516" y="2414016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219188" y="2414016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414516" y="267004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219188" y="267004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487668" y="219456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487668" y="233172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292340" y="219456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292340" y="233172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042148" y="2139696"/>
            <a:ext cx="219456" cy="219456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262372" y="1463040"/>
            <a:ext cx="676656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task state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234940" y="2176272"/>
            <a:ext cx="73152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motion history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968996" y="2459736"/>
            <a:ext cx="53035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action a_t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95528" y="5079492"/>
            <a:ext cx="1536192" cy="1152144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insert camera frame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with detections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33271" y="5756148"/>
            <a:ext cx="347472" cy="228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24712" y="5820156"/>
            <a:ext cx="155448" cy="155448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655064" y="5390388"/>
            <a:ext cx="411480" cy="283464"/>
          </a:xfrm>
          <a:prstGeom prst="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755648" y="5463540"/>
            <a:ext cx="219456" cy="219456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508760" y="5280659"/>
            <a:ext cx="164592" cy="164592"/>
          </a:xfrm>
          <a:prstGeom prst="ellipse">
            <a:avLst/>
          </a:prstGeom>
          <a:solidFill>
            <a:srgbClr val="3A8C4A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67512" y="6332220"/>
            <a:ext cx="1792224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camera frame / detection overlay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624328" y="4750308"/>
            <a:ext cx="1389888" cy="402336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2222"/>
                </a:solidFill>
                <a:latin typeface="Arial"/>
              </a:rPr>
              <a:t>async vision thread</a:t>
            </a:r>
          </a:p>
        </p:txBody>
      </p:sp>
      <p:sp>
        <p:nvSpPr>
          <p:cNvPr id="122" name="Down Arrow 121"/>
          <p:cNvSpPr/>
          <p:nvPr/>
        </p:nvSpPr>
        <p:spPr>
          <a:xfrm>
            <a:off x="3264408" y="5180076"/>
            <a:ext cx="118872" cy="146304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2624328" y="5335524"/>
            <a:ext cx="1389888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YOLO microrobot</a:t>
            </a:r>
          </a:p>
        </p:txBody>
      </p:sp>
      <p:sp>
        <p:nvSpPr>
          <p:cNvPr id="124" name="Down Arrow 123"/>
          <p:cNvSpPr/>
          <p:nvPr/>
        </p:nvSpPr>
        <p:spPr>
          <a:xfrm>
            <a:off x="3264408" y="5747004"/>
            <a:ext cx="118872" cy="146304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2624328" y="5902452"/>
            <a:ext cx="1389888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222222"/>
                </a:solidFill>
                <a:latin typeface="Arial"/>
              </a:rPr>
              <a:t>MediaPipe hand</a:t>
            </a:r>
          </a:p>
        </p:txBody>
      </p:sp>
      <p:sp>
        <p:nvSpPr>
          <p:cNvPr id="126" name="Down Arrow 125"/>
          <p:cNvSpPr/>
          <p:nvPr/>
        </p:nvSpPr>
        <p:spPr>
          <a:xfrm>
            <a:off x="3264408" y="6313932"/>
            <a:ext cx="118872" cy="146304"/>
          </a:xfrm>
          <a:prstGeom prst="down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2624328" y="6469380"/>
            <a:ext cx="1389888" cy="45720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state buffer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dead reckoning</a:t>
            </a:r>
          </a:p>
        </p:txBody>
      </p:sp>
      <p:sp>
        <p:nvSpPr>
          <p:cNvPr id="128" name="Right Arrow 127"/>
          <p:cNvSpPr/>
          <p:nvPr/>
        </p:nvSpPr>
        <p:spPr>
          <a:xfrm>
            <a:off x="2377440" y="5618988"/>
            <a:ext cx="274320" cy="109728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280660" y="5052060"/>
            <a:ext cx="1993392" cy="1225296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insert annotated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UR10 setup photo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161788" y="6359652"/>
            <a:ext cx="224028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annotated setup photo to be inserted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438644" y="4695444"/>
            <a:ext cx="1060704" cy="384048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20 Hz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control thread</a:t>
            </a:r>
          </a:p>
        </p:txBody>
      </p:sp>
      <p:sp>
        <p:nvSpPr>
          <p:cNvPr id="132" name="Down Arrow 131"/>
          <p:cNvSpPr/>
          <p:nvPr/>
        </p:nvSpPr>
        <p:spPr>
          <a:xfrm>
            <a:off x="7914131" y="5106924"/>
            <a:ext cx="118872" cy="146304"/>
          </a:xfrm>
          <a:prstGeom prst="down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438644" y="5280659"/>
            <a:ext cx="1060704" cy="347472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UR10 RTDE</a:t>
            </a:r>
          </a:p>
        </p:txBody>
      </p:sp>
      <p:sp>
        <p:nvSpPr>
          <p:cNvPr id="134" name="Down Arrow 133"/>
          <p:cNvSpPr/>
          <p:nvPr/>
        </p:nvSpPr>
        <p:spPr>
          <a:xfrm>
            <a:off x="7914131" y="5646420"/>
            <a:ext cx="118872" cy="146304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484364" y="5829300"/>
            <a:ext cx="969264" cy="457200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workspace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inset</a:t>
            </a:r>
          </a:p>
        </p:txBody>
      </p:sp>
      <p:sp>
        <p:nvSpPr>
          <p:cNvPr id="136" name="Down Arrow 135"/>
          <p:cNvSpPr/>
          <p:nvPr/>
        </p:nvSpPr>
        <p:spPr>
          <a:xfrm>
            <a:off x="7914131" y="6313931"/>
            <a:ext cx="118872" cy="146304"/>
          </a:xfrm>
          <a:prstGeom prst="down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7438644" y="6469379"/>
            <a:ext cx="1060704" cy="384048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magnetic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222222"/>
                </a:solidFill>
                <a:latin typeface="Arial"/>
              </a:rPr>
              <a:t>actuation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6835140" y="5372100"/>
            <a:ext cx="722376" cy="539496"/>
          </a:xfrm>
          <a:prstGeom prst="line">
            <a:avLst/>
          </a:prstGeom>
          <a:ln w="12700">
            <a:solidFill>
              <a:srgbClr val="C9252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963156" y="5966460"/>
            <a:ext cx="621792" cy="603504"/>
          </a:xfrm>
          <a:prstGeom prst="line">
            <a:avLst/>
          </a:prstGeom>
          <a:ln w="1270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