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58368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73152"/>
            <a:ext cx="11658600" cy="256032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0252D"/>
                </a:solidFill>
                <a:latin typeface="Arial"/>
              </a:rPr>
              <a:t>Dual-stream recurrent policy network with auxiliary future dynamics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201168" y="475488"/>
            <a:ext cx="11777472" cy="5797296"/>
          </a:xfrm>
          <a:prstGeom prst="rect">
            <a:avLst/>
          </a:prstGeom>
          <a:noFill/>
          <a:ln w="12700">
            <a:solidFill>
              <a:srgbClr val="9BA4B2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75488" y="804672"/>
            <a:ext cx="4407408" cy="2148840"/>
          </a:xfrm>
          <a:prstGeom prst="rect">
            <a:avLst/>
          </a:prstGeom>
          <a:noFill/>
          <a:ln w="11430">
            <a:solidFill>
              <a:srgbClr val="26619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75488" y="3246120"/>
            <a:ext cx="4407408" cy="2121408"/>
          </a:xfrm>
          <a:prstGeom prst="rect">
            <a:avLst/>
          </a:prstGeom>
          <a:noFill/>
          <a:ln w="11430">
            <a:solidFill>
              <a:srgbClr val="85672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166360" y="1783080"/>
            <a:ext cx="2148840" cy="2395728"/>
          </a:xfrm>
          <a:prstGeom prst="rect">
            <a:avLst/>
          </a:prstGeom>
          <a:noFill/>
          <a:ln w="11430">
            <a:solidFill>
              <a:srgbClr val="1F8382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62672" y="804672"/>
            <a:ext cx="3977639" cy="2148840"/>
          </a:xfrm>
          <a:prstGeom prst="rect">
            <a:avLst/>
          </a:prstGeom>
          <a:noFill/>
          <a:ln w="11430">
            <a:solidFill>
              <a:srgbClr val="A13D4E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62672" y="3346704"/>
            <a:ext cx="3977639" cy="2029968"/>
          </a:xfrm>
          <a:prstGeom prst="rect">
            <a:avLst/>
          </a:prstGeom>
          <a:noFill/>
          <a:ln w="11430">
            <a:solidFill>
              <a:srgbClr val="3A4B7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877824"/>
            <a:ext cx="1920240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66191"/>
                </a:solidFill>
                <a:latin typeface="Arial"/>
              </a:rPr>
              <a:t>Spatial branch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16152" y="3328416"/>
            <a:ext cx="2926080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85672B"/>
                </a:solidFill>
                <a:latin typeface="Arial"/>
              </a:rPr>
              <a:t>Temporal interaction-history branch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04688" y="1865376"/>
            <a:ext cx="1463040" cy="1828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F8382"/>
                </a:solidFill>
                <a:latin typeface="Arial"/>
              </a:rPr>
              <a:t>Fusion module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39327" y="877824"/>
            <a:ext cx="2743200" cy="1828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A13D4E"/>
                </a:solidFill>
                <a:latin typeface="Arial"/>
              </a:rPr>
              <a:t>Auxiliary task module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3438144"/>
            <a:ext cx="2377440" cy="1828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3A4B74"/>
                </a:solidFill>
                <a:latin typeface="Arial"/>
              </a:rPr>
              <a:t>PPO actor-critic module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566928"/>
            <a:ext cx="1143000" cy="164592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5F6A7B"/>
                </a:solidFill>
                <a:latin typeface="Arial"/>
              </a:rPr>
              <a:t>observation o_t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9808" y="1298448"/>
            <a:ext cx="201168" cy="1060704"/>
          </a:xfrm>
          <a:prstGeom prst="rect">
            <a:avLst/>
          </a:prstGeom>
          <a:solidFill>
            <a:srgbClr val="EDF6FC"/>
          </a:solidFill>
          <a:ln w="12700">
            <a:solidFill>
              <a:srgbClr val="266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749808" y="1475232"/>
            <a:ext cx="201168" cy="0"/>
          </a:xfrm>
          <a:prstGeom prst="line">
            <a:avLst/>
          </a:prstGeom>
          <a:ln w="5080">
            <a:solidFill>
              <a:srgbClr val="D2D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49808" y="1652016"/>
            <a:ext cx="201168" cy="0"/>
          </a:xfrm>
          <a:prstGeom prst="line">
            <a:avLst/>
          </a:prstGeom>
          <a:ln w="5080">
            <a:solidFill>
              <a:srgbClr val="D2D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49808" y="1828800"/>
            <a:ext cx="201168" cy="0"/>
          </a:xfrm>
          <a:prstGeom prst="line">
            <a:avLst/>
          </a:prstGeom>
          <a:ln w="5080">
            <a:solidFill>
              <a:srgbClr val="D2D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49808" y="2005584"/>
            <a:ext cx="201168" cy="0"/>
          </a:xfrm>
          <a:prstGeom prst="line">
            <a:avLst/>
          </a:prstGeom>
          <a:ln w="5080">
            <a:solidFill>
              <a:srgbClr val="D2D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49808" y="2182368"/>
            <a:ext cx="201168" cy="0"/>
          </a:xfrm>
          <a:prstGeom prst="line">
            <a:avLst/>
          </a:prstGeom>
          <a:ln w="5080">
            <a:solidFill>
              <a:srgbClr val="D2D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12063" y="2414016"/>
            <a:ext cx="676656" cy="1828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30" b="1">
                <a:solidFill>
                  <a:srgbClr val="266191"/>
                </a:solidFill>
                <a:latin typeface="Arial"/>
              </a:rPr>
              <a:t>s_t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2596896"/>
            <a:ext cx="603504" cy="146304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50" b="0">
                <a:solidFill>
                  <a:srgbClr val="5F6A7B"/>
                </a:solidFill>
                <a:latin typeface="Arial"/>
              </a:rPr>
              <a:t>12-D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59" y="3694176"/>
            <a:ext cx="493776" cy="749808"/>
          </a:xfrm>
          <a:prstGeom prst="rect">
            <a:avLst/>
          </a:prstGeom>
          <a:solidFill>
            <a:srgbClr val="FAFDFF"/>
          </a:solidFill>
          <a:ln w="7620">
            <a:solidFill>
              <a:srgbClr val="8567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77240" y="3739896"/>
            <a:ext cx="493776" cy="749808"/>
          </a:xfrm>
          <a:prstGeom prst="rect">
            <a:avLst/>
          </a:prstGeom>
          <a:solidFill>
            <a:srgbClr val="FAFDFF"/>
          </a:solidFill>
          <a:ln w="7620">
            <a:solidFill>
              <a:srgbClr val="8567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19" y="3785616"/>
            <a:ext cx="493776" cy="749808"/>
          </a:xfrm>
          <a:prstGeom prst="rect">
            <a:avLst/>
          </a:prstGeom>
          <a:solidFill>
            <a:srgbClr val="FAFDFF"/>
          </a:solidFill>
          <a:ln w="7620">
            <a:solidFill>
              <a:srgbClr val="8567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5800" y="3831336"/>
            <a:ext cx="493776" cy="749808"/>
          </a:xfrm>
          <a:prstGeom prst="rect">
            <a:avLst/>
          </a:prstGeom>
          <a:solidFill>
            <a:srgbClr val="FAFDFF"/>
          </a:solidFill>
          <a:ln w="7620">
            <a:solidFill>
              <a:srgbClr val="8567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" y="3877056"/>
            <a:ext cx="493776" cy="749808"/>
          </a:xfrm>
          <a:prstGeom prst="rect">
            <a:avLst/>
          </a:prstGeom>
          <a:solidFill>
            <a:srgbClr val="FFF8E2"/>
          </a:solidFill>
          <a:ln w="12700">
            <a:solidFill>
              <a:srgbClr val="8567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676656" y="4027017"/>
            <a:ext cx="420624" cy="0"/>
          </a:xfrm>
          <a:prstGeom prst="line">
            <a:avLst/>
          </a:prstGeom>
          <a:ln w="5715">
            <a:solidFill>
              <a:srgbClr val="BCCF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76656" y="4176979"/>
            <a:ext cx="420624" cy="0"/>
          </a:xfrm>
          <a:prstGeom prst="line">
            <a:avLst/>
          </a:prstGeom>
          <a:ln w="5715">
            <a:solidFill>
              <a:srgbClr val="BCCF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76656" y="4326940"/>
            <a:ext cx="420624" cy="0"/>
          </a:xfrm>
          <a:prstGeom prst="line">
            <a:avLst/>
          </a:prstGeom>
          <a:ln w="5715">
            <a:solidFill>
              <a:srgbClr val="BCCF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76656" y="4476902"/>
            <a:ext cx="420624" cy="0"/>
          </a:xfrm>
          <a:prstGeom prst="line">
            <a:avLst/>
          </a:prstGeom>
          <a:ln w="5715">
            <a:solidFill>
              <a:srgbClr val="BCCF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75488" y="4681728"/>
            <a:ext cx="822960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40" b="1">
                <a:solidFill>
                  <a:srgbClr val="85672B"/>
                </a:solidFill>
                <a:latin typeface="Arial"/>
              </a:rPr>
              <a:t>h_{t-15:t}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0352" y="4882896"/>
            <a:ext cx="713232" cy="164592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70" b="0">
                <a:solidFill>
                  <a:srgbClr val="5F6A7B"/>
                </a:solidFill>
                <a:latin typeface="Arial"/>
              </a:rPr>
              <a:t>16 x C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41248" y="786384"/>
            <a:ext cx="0" cy="457200"/>
          </a:xfrm>
          <a:prstGeom prst="line">
            <a:avLst/>
          </a:prstGeom>
          <a:ln w="6985">
            <a:solidFill>
              <a:srgbClr val="AEB8C4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841248" y="786384"/>
            <a:ext cx="0" cy="3017520"/>
          </a:xfrm>
          <a:prstGeom prst="line">
            <a:avLst/>
          </a:prstGeom>
          <a:ln w="6985">
            <a:solidFill>
              <a:srgbClr val="AEB8C4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987552" y="2304288"/>
            <a:ext cx="749808" cy="146304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40" b="0">
                <a:solidFill>
                  <a:srgbClr val="266191"/>
                </a:solidFill>
                <a:latin typeface="Arial"/>
              </a:rPr>
              <a:t>state scalars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0704" y="4709160"/>
            <a:ext cx="1152144" cy="237744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30" b="0">
                <a:solidFill>
                  <a:srgbClr val="85672B"/>
                </a:solidFill>
                <a:latin typeface="Arial"/>
              </a:rPr>
              <a:t>relative interaction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30" b="0">
                <a:solidFill>
                  <a:srgbClr val="85672B"/>
                </a:solidFill>
                <a:latin typeface="Arial"/>
              </a:rPr>
              <a:t>motion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847088" y="1280160"/>
            <a:ext cx="146304" cy="987552"/>
          </a:xfrm>
          <a:prstGeom prst="rect">
            <a:avLst/>
          </a:prstGeom>
          <a:solidFill>
            <a:srgbClr val="CAE1F4"/>
          </a:solidFill>
          <a:ln w="10795">
            <a:solidFill>
              <a:srgbClr val="266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591056" y="1115568"/>
            <a:ext cx="658368" cy="164592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66191"/>
                </a:solidFill>
                <a:latin typeface="Arial"/>
              </a:rPr>
              <a:t>FC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36192" y="2313432"/>
            <a:ext cx="768096" cy="146304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5F6A7B"/>
                </a:solidFill>
                <a:latin typeface="Arial"/>
              </a:rPr>
              <a:t>12 -&gt; 32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340864" y="1280160"/>
            <a:ext cx="146304" cy="987552"/>
          </a:xfrm>
          <a:prstGeom prst="rect">
            <a:avLst/>
          </a:prstGeom>
          <a:solidFill>
            <a:srgbClr val="EDF6FC"/>
          </a:solidFill>
          <a:ln w="10795">
            <a:solidFill>
              <a:srgbClr val="266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084832" y="1115568"/>
            <a:ext cx="658368" cy="164592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66191"/>
                </a:solidFill>
                <a:latin typeface="Arial"/>
              </a:rPr>
              <a:t>LN/ReLU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029968" y="2313432"/>
            <a:ext cx="768096" cy="146304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5F6A7B"/>
                </a:solidFill>
                <a:latin typeface="Arial"/>
              </a:rPr>
              <a:t/>
            </a:r>
          </a:p>
        </p:txBody>
      </p:sp>
      <p:sp>
        <p:nvSpPr>
          <p:cNvPr id="44" name="Rectangle 43"/>
          <p:cNvSpPr/>
          <p:nvPr/>
        </p:nvSpPr>
        <p:spPr>
          <a:xfrm>
            <a:off x="3150108" y="1243584"/>
            <a:ext cx="420624" cy="859536"/>
          </a:xfrm>
          <a:prstGeom prst="rect">
            <a:avLst/>
          </a:prstGeom>
          <a:solidFill>
            <a:srgbClr val="FAFDFF"/>
          </a:solidFill>
          <a:ln w="7620">
            <a:solidFill>
              <a:srgbClr val="266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099815" y="1280160"/>
            <a:ext cx="420624" cy="859536"/>
          </a:xfrm>
          <a:prstGeom prst="rect">
            <a:avLst/>
          </a:prstGeom>
          <a:solidFill>
            <a:srgbClr val="FAFDFF"/>
          </a:solidFill>
          <a:ln w="7620">
            <a:solidFill>
              <a:srgbClr val="266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049524" y="1316736"/>
            <a:ext cx="420624" cy="859536"/>
          </a:xfrm>
          <a:prstGeom prst="rect">
            <a:avLst/>
          </a:prstGeom>
          <a:solidFill>
            <a:srgbClr val="FAFDFF"/>
          </a:solidFill>
          <a:ln w="7620">
            <a:solidFill>
              <a:srgbClr val="266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999232" y="1353312"/>
            <a:ext cx="420624" cy="859536"/>
          </a:xfrm>
          <a:prstGeom prst="rect">
            <a:avLst/>
          </a:prstGeom>
          <a:solidFill>
            <a:srgbClr val="CAE1F4"/>
          </a:solidFill>
          <a:ln w="12700">
            <a:solidFill>
              <a:srgbClr val="266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" name="Connector 47"/>
          <p:cNvCxnSpPr/>
          <p:nvPr/>
        </p:nvCxnSpPr>
        <p:spPr>
          <a:xfrm>
            <a:off x="3035808" y="1525219"/>
            <a:ext cx="347471" cy="0"/>
          </a:xfrm>
          <a:prstGeom prst="line">
            <a:avLst/>
          </a:prstGeom>
          <a:ln w="5715">
            <a:solidFill>
              <a:srgbClr val="BCCF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3035808" y="1697126"/>
            <a:ext cx="347471" cy="0"/>
          </a:xfrm>
          <a:prstGeom prst="line">
            <a:avLst/>
          </a:prstGeom>
          <a:ln w="5715">
            <a:solidFill>
              <a:srgbClr val="BCCF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3035808" y="1869033"/>
            <a:ext cx="347471" cy="0"/>
          </a:xfrm>
          <a:prstGeom prst="line">
            <a:avLst/>
          </a:prstGeom>
          <a:ln w="5715">
            <a:solidFill>
              <a:srgbClr val="BCCF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3035808" y="2040940"/>
            <a:ext cx="347471" cy="0"/>
          </a:xfrm>
          <a:prstGeom prst="line">
            <a:avLst/>
          </a:prstGeom>
          <a:ln w="5715">
            <a:solidFill>
              <a:srgbClr val="BCCF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2834639" y="2267712"/>
            <a:ext cx="749808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40" b="1">
                <a:solidFill>
                  <a:srgbClr val="266191"/>
                </a:solidFill>
                <a:latin typeface="Arial"/>
              </a:rPr>
              <a:t>z_s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889503" y="2468880"/>
            <a:ext cx="640080" cy="164592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70" b="0">
                <a:solidFill>
                  <a:srgbClr val="5F6A7B"/>
                </a:solidFill>
                <a:latin typeface="Arial"/>
              </a:rPr>
              <a:t>32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960120" y="1828800"/>
            <a:ext cx="850392" cy="0"/>
          </a:xfrm>
          <a:prstGeom prst="line">
            <a:avLst/>
          </a:prstGeom>
          <a:ln w="12700">
            <a:solidFill>
              <a:srgbClr val="26619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993392" y="1828800"/>
            <a:ext cx="310896" cy="0"/>
          </a:xfrm>
          <a:prstGeom prst="line">
            <a:avLst/>
          </a:prstGeom>
          <a:ln w="11430">
            <a:solidFill>
              <a:srgbClr val="26619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2487168" y="1828800"/>
            <a:ext cx="484632" cy="0"/>
          </a:xfrm>
          <a:prstGeom prst="line">
            <a:avLst/>
          </a:prstGeom>
          <a:ln w="12700">
            <a:solidFill>
              <a:srgbClr val="26619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ectangle 56"/>
          <p:cNvSpPr/>
          <p:nvPr/>
        </p:nvSpPr>
        <p:spPr>
          <a:xfrm>
            <a:off x="1700784" y="3913632"/>
            <a:ext cx="164592" cy="566928"/>
          </a:xfrm>
          <a:prstGeom prst="rect">
            <a:avLst/>
          </a:prstGeom>
          <a:solidFill>
            <a:srgbClr val="FFF8E2"/>
          </a:solidFill>
          <a:ln w="12700">
            <a:solidFill>
              <a:srgbClr val="8567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" name="Connector 57"/>
          <p:cNvCxnSpPr/>
          <p:nvPr/>
        </p:nvCxnSpPr>
        <p:spPr>
          <a:xfrm>
            <a:off x="1700784" y="4055364"/>
            <a:ext cx="164592" cy="0"/>
          </a:xfrm>
          <a:prstGeom prst="line">
            <a:avLst/>
          </a:prstGeom>
          <a:ln w="5080">
            <a:solidFill>
              <a:srgbClr val="D2D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1700784" y="4197096"/>
            <a:ext cx="164592" cy="0"/>
          </a:xfrm>
          <a:prstGeom prst="line">
            <a:avLst/>
          </a:prstGeom>
          <a:ln w="5080">
            <a:solidFill>
              <a:srgbClr val="D2D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1700784" y="4338828"/>
            <a:ext cx="164592" cy="0"/>
          </a:xfrm>
          <a:prstGeom prst="line">
            <a:avLst/>
          </a:prstGeom>
          <a:ln w="5080">
            <a:solidFill>
              <a:srgbClr val="D2D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1463040" y="4535424"/>
            <a:ext cx="640080" cy="1828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30" b="1">
                <a:solidFill>
                  <a:srgbClr val="85672B"/>
                </a:solidFill>
                <a:latin typeface="Arial"/>
              </a:rPr>
              <a:t>x_{t-15}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499616" y="4718304"/>
            <a:ext cx="566928" cy="146304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50" b="0">
                <a:solidFill>
                  <a:srgbClr val="5F6A7B"/>
                </a:solidFill>
                <a:latin typeface="Arial"/>
              </a:rPr>
              <a:t/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1865376" y="4197096"/>
            <a:ext cx="320040" cy="0"/>
          </a:xfrm>
          <a:prstGeom prst="line">
            <a:avLst/>
          </a:prstGeom>
          <a:ln w="10160">
            <a:solidFill>
              <a:srgbClr val="85672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Rectangle 63"/>
          <p:cNvSpPr/>
          <p:nvPr/>
        </p:nvSpPr>
        <p:spPr>
          <a:xfrm>
            <a:off x="2212848" y="3913632"/>
            <a:ext cx="164592" cy="566928"/>
          </a:xfrm>
          <a:prstGeom prst="rect">
            <a:avLst/>
          </a:prstGeom>
          <a:solidFill>
            <a:srgbClr val="FFF8E2"/>
          </a:solidFill>
          <a:ln w="12700">
            <a:solidFill>
              <a:srgbClr val="8567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" name="Connector 64"/>
          <p:cNvCxnSpPr/>
          <p:nvPr/>
        </p:nvCxnSpPr>
        <p:spPr>
          <a:xfrm>
            <a:off x="2212848" y="4055364"/>
            <a:ext cx="164592" cy="0"/>
          </a:xfrm>
          <a:prstGeom prst="line">
            <a:avLst/>
          </a:prstGeom>
          <a:ln w="5080">
            <a:solidFill>
              <a:srgbClr val="D2D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2212848" y="4197096"/>
            <a:ext cx="164592" cy="0"/>
          </a:xfrm>
          <a:prstGeom prst="line">
            <a:avLst/>
          </a:prstGeom>
          <a:ln w="5080">
            <a:solidFill>
              <a:srgbClr val="D2D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2212848" y="4338828"/>
            <a:ext cx="164592" cy="0"/>
          </a:xfrm>
          <a:prstGeom prst="line">
            <a:avLst/>
          </a:prstGeom>
          <a:ln w="5080">
            <a:solidFill>
              <a:srgbClr val="D2D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1975104" y="4535424"/>
            <a:ext cx="640080" cy="1828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30" b="1">
                <a:solidFill>
                  <a:srgbClr val="85672B"/>
                </a:solidFill>
                <a:latin typeface="Arial"/>
              </a:rPr>
              <a:t>...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011679" y="4718304"/>
            <a:ext cx="566928" cy="146304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50" b="0">
                <a:solidFill>
                  <a:srgbClr val="5F6A7B"/>
                </a:solidFill>
                <a:latin typeface="Arial"/>
              </a:rPr>
              <a:t/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2377440" y="4197096"/>
            <a:ext cx="320040" cy="0"/>
          </a:xfrm>
          <a:prstGeom prst="line">
            <a:avLst/>
          </a:prstGeom>
          <a:ln w="10160">
            <a:solidFill>
              <a:srgbClr val="85672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Rectangle 70"/>
          <p:cNvSpPr/>
          <p:nvPr/>
        </p:nvSpPr>
        <p:spPr>
          <a:xfrm>
            <a:off x="2724912" y="3913632"/>
            <a:ext cx="164592" cy="566928"/>
          </a:xfrm>
          <a:prstGeom prst="rect">
            <a:avLst/>
          </a:prstGeom>
          <a:solidFill>
            <a:srgbClr val="FFF8E2"/>
          </a:solidFill>
          <a:ln w="12700">
            <a:solidFill>
              <a:srgbClr val="8567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2" name="Connector 71"/>
          <p:cNvCxnSpPr/>
          <p:nvPr/>
        </p:nvCxnSpPr>
        <p:spPr>
          <a:xfrm>
            <a:off x="2724912" y="4055364"/>
            <a:ext cx="164592" cy="0"/>
          </a:xfrm>
          <a:prstGeom prst="line">
            <a:avLst/>
          </a:prstGeom>
          <a:ln w="5080">
            <a:solidFill>
              <a:srgbClr val="D2D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2724912" y="4197096"/>
            <a:ext cx="164592" cy="0"/>
          </a:xfrm>
          <a:prstGeom prst="line">
            <a:avLst/>
          </a:prstGeom>
          <a:ln w="5080">
            <a:solidFill>
              <a:srgbClr val="D2D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2724912" y="4338828"/>
            <a:ext cx="164592" cy="0"/>
          </a:xfrm>
          <a:prstGeom prst="line">
            <a:avLst/>
          </a:prstGeom>
          <a:ln w="5080">
            <a:solidFill>
              <a:srgbClr val="D2D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2487168" y="4535424"/>
            <a:ext cx="640080" cy="1828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30" b="1">
                <a:solidFill>
                  <a:srgbClr val="85672B"/>
                </a:solidFill>
                <a:latin typeface="Arial"/>
              </a:rPr>
              <a:t>x_t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523744" y="4718304"/>
            <a:ext cx="566928" cy="146304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50" b="0">
                <a:solidFill>
                  <a:srgbClr val="5F6A7B"/>
                </a:solidFill>
                <a:latin typeface="Arial"/>
              </a:rPr>
              <a:t/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1783080" y="3858768"/>
            <a:ext cx="1024128" cy="0"/>
          </a:xfrm>
          <a:prstGeom prst="line">
            <a:avLst/>
          </a:prstGeom>
          <a:ln w="8255">
            <a:solidFill>
              <a:srgbClr val="85672B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1847088" y="3593592"/>
            <a:ext cx="868680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85672B"/>
                </a:solidFill>
                <a:latin typeface="Arial"/>
              </a:rPr>
              <a:t>GRU over 16 steps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200400" y="3767328"/>
            <a:ext cx="201168" cy="932688"/>
          </a:xfrm>
          <a:prstGeom prst="rect">
            <a:avLst/>
          </a:prstGeom>
          <a:solidFill>
            <a:srgbClr val="F2D796"/>
          </a:solidFill>
          <a:ln w="12700">
            <a:solidFill>
              <a:srgbClr val="8567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0" name="Connector 79"/>
          <p:cNvCxnSpPr/>
          <p:nvPr/>
        </p:nvCxnSpPr>
        <p:spPr>
          <a:xfrm>
            <a:off x="3200400" y="3953865"/>
            <a:ext cx="201168" cy="0"/>
          </a:xfrm>
          <a:prstGeom prst="line">
            <a:avLst/>
          </a:prstGeom>
          <a:ln w="5080">
            <a:solidFill>
              <a:srgbClr val="D2D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3200400" y="4140403"/>
            <a:ext cx="201168" cy="0"/>
          </a:xfrm>
          <a:prstGeom prst="line">
            <a:avLst/>
          </a:prstGeom>
          <a:ln w="5080">
            <a:solidFill>
              <a:srgbClr val="D2D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3200400" y="4326940"/>
            <a:ext cx="201168" cy="0"/>
          </a:xfrm>
          <a:prstGeom prst="line">
            <a:avLst/>
          </a:prstGeom>
          <a:ln w="5080">
            <a:solidFill>
              <a:srgbClr val="D2D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3200400" y="4513478"/>
            <a:ext cx="201168" cy="0"/>
          </a:xfrm>
          <a:prstGeom prst="line">
            <a:avLst/>
          </a:prstGeom>
          <a:ln w="5080">
            <a:solidFill>
              <a:srgbClr val="D2D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/>
        </p:nvSpPr>
        <p:spPr>
          <a:xfrm>
            <a:off x="2962656" y="4754880"/>
            <a:ext cx="676656" cy="1828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30" b="1">
                <a:solidFill>
                  <a:srgbClr val="85672B"/>
                </a:solidFill>
                <a:latin typeface="Arial"/>
              </a:rPr>
              <a:t>h_T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999232" y="4937760"/>
            <a:ext cx="603504" cy="146304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50" b="0">
                <a:solidFill>
                  <a:srgbClr val="5F6A7B"/>
                </a:solidFill>
                <a:latin typeface="Arial"/>
              </a:rPr>
              <a:t>64</a:t>
            </a:r>
          </a:p>
        </p:txBody>
      </p:sp>
      <p:sp>
        <p:nvSpPr>
          <p:cNvPr id="86" name="Rectangle 85"/>
          <p:cNvSpPr/>
          <p:nvPr/>
        </p:nvSpPr>
        <p:spPr>
          <a:xfrm>
            <a:off x="3822191" y="3785615"/>
            <a:ext cx="146304" cy="896112"/>
          </a:xfrm>
          <a:prstGeom prst="rect">
            <a:avLst/>
          </a:prstGeom>
          <a:solidFill>
            <a:srgbClr val="F2D796"/>
          </a:solidFill>
          <a:ln w="10795">
            <a:solidFill>
              <a:srgbClr val="8567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3566159" y="3621023"/>
            <a:ext cx="658368" cy="164592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85672B"/>
                </a:solidFill>
                <a:latin typeface="Arial"/>
              </a:rPr>
              <a:t>FC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511296" y="4727447"/>
            <a:ext cx="768096" cy="146304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5F6A7B"/>
                </a:solidFill>
                <a:latin typeface="Arial"/>
              </a:rPr>
              <a:t>64 -&gt; 32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379976" y="3831335"/>
            <a:ext cx="310896" cy="676656"/>
          </a:xfrm>
          <a:prstGeom prst="rect">
            <a:avLst/>
          </a:prstGeom>
          <a:solidFill>
            <a:srgbClr val="FAFDFF"/>
          </a:solidFill>
          <a:ln w="7620">
            <a:solidFill>
              <a:srgbClr val="8567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4338828" y="3863339"/>
            <a:ext cx="310896" cy="676656"/>
          </a:xfrm>
          <a:prstGeom prst="rect">
            <a:avLst/>
          </a:prstGeom>
          <a:solidFill>
            <a:srgbClr val="FAFDFF"/>
          </a:solidFill>
          <a:ln w="7620">
            <a:solidFill>
              <a:srgbClr val="8567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4297680" y="3895344"/>
            <a:ext cx="310896" cy="676656"/>
          </a:xfrm>
          <a:prstGeom prst="rect">
            <a:avLst/>
          </a:prstGeom>
          <a:solidFill>
            <a:srgbClr val="F2D796"/>
          </a:solidFill>
          <a:ln w="12700">
            <a:solidFill>
              <a:srgbClr val="8567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2" name="Connector 91"/>
          <p:cNvCxnSpPr/>
          <p:nvPr/>
        </p:nvCxnSpPr>
        <p:spPr>
          <a:xfrm>
            <a:off x="4334256" y="4030675"/>
            <a:ext cx="237744" cy="0"/>
          </a:xfrm>
          <a:prstGeom prst="line">
            <a:avLst/>
          </a:prstGeom>
          <a:ln w="5715">
            <a:solidFill>
              <a:srgbClr val="BCCF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4334256" y="4166006"/>
            <a:ext cx="237744" cy="0"/>
          </a:xfrm>
          <a:prstGeom prst="line">
            <a:avLst/>
          </a:prstGeom>
          <a:ln w="5715">
            <a:solidFill>
              <a:srgbClr val="BCCF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4334256" y="4301337"/>
            <a:ext cx="237744" cy="0"/>
          </a:xfrm>
          <a:prstGeom prst="line">
            <a:avLst/>
          </a:prstGeom>
          <a:ln w="5715">
            <a:solidFill>
              <a:srgbClr val="BCCF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4334256" y="4436668"/>
            <a:ext cx="237744" cy="0"/>
          </a:xfrm>
          <a:prstGeom prst="line">
            <a:avLst/>
          </a:prstGeom>
          <a:ln w="5715">
            <a:solidFill>
              <a:srgbClr val="BCCF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TextBox 95"/>
          <p:cNvSpPr txBox="1"/>
          <p:nvPr/>
        </p:nvSpPr>
        <p:spPr>
          <a:xfrm>
            <a:off x="4133088" y="4626864"/>
            <a:ext cx="640080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40" b="1">
                <a:solidFill>
                  <a:srgbClr val="85672B"/>
                </a:solidFill>
                <a:latin typeface="Arial"/>
              </a:rPr>
              <a:t>z_h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187952" y="4828032"/>
            <a:ext cx="530352" cy="164592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70" b="0">
                <a:solidFill>
                  <a:srgbClr val="5F6A7B"/>
                </a:solidFill>
                <a:latin typeface="Arial"/>
              </a:rPr>
              <a:t>32</a:t>
            </a:r>
          </a:p>
        </p:txBody>
      </p:sp>
      <p:cxnSp>
        <p:nvCxnSpPr>
          <p:cNvPr id="98" name="Connector 97"/>
          <p:cNvCxnSpPr/>
          <p:nvPr/>
        </p:nvCxnSpPr>
        <p:spPr>
          <a:xfrm>
            <a:off x="1143000" y="4251960"/>
            <a:ext cx="530352" cy="0"/>
          </a:xfrm>
          <a:prstGeom prst="line">
            <a:avLst/>
          </a:prstGeom>
          <a:ln w="12700">
            <a:solidFill>
              <a:srgbClr val="85672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2770632" y="4197096"/>
            <a:ext cx="393192" cy="0"/>
          </a:xfrm>
          <a:prstGeom prst="line">
            <a:avLst/>
          </a:prstGeom>
          <a:ln w="12700">
            <a:solidFill>
              <a:srgbClr val="85672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3419856" y="4233672"/>
            <a:ext cx="365759" cy="0"/>
          </a:xfrm>
          <a:prstGeom prst="line">
            <a:avLst/>
          </a:prstGeom>
          <a:ln w="12700">
            <a:solidFill>
              <a:srgbClr val="85672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3986784" y="4233672"/>
            <a:ext cx="292608" cy="0"/>
          </a:xfrm>
          <a:prstGeom prst="line">
            <a:avLst/>
          </a:prstGeom>
          <a:ln w="12700">
            <a:solidFill>
              <a:srgbClr val="85672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Rectangle 101"/>
          <p:cNvSpPr/>
          <p:nvPr/>
        </p:nvSpPr>
        <p:spPr>
          <a:xfrm>
            <a:off x="5550408" y="2244852"/>
            <a:ext cx="292608" cy="1024128"/>
          </a:xfrm>
          <a:prstGeom prst="rect">
            <a:avLst/>
          </a:prstGeom>
          <a:solidFill>
            <a:srgbClr val="FAFDFF"/>
          </a:solidFill>
          <a:ln w="7620">
            <a:solidFill>
              <a:srgbClr val="1F83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5504688" y="2276856"/>
            <a:ext cx="292608" cy="1024128"/>
          </a:xfrm>
          <a:prstGeom prst="rect">
            <a:avLst/>
          </a:prstGeom>
          <a:solidFill>
            <a:srgbClr val="FAFDFF"/>
          </a:solidFill>
          <a:ln w="7620">
            <a:solidFill>
              <a:srgbClr val="1F83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5458968" y="2308860"/>
            <a:ext cx="292608" cy="1024128"/>
          </a:xfrm>
          <a:prstGeom prst="rect">
            <a:avLst/>
          </a:prstGeom>
          <a:solidFill>
            <a:srgbClr val="FAFDFF"/>
          </a:solidFill>
          <a:ln w="7620">
            <a:solidFill>
              <a:srgbClr val="1F83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5413248" y="2340864"/>
            <a:ext cx="292608" cy="1024128"/>
          </a:xfrm>
          <a:prstGeom prst="rect">
            <a:avLst/>
          </a:prstGeom>
          <a:solidFill>
            <a:srgbClr val="EAF8F7"/>
          </a:solidFill>
          <a:ln w="12700">
            <a:solidFill>
              <a:srgbClr val="1F83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6" name="Connector 105"/>
          <p:cNvCxnSpPr/>
          <p:nvPr/>
        </p:nvCxnSpPr>
        <p:spPr>
          <a:xfrm>
            <a:off x="5449824" y="2545689"/>
            <a:ext cx="219456" cy="0"/>
          </a:xfrm>
          <a:prstGeom prst="line">
            <a:avLst/>
          </a:prstGeom>
          <a:ln w="5715">
            <a:solidFill>
              <a:srgbClr val="BCCF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5449824" y="2750515"/>
            <a:ext cx="219456" cy="0"/>
          </a:xfrm>
          <a:prstGeom prst="line">
            <a:avLst/>
          </a:prstGeom>
          <a:ln w="5715">
            <a:solidFill>
              <a:srgbClr val="BCCF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5449824" y="2955340"/>
            <a:ext cx="219456" cy="0"/>
          </a:xfrm>
          <a:prstGeom prst="line">
            <a:avLst/>
          </a:prstGeom>
          <a:ln w="5715">
            <a:solidFill>
              <a:srgbClr val="BCCF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5449824" y="3160166"/>
            <a:ext cx="219456" cy="0"/>
          </a:xfrm>
          <a:prstGeom prst="line">
            <a:avLst/>
          </a:prstGeom>
          <a:ln w="5715">
            <a:solidFill>
              <a:srgbClr val="BCCF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TextBox 109"/>
          <p:cNvSpPr txBox="1"/>
          <p:nvPr/>
        </p:nvSpPr>
        <p:spPr>
          <a:xfrm>
            <a:off x="5248656" y="3419856"/>
            <a:ext cx="621792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40" b="1">
                <a:solidFill>
                  <a:srgbClr val="1F8382"/>
                </a:solidFill>
                <a:latin typeface="Arial"/>
              </a:rPr>
              <a:t>[z_s; z_h]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5303520" y="3621024"/>
            <a:ext cx="512064" cy="164592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70" b="0">
                <a:solidFill>
                  <a:srgbClr val="5F6A7B"/>
                </a:solidFill>
                <a:latin typeface="Arial"/>
              </a:rPr>
              <a:t>64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217920" y="2286000"/>
            <a:ext cx="146304" cy="1078992"/>
          </a:xfrm>
          <a:prstGeom prst="rect">
            <a:avLst/>
          </a:prstGeom>
          <a:solidFill>
            <a:srgbClr val="CAEBE8"/>
          </a:solidFill>
          <a:ln w="10795">
            <a:solidFill>
              <a:srgbClr val="1F83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5961888" y="2121408"/>
            <a:ext cx="658368" cy="164592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1F8382"/>
                </a:solidFill>
                <a:latin typeface="Arial"/>
              </a:rPr>
              <a:t>FC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907024" y="3410711"/>
            <a:ext cx="768096" cy="146304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5F6A7B"/>
                </a:solidFill>
                <a:latin typeface="Arial"/>
              </a:rPr>
              <a:t>64 -&gt; 64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6830568" y="2404872"/>
            <a:ext cx="329184" cy="768096"/>
          </a:xfrm>
          <a:prstGeom prst="rect">
            <a:avLst/>
          </a:prstGeom>
          <a:solidFill>
            <a:srgbClr val="FAFDFF"/>
          </a:solidFill>
          <a:ln w="7620">
            <a:solidFill>
              <a:srgbClr val="1F83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6789420" y="2436876"/>
            <a:ext cx="329184" cy="768096"/>
          </a:xfrm>
          <a:prstGeom prst="rect">
            <a:avLst/>
          </a:prstGeom>
          <a:solidFill>
            <a:srgbClr val="FAFDFF"/>
          </a:solidFill>
          <a:ln w="7620">
            <a:solidFill>
              <a:srgbClr val="1F83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6748272" y="2468880"/>
            <a:ext cx="329184" cy="768096"/>
          </a:xfrm>
          <a:prstGeom prst="rect">
            <a:avLst/>
          </a:prstGeom>
          <a:solidFill>
            <a:srgbClr val="CAEBE8"/>
          </a:solidFill>
          <a:ln w="12700">
            <a:solidFill>
              <a:srgbClr val="1F83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8" name="Connector 117"/>
          <p:cNvCxnSpPr/>
          <p:nvPr/>
        </p:nvCxnSpPr>
        <p:spPr>
          <a:xfrm>
            <a:off x="6784848" y="2622499"/>
            <a:ext cx="256032" cy="0"/>
          </a:xfrm>
          <a:prstGeom prst="line">
            <a:avLst/>
          </a:prstGeom>
          <a:ln w="5715">
            <a:solidFill>
              <a:srgbClr val="BCCF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6784848" y="2776118"/>
            <a:ext cx="256032" cy="0"/>
          </a:xfrm>
          <a:prstGeom prst="line">
            <a:avLst/>
          </a:prstGeom>
          <a:ln w="5715">
            <a:solidFill>
              <a:srgbClr val="BCCF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6784848" y="2929737"/>
            <a:ext cx="256032" cy="0"/>
          </a:xfrm>
          <a:prstGeom prst="line">
            <a:avLst/>
          </a:prstGeom>
          <a:ln w="5715">
            <a:solidFill>
              <a:srgbClr val="BCCF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6784848" y="3083356"/>
            <a:ext cx="256032" cy="0"/>
          </a:xfrm>
          <a:prstGeom prst="line">
            <a:avLst/>
          </a:prstGeom>
          <a:ln w="5715">
            <a:solidFill>
              <a:srgbClr val="BCCF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TextBox 121"/>
          <p:cNvSpPr txBox="1"/>
          <p:nvPr/>
        </p:nvSpPr>
        <p:spPr>
          <a:xfrm>
            <a:off x="6583680" y="3291840"/>
            <a:ext cx="658368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40" b="1">
                <a:solidFill>
                  <a:srgbClr val="1F8382"/>
                </a:solidFill>
                <a:latin typeface="Arial"/>
              </a:rPr>
              <a:t>f_t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6638544" y="3493008"/>
            <a:ext cx="548640" cy="164592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70" b="0">
                <a:solidFill>
                  <a:srgbClr val="5F6A7B"/>
                </a:solidFill>
                <a:latin typeface="Arial"/>
              </a:rPr>
              <a:t>64</a:t>
            </a:r>
          </a:p>
        </p:txBody>
      </p:sp>
      <p:cxnSp>
        <p:nvCxnSpPr>
          <p:cNvPr id="124" name="Connector 123"/>
          <p:cNvCxnSpPr/>
          <p:nvPr/>
        </p:nvCxnSpPr>
        <p:spPr>
          <a:xfrm>
            <a:off x="3438144" y="1783080"/>
            <a:ext cx="1956816" cy="978408"/>
          </a:xfrm>
          <a:prstGeom prst="line">
            <a:avLst/>
          </a:prstGeom>
          <a:ln w="13970">
            <a:solidFill>
              <a:srgbClr val="26619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V="1">
            <a:off x="4608576" y="3108960"/>
            <a:ext cx="795528" cy="1124712"/>
          </a:xfrm>
          <a:prstGeom prst="line">
            <a:avLst/>
          </a:prstGeom>
          <a:ln w="13970">
            <a:solidFill>
              <a:srgbClr val="85672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5715000" y="2852928"/>
            <a:ext cx="466344" cy="0"/>
          </a:xfrm>
          <a:prstGeom prst="line">
            <a:avLst/>
          </a:prstGeom>
          <a:ln w="12700">
            <a:solidFill>
              <a:srgbClr val="1F838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6382512" y="2852928"/>
            <a:ext cx="347472" cy="0"/>
          </a:xfrm>
          <a:prstGeom prst="line">
            <a:avLst/>
          </a:prstGeom>
          <a:ln w="12700">
            <a:solidFill>
              <a:srgbClr val="1F838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Rectangle 127"/>
          <p:cNvSpPr/>
          <p:nvPr/>
        </p:nvSpPr>
        <p:spPr>
          <a:xfrm>
            <a:off x="7991856" y="1408176"/>
            <a:ext cx="146304" cy="1024128"/>
          </a:xfrm>
          <a:prstGeom prst="rect">
            <a:avLst/>
          </a:prstGeom>
          <a:solidFill>
            <a:srgbClr val="F7DAE0"/>
          </a:solidFill>
          <a:ln w="10795">
            <a:solidFill>
              <a:srgbClr val="A13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7735824" y="1243584"/>
            <a:ext cx="658368" cy="164592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A13D4E"/>
                </a:solidFill>
                <a:latin typeface="Arial"/>
              </a:rPr>
              <a:t>FC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80960" y="2478024"/>
            <a:ext cx="768096" cy="146304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5F6A7B"/>
                </a:solidFill>
                <a:latin typeface="Arial"/>
              </a:rPr>
              <a:t>64 -&gt; 64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8723376" y="1143000"/>
            <a:ext cx="146304" cy="749808"/>
          </a:xfrm>
          <a:prstGeom prst="rect">
            <a:avLst/>
          </a:prstGeom>
          <a:solidFill>
            <a:srgbClr val="F7DAE0"/>
          </a:solidFill>
          <a:ln w="10795">
            <a:solidFill>
              <a:srgbClr val="A13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8467344" y="978408"/>
            <a:ext cx="658368" cy="164592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A13D4E"/>
                </a:solidFill>
                <a:latin typeface="Arial"/>
              </a:rPr>
              <a:t>FC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8412480" y="1938527"/>
            <a:ext cx="768096" cy="146304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5F6A7B"/>
                </a:solidFill>
                <a:latin typeface="Arial"/>
              </a:rPr>
              <a:t>64 -&gt; H*2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9528048" y="1060704"/>
            <a:ext cx="420624" cy="676656"/>
          </a:xfrm>
          <a:prstGeom prst="rect">
            <a:avLst/>
          </a:prstGeom>
          <a:solidFill>
            <a:srgbClr val="FAFDFF"/>
          </a:solidFill>
          <a:ln w="7620">
            <a:solidFill>
              <a:srgbClr val="A13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9482328" y="1092708"/>
            <a:ext cx="420624" cy="676656"/>
          </a:xfrm>
          <a:prstGeom prst="rect">
            <a:avLst/>
          </a:prstGeom>
          <a:solidFill>
            <a:srgbClr val="FAFDFF"/>
          </a:solidFill>
          <a:ln w="7620">
            <a:solidFill>
              <a:srgbClr val="A13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9436608" y="1124712"/>
            <a:ext cx="420624" cy="676656"/>
          </a:xfrm>
          <a:prstGeom prst="rect">
            <a:avLst/>
          </a:prstGeom>
          <a:solidFill>
            <a:srgbClr val="FAFDFF"/>
          </a:solidFill>
          <a:ln w="7620">
            <a:solidFill>
              <a:srgbClr val="A13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9390888" y="1156716"/>
            <a:ext cx="420624" cy="676656"/>
          </a:xfrm>
          <a:prstGeom prst="rect">
            <a:avLst/>
          </a:prstGeom>
          <a:solidFill>
            <a:srgbClr val="FAFDFF"/>
          </a:solidFill>
          <a:ln w="7620">
            <a:solidFill>
              <a:srgbClr val="A13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9345168" y="1188720"/>
            <a:ext cx="420624" cy="676656"/>
          </a:xfrm>
          <a:prstGeom prst="rect">
            <a:avLst/>
          </a:prstGeom>
          <a:solidFill>
            <a:srgbClr val="FFF2F5"/>
          </a:solidFill>
          <a:ln w="12700">
            <a:solidFill>
              <a:srgbClr val="A13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9" name="Connector 138"/>
          <p:cNvCxnSpPr/>
          <p:nvPr/>
        </p:nvCxnSpPr>
        <p:spPr>
          <a:xfrm>
            <a:off x="9381744" y="1324051"/>
            <a:ext cx="347472" cy="0"/>
          </a:xfrm>
          <a:prstGeom prst="line">
            <a:avLst/>
          </a:prstGeom>
          <a:ln w="5715">
            <a:solidFill>
              <a:srgbClr val="BCCF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9381744" y="1459382"/>
            <a:ext cx="347472" cy="0"/>
          </a:xfrm>
          <a:prstGeom prst="line">
            <a:avLst/>
          </a:prstGeom>
          <a:ln w="5715">
            <a:solidFill>
              <a:srgbClr val="BCCF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9381744" y="1594713"/>
            <a:ext cx="347472" cy="0"/>
          </a:xfrm>
          <a:prstGeom prst="line">
            <a:avLst/>
          </a:prstGeom>
          <a:ln w="5715">
            <a:solidFill>
              <a:srgbClr val="BCCF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9381744" y="1730044"/>
            <a:ext cx="347472" cy="0"/>
          </a:xfrm>
          <a:prstGeom prst="line">
            <a:avLst/>
          </a:prstGeom>
          <a:ln w="5715">
            <a:solidFill>
              <a:srgbClr val="BCCF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3" name="TextBox 142"/>
          <p:cNvSpPr txBox="1"/>
          <p:nvPr/>
        </p:nvSpPr>
        <p:spPr>
          <a:xfrm>
            <a:off x="9180576" y="1920240"/>
            <a:ext cx="749808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40" b="1">
                <a:solidFill>
                  <a:srgbClr val="A13D4E"/>
                </a:solidFill>
                <a:latin typeface="Arial"/>
              </a:rPr>
              <a:t>D_hat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9235440" y="2121408"/>
            <a:ext cx="640080" cy="164592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70" b="0">
                <a:solidFill>
                  <a:srgbClr val="5F6A7B"/>
                </a:solidFill>
                <a:latin typeface="Arial"/>
              </a:rPr>
              <a:t>H x 2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8723376" y="2157984"/>
            <a:ext cx="146304" cy="530352"/>
          </a:xfrm>
          <a:prstGeom prst="rect">
            <a:avLst/>
          </a:prstGeom>
          <a:solidFill>
            <a:srgbClr val="FFF2F5"/>
          </a:solidFill>
          <a:ln w="10795">
            <a:solidFill>
              <a:srgbClr val="A13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8467344" y="1993391"/>
            <a:ext cx="658368" cy="164592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A13D4E"/>
                </a:solidFill>
                <a:latin typeface="Arial"/>
              </a:rPr>
              <a:t>FC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8412480" y="2734056"/>
            <a:ext cx="768096" cy="146304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5F6A7B"/>
                </a:solidFill>
                <a:latin typeface="Arial"/>
              </a:rPr>
              <a:t/>
            </a:r>
          </a:p>
        </p:txBody>
      </p:sp>
      <p:sp>
        <p:nvSpPr>
          <p:cNvPr id="148" name="Oval 147"/>
          <p:cNvSpPr/>
          <p:nvPr/>
        </p:nvSpPr>
        <p:spPr>
          <a:xfrm>
            <a:off x="9464040" y="2331720"/>
            <a:ext cx="118872" cy="118872"/>
          </a:xfrm>
          <a:prstGeom prst="ellipse">
            <a:avLst/>
          </a:prstGeom>
          <a:solidFill>
            <a:srgbClr val="F7DAE0"/>
          </a:solidFill>
          <a:ln w="10160">
            <a:solidFill>
              <a:srgbClr val="A13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9281160" y="2487168"/>
            <a:ext cx="475488" cy="146304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A13D4E"/>
                </a:solidFill>
                <a:latin typeface="Arial"/>
              </a:rPr>
              <a:t>risk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10543032" y="1243584"/>
            <a:ext cx="347472" cy="585216"/>
          </a:xfrm>
          <a:prstGeom prst="rect">
            <a:avLst/>
          </a:prstGeom>
          <a:solidFill>
            <a:srgbClr val="FAFDFF"/>
          </a:solidFill>
          <a:ln w="7620">
            <a:solidFill>
              <a:srgbClr val="A13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10506455" y="1271016"/>
            <a:ext cx="347472" cy="585216"/>
          </a:xfrm>
          <a:prstGeom prst="rect">
            <a:avLst/>
          </a:prstGeom>
          <a:solidFill>
            <a:srgbClr val="FAFDFF"/>
          </a:solidFill>
          <a:ln w="7620">
            <a:solidFill>
              <a:srgbClr val="A13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10469880" y="1298448"/>
            <a:ext cx="347472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A13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3" name="Connector 152"/>
          <p:cNvCxnSpPr/>
          <p:nvPr/>
        </p:nvCxnSpPr>
        <p:spPr>
          <a:xfrm>
            <a:off x="10506455" y="1415491"/>
            <a:ext cx="274321" cy="0"/>
          </a:xfrm>
          <a:prstGeom prst="line">
            <a:avLst/>
          </a:prstGeom>
          <a:ln w="5715">
            <a:solidFill>
              <a:srgbClr val="BCCF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>
            <a:off x="10506455" y="1532534"/>
            <a:ext cx="274321" cy="0"/>
          </a:xfrm>
          <a:prstGeom prst="line">
            <a:avLst/>
          </a:prstGeom>
          <a:ln w="5715">
            <a:solidFill>
              <a:srgbClr val="BCCF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10506455" y="1649577"/>
            <a:ext cx="274321" cy="0"/>
          </a:xfrm>
          <a:prstGeom prst="line">
            <a:avLst/>
          </a:prstGeom>
          <a:ln w="5715">
            <a:solidFill>
              <a:srgbClr val="BCCF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>
            <a:off x="10506455" y="1766620"/>
            <a:ext cx="274321" cy="0"/>
          </a:xfrm>
          <a:prstGeom prst="line">
            <a:avLst/>
          </a:prstGeom>
          <a:ln w="5715">
            <a:solidFill>
              <a:srgbClr val="BCCF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7" name="TextBox 156"/>
          <p:cNvSpPr txBox="1"/>
          <p:nvPr/>
        </p:nvSpPr>
        <p:spPr>
          <a:xfrm>
            <a:off x="10305288" y="1938528"/>
            <a:ext cx="676656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40" b="1">
                <a:solidFill>
                  <a:srgbClr val="A13D4E"/>
                </a:solidFill>
                <a:latin typeface="Arial"/>
              </a:rPr>
              <a:t>targets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10360152" y="2139696"/>
            <a:ext cx="566928" cy="164592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70" b="0">
                <a:solidFill>
                  <a:srgbClr val="5F6A7B"/>
                </a:solidFill>
                <a:latin typeface="Arial"/>
              </a:rPr>
              <a:t>D, y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8211312" y="2761488"/>
            <a:ext cx="2468880" cy="1371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50" b="0">
                <a:solidFill>
                  <a:srgbClr val="A13D4E"/>
                </a:solidFill>
                <a:latin typeface="Arial"/>
              </a:rPr>
              <a:t>aux loss: future trajectory + catch-risk</a:t>
            </a:r>
          </a:p>
        </p:txBody>
      </p:sp>
      <p:cxnSp>
        <p:nvCxnSpPr>
          <p:cNvPr id="160" name="Connector 159"/>
          <p:cNvCxnSpPr/>
          <p:nvPr/>
        </p:nvCxnSpPr>
        <p:spPr>
          <a:xfrm flipV="1">
            <a:off x="7068312" y="1920240"/>
            <a:ext cx="886967" cy="896112"/>
          </a:xfrm>
          <a:prstGeom prst="line">
            <a:avLst/>
          </a:prstGeom>
          <a:ln w="12700">
            <a:solidFill>
              <a:srgbClr val="A13D4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 flipV="1">
            <a:off x="8138160" y="1517904"/>
            <a:ext cx="548640" cy="402336"/>
          </a:xfrm>
          <a:prstGeom prst="line">
            <a:avLst/>
          </a:prstGeom>
          <a:ln w="11430">
            <a:solidFill>
              <a:srgbClr val="A13D4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8138160" y="1920240"/>
            <a:ext cx="548640" cy="502920"/>
          </a:xfrm>
          <a:prstGeom prst="line">
            <a:avLst/>
          </a:prstGeom>
          <a:ln w="11430">
            <a:solidFill>
              <a:srgbClr val="A13D4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8869680" y="1517904"/>
            <a:ext cx="438912" cy="0"/>
          </a:xfrm>
          <a:prstGeom prst="line">
            <a:avLst/>
          </a:prstGeom>
          <a:ln w="11430">
            <a:solidFill>
              <a:srgbClr val="A13D4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 flipV="1">
            <a:off x="8869680" y="2386584"/>
            <a:ext cx="566928" cy="36576"/>
          </a:xfrm>
          <a:prstGeom prst="line">
            <a:avLst/>
          </a:prstGeom>
          <a:ln w="11430">
            <a:solidFill>
              <a:srgbClr val="A13D4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H="1" flipV="1">
            <a:off x="9829800" y="1517904"/>
            <a:ext cx="621792" cy="73152"/>
          </a:xfrm>
          <a:prstGeom prst="line">
            <a:avLst/>
          </a:prstGeom>
          <a:ln w="9525">
            <a:solidFill>
              <a:srgbClr val="A13D4E"/>
            </a:solidFill>
            <a:prstDash val="dash"/>
            <a:tailEnd type="triangle"/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6" name="Rectangle 165"/>
          <p:cNvSpPr/>
          <p:nvPr/>
        </p:nvSpPr>
        <p:spPr>
          <a:xfrm>
            <a:off x="7991856" y="3931920"/>
            <a:ext cx="146304" cy="749808"/>
          </a:xfrm>
          <a:prstGeom prst="rect">
            <a:avLst/>
          </a:prstGeom>
          <a:solidFill>
            <a:srgbClr val="E1E8F8"/>
          </a:solidFill>
          <a:ln w="10795">
            <a:solidFill>
              <a:srgbClr val="3A4B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7735824" y="3767328"/>
            <a:ext cx="658368" cy="164592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3A4B74"/>
                </a:solidFill>
                <a:latin typeface="Arial"/>
              </a:rPr>
              <a:t/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7680960" y="4727448"/>
            <a:ext cx="768096" cy="146304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5F6A7B"/>
                </a:solidFill>
                <a:latin typeface="Arial"/>
              </a:rPr>
              <a:t/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7699248" y="3749039"/>
            <a:ext cx="804672" cy="146304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70" b="1">
                <a:solidFill>
                  <a:srgbClr val="3A4B74"/>
                </a:solidFill>
                <a:latin typeface="Arial"/>
              </a:rPr>
              <a:t>Actor head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7772400" y="4700016"/>
            <a:ext cx="640080" cy="118872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80" b="0">
                <a:solidFill>
                  <a:srgbClr val="5F6A7B"/>
                </a:solidFill>
                <a:latin typeface="Arial"/>
              </a:rPr>
              <a:t>64 -&gt; 2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8778240" y="4078224"/>
            <a:ext cx="182880" cy="475488"/>
          </a:xfrm>
          <a:prstGeom prst="rect">
            <a:avLst/>
          </a:prstGeom>
          <a:solidFill>
            <a:srgbClr val="FFFFFF"/>
          </a:solidFill>
          <a:ln w="11430">
            <a:solidFill>
              <a:srgbClr val="3A4B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2" name="Connector 171"/>
          <p:cNvCxnSpPr/>
          <p:nvPr/>
        </p:nvCxnSpPr>
        <p:spPr>
          <a:xfrm>
            <a:off x="8778240" y="4315968"/>
            <a:ext cx="182880" cy="0"/>
          </a:xfrm>
          <a:prstGeom prst="line">
            <a:avLst/>
          </a:prstGeom>
          <a:ln w="5080">
            <a:solidFill>
              <a:srgbClr val="E7EC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3" name="TextBox 172"/>
          <p:cNvSpPr txBox="1"/>
          <p:nvPr/>
        </p:nvSpPr>
        <p:spPr>
          <a:xfrm>
            <a:off x="8622792" y="4599432"/>
            <a:ext cx="502920" cy="128016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0" b="1">
                <a:solidFill>
                  <a:srgbClr val="3A4B74"/>
                </a:solidFill>
                <a:latin typeface="Arial"/>
              </a:rPr>
              <a:t>a_t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8522208" y="4736592"/>
            <a:ext cx="713232" cy="128016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80" b="0">
                <a:solidFill>
                  <a:srgbClr val="5F6A7B"/>
                </a:solidFill>
                <a:latin typeface="Arial"/>
              </a:rPr>
              <a:t>2-D action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7991856" y="4846320"/>
            <a:ext cx="146304" cy="347472"/>
          </a:xfrm>
          <a:prstGeom prst="rect">
            <a:avLst/>
          </a:prstGeom>
          <a:solidFill>
            <a:srgbClr val="EDE7F8"/>
          </a:solidFill>
          <a:ln w="10795">
            <a:solidFill>
              <a:srgbClr val="5B4D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7735824" y="4681728"/>
            <a:ext cx="658368" cy="164592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5B4D7E"/>
                </a:solidFill>
                <a:latin typeface="Arial"/>
              </a:rPr>
              <a:t/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7680960" y="5239512"/>
            <a:ext cx="768096" cy="146304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5F6A7B"/>
                </a:solidFill>
                <a:latin typeface="Arial"/>
              </a:rPr>
              <a:t/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7699248" y="4663440"/>
            <a:ext cx="804672" cy="146304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70" b="1">
                <a:solidFill>
                  <a:srgbClr val="5B4D7E"/>
                </a:solidFill>
                <a:latin typeface="Arial"/>
              </a:rPr>
              <a:t>Critic head</a:t>
            </a:r>
          </a:p>
        </p:txBody>
      </p:sp>
      <p:sp>
        <p:nvSpPr>
          <p:cNvPr id="179" name="Oval 178"/>
          <p:cNvSpPr/>
          <p:nvPr/>
        </p:nvSpPr>
        <p:spPr>
          <a:xfrm>
            <a:off x="8814816" y="4928616"/>
            <a:ext cx="118872" cy="118872"/>
          </a:xfrm>
          <a:prstGeom prst="ellipse">
            <a:avLst/>
          </a:prstGeom>
          <a:solidFill>
            <a:srgbClr val="EDE7F8"/>
          </a:solidFill>
          <a:ln w="10160">
            <a:solidFill>
              <a:srgbClr val="5B4D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8613648" y="5084064"/>
            <a:ext cx="566928" cy="118872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5B4D7E"/>
                </a:solidFill>
                <a:latin typeface="Arial"/>
              </a:rPr>
              <a:t>V(o_t)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10314432" y="4041648"/>
            <a:ext cx="384048" cy="548640"/>
          </a:xfrm>
          <a:prstGeom prst="rect">
            <a:avLst/>
          </a:prstGeom>
          <a:solidFill>
            <a:srgbClr val="FAFDFF"/>
          </a:solidFill>
          <a:ln w="7620">
            <a:solidFill>
              <a:srgbClr val="3A4B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10277855" y="4069080"/>
            <a:ext cx="384048" cy="548640"/>
          </a:xfrm>
          <a:prstGeom prst="rect">
            <a:avLst/>
          </a:prstGeom>
          <a:solidFill>
            <a:srgbClr val="FAFDFF"/>
          </a:solidFill>
          <a:ln w="7620">
            <a:solidFill>
              <a:srgbClr val="3A4B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10241280" y="4096512"/>
            <a:ext cx="384048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3A4B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4" name="Connector 183"/>
          <p:cNvCxnSpPr/>
          <p:nvPr/>
        </p:nvCxnSpPr>
        <p:spPr>
          <a:xfrm>
            <a:off x="10277855" y="4206240"/>
            <a:ext cx="310897" cy="0"/>
          </a:xfrm>
          <a:prstGeom prst="line">
            <a:avLst/>
          </a:prstGeom>
          <a:ln w="5715">
            <a:solidFill>
              <a:srgbClr val="BCCF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>
            <a:off x="10277855" y="4315968"/>
            <a:ext cx="310897" cy="0"/>
          </a:xfrm>
          <a:prstGeom prst="line">
            <a:avLst/>
          </a:prstGeom>
          <a:ln w="5715">
            <a:solidFill>
              <a:srgbClr val="BCCF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>
            <a:off x="10277855" y="4425696"/>
            <a:ext cx="310897" cy="0"/>
          </a:xfrm>
          <a:prstGeom prst="line">
            <a:avLst/>
          </a:prstGeom>
          <a:ln w="5715">
            <a:solidFill>
              <a:srgbClr val="BCCF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>
            <a:off x="10277855" y="4535424"/>
            <a:ext cx="310897" cy="0"/>
          </a:xfrm>
          <a:prstGeom prst="line">
            <a:avLst/>
          </a:prstGeom>
          <a:ln w="5715">
            <a:solidFill>
              <a:srgbClr val="BCCF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8" name="TextBox 187"/>
          <p:cNvSpPr txBox="1"/>
          <p:nvPr/>
        </p:nvSpPr>
        <p:spPr>
          <a:xfrm>
            <a:off x="10076688" y="4700016"/>
            <a:ext cx="713232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40" b="1">
                <a:solidFill>
                  <a:srgbClr val="3A4B74"/>
                </a:solidFill>
                <a:latin typeface="Arial"/>
              </a:rPr>
              <a:t>rollout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10131552" y="4901184"/>
            <a:ext cx="603503" cy="164592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70" b="0">
                <a:solidFill>
                  <a:srgbClr val="5F6A7B"/>
                </a:solidFill>
                <a:latin typeface="Arial"/>
              </a:rPr>
              <a:t>o,a,r,V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9784080" y="5157216"/>
            <a:ext cx="1335024" cy="1371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0" b="1">
                <a:solidFill>
                  <a:srgbClr val="3A4B74"/>
                </a:solidFill>
                <a:latin typeface="Arial"/>
              </a:rPr>
              <a:t>PPO update</a:t>
            </a:r>
          </a:p>
        </p:txBody>
      </p:sp>
      <p:cxnSp>
        <p:nvCxnSpPr>
          <p:cNvPr id="191" name="Connector 190"/>
          <p:cNvCxnSpPr/>
          <p:nvPr/>
        </p:nvCxnSpPr>
        <p:spPr>
          <a:xfrm>
            <a:off x="7068312" y="2852928"/>
            <a:ext cx="886967" cy="1463040"/>
          </a:xfrm>
          <a:prstGeom prst="line">
            <a:avLst/>
          </a:prstGeom>
          <a:ln w="12700">
            <a:solidFill>
              <a:srgbClr val="3A4B7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>
            <a:off x="7068312" y="2852928"/>
            <a:ext cx="886967" cy="2167128"/>
          </a:xfrm>
          <a:prstGeom prst="line">
            <a:avLst/>
          </a:prstGeom>
          <a:ln w="12700">
            <a:solidFill>
              <a:srgbClr val="5B4D7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>
            <a:off x="8138160" y="4306824"/>
            <a:ext cx="603504" cy="0"/>
          </a:xfrm>
          <a:prstGeom prst="line">
            <a:avLst/>
          </a:prstGeom>
          <a:ln w="11430">
            <a:solidFill>
              <a:srgbClr val="3A4B7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 flipV="1">
            <a:off x="8138160" y="4983480"/>
            <a:ext cx="640080" cy="36576"/>
          </a:xfrm>
          <a:prstGeom prst="line">
            <a:avLst/>
          </a:prstGeom>
          <a:ln w="11430">
            <a:solidFill>
              <a:srgbClr val="5B4D7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>
            <a:off x="8979408" y="4315968"/>
            <a:ext cx="1243584" cy="0"/>
          </a:xfrm>
          <a:prstGeom prst="line">
            <a:avLst/>
          </a:prstGeom>
          <a:ln w="9525">
            <a:solidFill>
              <a:srgbClr val="3A4B74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>
            <a:off x="10442448" y="4663440"/>
            <a:ext cx="0" cy="411480"/>
          </a:xfrm>
          <a:prstGeom prst="line">
            <a:avLst/>
          </a:prstGeom>
          <a:ln w="9525">
            <a:solidFill>
              <a:srgbClr val="3A4B74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 flipH="1">
            <a:off x="8193024" y="5230368"/>
            <a:ext cx="2011680" cy="0"/>
          </a:xfrm>
          <a:prstGeom prst="line">
            <a:avLst/>
          </a:prstGeom>
          <a:ln w="9525">
            <a:solidFill>
              <a:srgbClr val="3A4B74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 flipV="1">
            <a:off x="6364224" y="3328416"/>
            <a:ext cx="0" cy="2542032"/>
          </a:xfrm>
          <a:prstGeom prst="line">
            <a:avLst/>
          </a:prstGeom>
          <a:ln w="8255">
            <a:solidFill>
              <a:srgbClr val="1F8382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9" name="TextBox 198"/>
          <p:cNvSpPr txBox="1"/>
          <p:nvPr/>
        </p:nvSpPr>
        <p:spPr>
          <a:xfrm>
            <a:off x="3291840" y="5733288"/>
            <a:ext cx="6080760" cy="219456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5F6A7B"/>
                </a:solidFill>
                <a:latin typeface="Arial"/>
              </a:rPr>
              <a:t>L_total = L_PPO + lambda_traj L_traj + lambda_risk L_risk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475488" y="5998464"/>
            <a:ext cx="3931920" cy="1371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8691A0"/>
                </a:solidFill>
                <a:latin typeface="Arial"/>
              </a:rPr>
              <a:t>thin plates denote tensors / hidden features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