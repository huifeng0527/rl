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9144000" cy="73152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762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0" d="100"/>
          <a:sy n="100" d="100"/>
        </p:scale>
        <p:origin x="1914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B772A2-C015-4EB9-8D66-0B73F411FD47}" type="datetimeFigureOut">
              <a:rPr lang="zh-CN" altLang="en-US" smtClean="0"/>
              <a:t>2026/7/6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500188" y="1143000"/>
            <a:ext cx="38576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A79239-CAAC-4878-BFBD-24C541A1216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26034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06522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jp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/>
          <p:cNvSpPr/>
          <p:nvPr/>
        </p:nvSpPr>
        <p:spPr>
          <a:xfrm>
            <a:off x="54483" y="438912"/>
            <a:ext cx="4169663" cy="3127248"/>
          </a:xfrm>
          <a:prstGeom prst="roundRect">
            <a:avLst>
              <a:gd name="adj" fmla="val 9052"/>
            </a:avLst>
          </a:prstGeom>
          <a:solidFill>
            <a:srgbClr val="FFFFFF"/>
          </a:solidFill>
          <a:ln w="2032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74522" y="585216"/>
            <a:ext cx="3529583" cy="34747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C92525"/>
                </a:solidFill>
                <a:latin typeface="Arial"/>
              </a:rPr>
              <a:t>Simulation Environment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88992" y="438912"/>
            <a:ext cx="4114799" cy="3127248"/>
          </a:xfrm>
          <a:prstGeom prst="roundRect">
            <a:avLst>
              <a:gd name="adj" fmla="val 7834"/>
            </a:avLst>
          </a:prstGeom>
          <a:solidFill>
            <a:srgbClr val="FFFFFF"/>
          </a:solidFill>
          <a:ln w="2032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154168" y="621222"/>
            <a:ext cx="3529583" cy="2754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50" b="1" dirty="0">
                <a:solidFill>
                  <a:srgbClr val="C92525"/>
                </a:solidFill>
                <a:latin typeface="Arial"/>
              </a:rPr>
              <a:t>Policy</a:t>
            </a:r>
            <a:r>
              <a:rPr lang="en-US" sz="1550" b="1" dirty="0">
                <a:solidFill>
                  <a:srgbClr val="C92525"/>
                </a:solidFill>
                <a:latin typeface="Arial"/>
              </a:rPr>
              <a:t> Network</a:t>
            </a:r>
            <a:endParaRPr sz="1550" b="1" dirty="0">
              <a:solidFill>
                <a:srgbClr val="C92525"/>
              </a:solidFill>
              <a:latin typeface="Arial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54483" y="4061840"/>
            <a:ext cx="4169663" cy="3127248"/>
          </a:xfrm>
          <a:prstGeom prst="roundRect">
            <a:avLst>
              <a:gd name="adj" fmla="val 8748"/>
            </a:avLst>
          </a:prstGeom>
          <a:solidFill>
            <a:srgbClr val="FFFFFF"/>
          </a:solidFill>
          <a:ln w="2032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74522" y="4208145"/>
            <a:ext cx="3529583" cy="34747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C92525"/>
                </a:solidFill>
                <a:latin typeface="Arial"/>
              </a:rPr>
              <a:t>Image-to-Observation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07278" y="4061840"/>
            <a:ext cx="4096513" cy="3127248"/>
          </a:xfrm>
          <a:prstGeom prst="roundRect">
            <a:avLst>
              <a:gd name="adj" fmla="val 7834"/>
            </a:avLst>
          </a:prstGeom>
          <a:solidFill>
            <a:srgbClr val="FFFFFF"/>
          </a:solidFill>
          <a:ln w="2032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154168" y="4208145"/>
            <a:ext cx="3529583" cy="34747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C92525"/>
                </a:solidFill>
                <a:latin typeface="Arial"/>
              </a:rPr>
              <a:t>Real-World Rehabilitation Platform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4301490" y="1554480"/>
            <a:ext cx="530352" cy="109728"/>
          </a:xfrm>
          <a:prstGeom prst="rightArrow">
            <a:avLst/>
          </a:prstGeom>
          <a:solidFill>
            <a:srgbClr val="2F6FA7"/>
          </a:solidFill>
          <a:ln w="6350">
            <a:solidFill>
              <a:srgbClr val="2F6F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255770" y="1379171"/>
            <a:ext cx="621792" cy="16773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850" b="0" dirty="0" err="1">
                <a:solidFill>
                  <a:srgbClr val="2F6FA7"/>
                </a:solidFill>
                <a:latin typeface="Arial"/>
              </a:rPr>
              <a:t>o</a:t>
            </a:r>
            <a:r>
              <a:rPr sz="850" b="0" dirty="0" err="1">
                <a:solidFill>
                  <a:srgbClr val="2F6FA7"/>
                </a:solidFill>
                <a:latin typeface="Arial"/>
              </a:rPr>
              <a:t>_t</a:t>
            </a:r>
            <a:r>
              <a:rPr sz="850" b="0" dirty="0">
                <a:solidFill>
                  <a:srgbClr val="2F6FA7"/>
                </a:solidFill>
                <a:latin typeface="Arial"/>
              </a:rPr>
              <a:t>, </a:t>
            </a:r>
            <a:r>
              <a:rPr sz="850" b="0" dirty="0" err="1">
                <a:solidFill>
                  <a:srgbClr val="2F6FA7"/>
                </a:solidFill>
                <a:latin typeface="Arial"/>
              </a:rPr>
              <a:t>r_t</a:t>
            </a:r>
            <a:endParaRPr sz="850" b="0" dirty="0">
              <a:solidFill>
                <a:srgbClr val="2F6FA7"/>
              </a:solidFill>
              <a:latin typeface="Arial"/>
            </a:endParaRPr>
          </a:p>
        </p:txBody>
      </p:sp>
      <p:sp>
        <p:nvSpPr>
          <p:cNvPr id="22" name="Left Arrow 21"/>
          <p:cNvSpPr/>
          <p:nvPr/>
        </p:nvSpPr>
        <p:spPr>
          <a:xfrm>
            <a:off x="4301490" y="2048256"/>
            <a:ext cx="530352" cy="109728"/>
          </a:xfrm>
          <a:prstGeom prst="leftArrow">
            <a:avLst/>
          </a:prstGeom>
          <a:solidFill>
            <a:srgbClr val="CF6F2E"/>
          </a:solidFill>
          <a:ln w="6350">
            <a:solidFill>
              <a:srgbClr val="CF6F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02658" y="2185415"/>
            <a:ext cx="274320" cy="16459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dirty="0" err="1">
                <a:solidFill>
                  <a:srgbClr val="CF6F2E"/>
                </a:solidFill>
                <a:latin typeface="Arial"/>
              </a:rPr>
              <a:t>a_t</a:t>
            </a:r>
            <a:endParaRPr sz="900" b="0" dirty="0">
              <a:solidFill>
                <a:srgbClr val="CF6F2E"/>
              </a:solidFill>
              <a:latin typeface="Arial"/>
            </a:endParaRPr>
          </a:p>
        </p:txBody>
      </p:sp>
      <p:sp>
        <p:nvSpPr>
          <p:cNvPr id="24" name="Down Arrow 23"/>
          <p:cNvSpPr/>
          <p:nvPr/>
        </p:nvSpPr>
        <p:spPr>
          <a:xfrm rot="5400000">
            <a:off x="4481639" y="5505428"/>
            <a:ext cx="109728" cy="530352"/>
          </a:xfrm>
          <a:prstGeom prst="downArrow">
            <a:avLst/>
          </a:prstGeom>
          <a:solidFill>
            <a:schemeClr val="tx1"/>
          </a:solidFill>
          <a:ln w="6350">
            <a:solidFill>
              <a:srgbClr val="3A8C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Up Arrow 25"/>
          <p:cNvSpPr/>
          <p:nvPr/>
        </p:nvSpPr>
        <p:spPr>
          <a:xfrm rot="10800000">
            <a:off x="6978396" y="3620264"/>
            <a:ext cx="109728" cy="427482"/>
          </a:xfrm>
          <a:prstGeom prst="upArrow">
            <a:avLst/>
          </a:prstGeom>
          <a:solidFill>
            <a:schemeClr val="tx1"/>
          </a:solidFill>
          <a:ln w="6350">
            <a:solidFill>
              <a:srgbClr val="7356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209032" y="985098"/>
            <a:ext cx="813816" cy="1923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10" b="1" dirty="0">
                <a:solidFill>
                  <a:srgbClr val="222222"/>
                </a:solidFill>
                <a:latin typeface="Arial"/>
              </a:rPr>
              <a:t>Input layer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498336" y="962406"/>
            <a:ext cx="1078992" cy="23774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10" b="1" dirty="0">
                <a:solidFill>
                  <a:srgbClr val="222222"/>
                </a:solidFill>
                <a:latin typeface="Arial"/>
              </a:rPr>
              <a:t>Hidden layers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906512" y="985098"/>
            <a:ext cx="1036278" cy="1923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10" b="1" dirty="0">
                <a:solidFill>
                  <a:srgbClr val="222222"/>
                </a:solidFill>
                <a:latin typeface="Arial"/>
              </a:rPr>
              <a:t>Output layer</a:t>
            </a:r>
          </a:p>
        </p:txBody>
      </p:sp>
      <p:cxnSp>
        <p:nvCxnSpPr>
          <p:cNvPr id="65" name="Connector 64"/>
          <p:cNvCxnSpPr/>
          <p:nvPr/>
        </p:nvCxnSpPr>
        <p:spPr>
          <a:xfrm flipV="1">
            <a:off x="5757672" y="1403604"/>
            <a:ext cx="685800" cy="13716"/>
          </a:xfrm>
          <a:prstGeom prst="line">
            <a:avLst/>
          </a:prstGeom>
          <a:ln w="6604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5757672" y="1417320"/>
            <a:ext cx="685800" cy="324612"/>
          </a:xfrm>
          <a:prstGeom prst="line">
            <a:avLst/>
          </a:prstGeom>
          <a:ln w="6604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5757672" y="1417320"/>
            <a:ext cx="685800" cy="809244"/>
          </a:xfrm>
          <a:prstGeom prst="line">
            <a:avLst/>
          </a:prstGeom>
          <a:ln w="6604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5757672" y="1417320"/>
            <a:ext cx="685800" cy="1120140"/>
          </a:xfrm>
          <a:prstGeom prst="line">
            <a:avLst/>
          </a:prstGeom>
          <a:ln w="6604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5757672" y="1403604"/>
            <a:ext cx="685800" cy="315468"/>
          </a:xfrm>
          <a:prstGeom prst="line">
            <a:avLst/>
          </a:prstGeom>
          <a:ln w="6604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5757672" y="1719072"/>
            <a:ext cx="685800" cy="22860"/>
          </a:xfrm>
          <a:prstGeom prst="line">
            <a:avLst/>
          </a:prstGeom>
          <a:ln w="6604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5757672" y="1719072"/>
            <a:ext cx="685800" cy="507492"/>
          </a:xfrm>
          <a:prstGeom prst="line">
            <a:avLst/>
          </a:prstGeom>
          <a:ln w="6604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5757672" y="1719072"/>
            <a:ext cx="685800" cy="818388"/>
          </a:xfrm>
          <a:prstGeom prst="line">
            <a:avLst/>
          </a:prstGeom>
          <a:ln w="6604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5757672" y="1403604"/>
            <a:ext cx="685800" cy="827532"/>
          </a:xfrm>
          <a:prstGeom prst="line">
            <a:avLst/>
          </a:prstGeom>
          <a:ln w="6604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5757672" y="1741932"/>
            <a:ext cx="685800" cy="489204"/>
          </a:xfrm>
          <a:prstGeom prst="line">
            <a:avLst/>
          </a:prstGeom>
          <a:ln w="6604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5757672" y="2226564"/>
            <a:ext cx="685800" cy="4572"/>
          </a:xfrm>
          <a:prstGeom prst="line">
            <a:avLst/>
          </a:prstGeom>
          <a:ln w="6604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5757672" y="2231136"/>
            <a:ext cx="685800" cy="306324"/>
          </a:xfrm>
          <a:prstGeom prst="line">
            <a:avLst/>
          </a:prstGeom>
          <a:ln w="6604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5757672" y="1403604"/>
            <a:ext cx="685800" cy="1129284"/>
          </a:xfrm>
          <a:prstGeom prst="line">
            <a:avLst/>
          </a:prstGeom>
          <a:ln w="6604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5757672" y="1741932"/>
            <a:ext cx="685800" cy="790956"/>
          </a:xfrm>
          <a:prstGeom prst="line">
            <a:avLst/>
          </a:prstGeom>
          <a:ln w="6604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5757672" y="2226564"/>
            <a:ext cx="685800" cy="306324"/>
          </a:xfrm>
          <a:prstGeom prst="line">
            <a:avLst/>
          </a:prstGeom>
          <a:ln w="6604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5757672" y="2532888"/>
            <a:ext cx="685800" cy="4572"/>
          </a:xfrm>
          <a:prstGeom prst="line">
            <a:avLst/>
          </a:prstGeom>
          <a:ln w="6604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6681216" y="1403604"/>
            <a:ext cx="704088" cy="0"/>
          </a:xfrm>
          <a:prstGeom prst="line">
            <a:avLst/>
          </a:prstGeom>
          <a:ln w="6604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6681216" y="1403604"/>
            <a:ext cx="704088" cy="338328"/>
          </a:xfrm>
          <a:prstGeom prst="line">
            <a:avLst/>
          </a:prstGeom>
          <a:ln w="6604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6681216" y="1403604"/>
            <a:ext cx="704088" cy="822960"/>
          </a:xfrm>
          <a:prstGeom prst="line">
            <a:avLst/>
          </a:prstGeom>
          <a:ln w="6604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6681216" y="1403604"/>
            <a:ext cx="704088" cy="1133856"/>
          </a:xfrm>
          <a:prstGeom prst="line">
            <a:avLst/>
          </a:prstGeom>
          <a:ln w="6604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6681216" y="1403604"/>
            <a:ext cx="704088" cy="338328"/>
          </a:xfrm>
          <a:prstGeom prst="line">
            <a:avLst/>
          </a:prstGeom>
          <a:ln w="6604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6681216" y="1741932"/>
            <a:ext cx="704088" cy="0"/>
          </a:xfrm>
          <a:prstGeom prst="line">
            <a:avLst/>
          </a:prstGeom>
          <a:ln w="6604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6681216" y="1741932"/>
            <a:ext cx="704088" cy="484632"/>
          </a:xfrm>
          <a:prstGeom prst="line">
            <a:avLst/>
          </a:prstGeom>
          <a:ln w="6604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6681216" y="1741932"/>
            <a:ext cx="704088" cy="795528"/>
          </a:xfrm>
          <a:prstGeom prst="line">
            <a:avLst/>
          </a:prstGeom>
          <a:ln w="6604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6681216" y="1403604"/>
            <a:ext cx="704088" cy="822960"/>
          </a:xfrm>
          <a:prstGeom prst="line">
            <a:avLst/>
          </a:prstGeom>
          <a:ln w="6604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6681216" y="1741932"/>
            <a:ext cx="704088" cy="484632"/>
          </a:xfrm>
          <a:prstGeom prst="line">
            <a:avLst/>
          </a:prstGeom>
          <a:ln w="6604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6681216" y="2226564"/>
            <a:ext cx="704088" cy="0"/>
          </a:xfrm>
          <a:prstGeom prst="line">
            <a:avLst/>
          </a:prstGeom>
          <a:ln w="6604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6681216" y="2226564"/>
            <a:ext cx="704088" cy="310896"/>
          </a:xfrm>
          <a:prstGeom prst="line">
            <a:avLst/>
          </a:prstGeom>
          <a:ln w="6604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V="1">
            <a:off x="6681216" y="1403604"/>
            <a:ext cx="704088" cy="1133856"/>
          </a:xfrm>
          <a:prstGeom prst="line">
            <a:avLst/>
          </a:prstGeom>
          <a:ln w="6604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 flipV="1">
            <a:off x="6681216" y="1741932"/>
            <a:ext cx="704088" cy="795528"/>
          </a:xfrm>
          <a:prstGeom prst="line">
            <a:avLst/>
          </a:prstGeom>
          <a:ln w="6604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 flipV="1">
            <a:off x="6681216" y="2226564"/>
            <a:ext cx="704088" cy="310896"/>
          </a:xfrm>
          <a:prstGeom prst="line">
            <a:avLst/>
          </a:prstGeom>
          <a:ln w="6604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6681216" y="2537460"/>
            <a:ext cx="704088" cy="0"/>
          </a:xfrm>
          <a:prstGeom prst="line">
            <a:avLst/>
          </a:prstGeom>
          <a:ln w="6604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7623048" y="1403604"/>
            <a:ext cx="768096" cy="566928"/>
          </a:xfrm>
          <a:prstGeom prst="line">
            <a:avLst/>
          </a:prstGeom>
          <a:ln w="6604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7623048" y="1741932"/>
            <a:ext cx="768096" cy="228600"/>
          </a:xfrm>
          <a:prstGeom prst="line">
            <a:avLst/>
          </a:prstGeom>
          <a:ln w="6604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7623048" y="1970532"/>
            <a:ext cx="768096" cy="256032"/>
          </a:xfrm>
          <a:prstGeom prst="line">
            <a:avLst/>
          </a:prstGeom>
          <a:ln w="6604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7623048" y="1970532"/>
            <a:ext cx="768096" cy="566928"/>
          </a:xfrm>
          <a:prstGeom prst="line">
            <a:avLst/>
          </a:prstGeom>
          <a:ln w="6604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Oval 100"/>
          <p:cNvSpPr/>
          <p:nvPr/>
        </p:nvSpPr>
        <p:spPr>
          <a:xfrm>
            <a:off x="5565648" y="1321308"/>
            <a:ext cx="192024" cy="192024"/>
          </a:xfrm>
          <a:prstGeom prst="ellipse">
            <a:avLst/>
          </a:prstGeom>
          <a:solidFill>
            <a:srgbClr val="FFF0E4"/>
          </a:solidFill>
          <a:ln w="8890">
            <a:solidFill>
              <a:srgbClr val="CF6F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Oval 101"/>
          <p:cNvSpPr/>
          <p:nvPr/>
        </p:nvSpPr>
        <p:spPr>
          <a:xfrm>
            <a:off x="5565648" y="1623060"/>
            <a:ext cx="192024" cy="192024"/>
          </a:xfrm>
          <a:prstGeom prst="ellipse">
            <a:avLst/>
          </a:prstGeom>
          <a:solidFill>
            <a:srgbClr val="FFF0E4"/>
          </a:solidFill>
          <a:ln w="8890">
            <a:solidFill>
              <a:srgbClr val="CF6F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Oval 102"/>
          <p:cNvSpPr/>
          <p:nvPr/>
        </p:nvSpPr>
        <p:spPr>
          <a:xfrm>
            <a:off x="5565648" y="2135124"/>
            <a:ext cx="192024" cy="192024"/>
          </a:xfrm>
          <a:prstGeom prst="ellipse">
            <a:avLst/>
          </a:prstGeom>
          <a:solidFill>
            <a:srgbClr val="FFF0E4"/>
          </a:solidFill>
          <a:ln w="8890">
            <a:solidFill>
              <a:srgbClr val="CF6F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Oval 103"/>
          <p:cNvSpPr/>
          <p:nvPr/>
        </p:nvSpPr>
        <p:spPr>
          <a:xfrm>
            <a:off x="5565648" y="2436876"/>
            <a:ext cx="192024" cy="192024"/>
          </a:xfrm>
          <a:prstGeom prst="ellipse">
            <a:avLst/>
          </a:prstGeom>
          <a:solidFill>
            <a:srgbClr val="FFF0E4"/>
          </a:solidFill>
          <a:ln w="8890">
            <a:solidFill>
              <a:srgbClr val="CF6F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Oval 104"/>
          <p:cNvSpPr/>
          <p:nvPr/>
        </p:nvSpPr>
        <p:spPr>
          <a:xfrm>
            <a:off x="6443472" y="1284732"/>
            <a:ext cx="237744" cy="237744"/>
          </a:xfrm>
          <a:prstGeom prst="ellipse">
            <a:avLst/>
          </a:prstGeom>
          <a:solidFill>
            <a:srgbClr val="E9F2FB"/>
          </a:solidFill>
          <a:ln w="8890">
            <a:solidFill>
              <a:srgbClr val="2F6F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Oval 105"/>
          <p:cNvSpPr/>
          <p:nvPr/>
        </p:nvSpPr>
        <p:spPr>
          <a:xfrm>
            <a:off x="7385304" y="1284732"/>
            <a:ext cx="237744" cy="237744"/>
          </a:xfrm>
          <a:prstGeom prst="ellipse">
            <a:avLst/>
          </a:prstGeom>
          <a:solidFill>
            <a:srgbClr val="E9F2FB"/>
          </a:solidFill>
          <a:ln w="8890">
            <a:solidFill>
              <a:srgbClr val="2F6F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Oval 106"/>
          <p:cNvSpPr/>
          <p:nvPr/>
        </p:nvSpPr>
        <p:spPr>
          <a:xfrm>
            <a:off x="6443472" y="1623060"/>
            <a:ext cx="237744" cy="237744"/>
          </a:xfrm>
          <a:prstGeom prst="ellipse">
            <a:avLst/>
          </a:prstGeom>
          <a:solidFill>
            <a:srgbClr val="E9F2FB"/>
          </a:solidFill>
          <a:ln w="8890">
            <a:solidFill>
              <a:srgbClr val="2F6F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Oval 107"/>
          <p:cNvSpPr/>
          <p:nvPr/>
        </p:nvSpPr>
        <p:spPr>
          <a:xfrm>
            <a:off x="7385304" y="1623060"/>
            <a:ext cx="237744" cy="237744"/>
          </a:xfrm>
          <a:prstGeom prst="ellipse">
            <a:avLst/>
          </a:prstGeom>
          <a:solidFill>
            <a:srgbClr val="E9F2FB"/>
          </a:solidFill>
          <a:ln w="8890">
            <a:solidFill>
              <a:srgbClr val="2F6F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Oval 108"/>
          <p:cNvSpPr/>
          <p:nvPr/>
        </p:nvSpPr>
        <p:spPr>
          <a:xfrm>
            <a:off x="6443472" y="2107692"/>
            <a:ext cx="237744" cy="237744"/>
          </a:xfrm>
          <a:prstGeom prst="ellipse">
            <a:avLst/>
          </a:prstGeom>
          <a:solidFill>
            <a:srgbClr val="E9F2FB"/>
          </a:solidFill>
          <a:ln w="8890">
            <a:solidFill>
              <a:srgbClr val="2F6F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Oval 109"/>
          <p:cNvSpPr/>
          <p:nvPr/>
        </p:nvSpPr>
        <p:spPr>
          <a:xfrm>
            <a:off x="7385304" y="2107692"/>
            <a:ext cx="237744" cy="237744"/>
          </a:xfrm>
          <a:prstGeom prst="ellipse">
            <a:avLst/>
          </a:prstGeom>
          <a:solidFill>
            <a:srgbClr val="E9F2FB"/>
          </a:solidFill>
          <a:ln w="8890">
            <a:solidFill>
              <a:srgbClr val="2F6F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Oval 110"/>
          <p:cNvSpPr/>
          <p:nvPr/>
        </p:nvSpPr>
        <p:spPr>
          <a:xfrm>
            <a:off x="6443472" y="2418588"/>
            <a:ext cx="237744" cy="237744"/>
          </a:xfrm>
          <a:prstGeom prst="ellipse">
            <a:avLst/>
          </a:prstGeom>
          <a:solidFill>
            <a:srgbClr val="E9F2FB"/>
          </a:solidFill>
          <a:ln w="8890">
            <a:solidFill>
              <a:srgbClr val="2F6F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Oval 111"/>
          <p:cNvSpPr/>
          <p:nvPr/>
        </p:nvSpPr>
        <p:spPr>
          <a:xfrm>
            <a:off x="7385304" y="2418588"/>
            <a:ext cx="237744" cy="237744"/>
          </a:xfrm>
          <a:prstGeom prst="ellipse">
            <a:avLst/>
          </a:prstGeom>
          <a:solidFill>
            <a:srgbClr val="E9F2FB"/>
          </a:solidFill>
          <a:ln w="8890">
            <a:solidFill>
              <a:srgbClr val="2F6F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Oval 112"/>
          <p:cNvSpPr/>
          <p:nvPr/>
        </p:nvSpPr>
        <p:spPr>
          <a:xfrm>
            <a:off x="6534912" y="1879092"/>
            <a:ext cx="54864" cy="54864"/>
          </a:xfrm>
          <a:prstGeom prst="ellipse">
            <a:avLst/>
          </a:prstGeom>
          <a:solidFill>
            <a:srgbClr val="222222"/>
          </a:solidFill>
          <a:ln w="889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Oval 113"/>
          <p:cNvSpPr/>
          <p:nvPr/>
        </p:nvSpPr>
        <p:spPr>
          <a:xfrm>
            <a:off x="6534912" y="2025396"/>
            <a:ext cx="54864" cy="54864"/>
          </a:xfrm>
          <a:prstGeom prst="ellipse">
            <a:avLst/>
          </a:prstGeom>
          <a:solidFill>
            <a:srgbClr val="222222"/>
          </a:solidFill>
          <a:ln w="889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Oval 114"/>
          <p:cNvSpPr/>
          <p:nvPr/>
        </p:nvSpPr>
        <p:spPr>
          <a:xfrm>
            <a:off x="7476744" y="1879092"/>
            <a:ext cx="54864" cy="54864"/>
          </a:xfrm>
          <a:prstGeom prst="ellipse">
            <a:avLst/>
          </a:prstGeom>
          <a:solidFill>
            <a:srgbClr val="222222"/>
          </a:solidFill>
          <a:ln w="889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Oval 115"/>
          <p:cNvSpPr/>
          <p:nvPr/>
        </p:nvSpPr>
        <p:spPr>
          <a:xfrm>
            <a:off x="7476744" y="2025396"/>
            <a:ext cx="54864" cy="54864"/>
          </a:xfrm>
          <a:prstGeom prst="ellipse">
            <a:avLst/>
          </a:prstGeom>
          <a:solidFill>
            <a:srgbClr val="222222"/>
          </a:solidFill>
          <a:ln w="889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Oval 116"/>
          <p:cNvSpPr/>
          <p:nvPr/>
        </p:nvSpPr>
        <p:spPr>
          <a:xfrm>
            <a:off x="8391144" y="1851660"/>
            <a:ext cx="256032" cy="256032"/>
          </a:xfrm>
          <a:prstGeom prst="ellipse">
            <a:avLst/>
          </a:prstGeom>
          <a:solidFill>
            <a:srgbClr val="E9F5EB"/>
          </a:solidFill>
          <a:ln w="8890">
            <a:solidFill>
              <a:srgbClr val="3A8C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TextBox 117"/>
          <p:cNvSpPr txBox="1"/>
          <p:nvPr/>
        </p:nvSpPr>
        <p:spPr>
          <a:xfrm>
            <a:off x="4954905" y="1479602"/>
            <a:ext cx="749808" cy="175433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patial</a:t>
            </a:r>
            <a:r>
              <a:rPr kumimoji="0" lang="en-US" altLang="zh-CN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state</a:t>
            </a:r>
            <a:r>
              <a:rPr kumimoji="0" lang="zh-CN" altLang="zh-CN" sz="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kumimoji="0" lang="zh-CN" altLang="zh-CN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9" name="TextBox 118"/>
          <p:cNvSpPr txBox="1"/>
          <p:nvPr/>
        </p:nvSpPr>
        <p:spPr>
          <a:xfrm>
            <a:off x="4898136" y="2296126"/>
            <a:ext cx="969264" cy="190821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Temporal state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8226552" y="2308860"/>
            <a:ext cx="749808" cy="1828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9" b="0" dirty="0">
                <a:solidFill>
                  <a:srgbClr val="222222"/>
                </a:solidFill>
                <a:latin typeface="Arial"/>
              </a:rPr>
              <a:t>action </a:t>
            </a:r>
            <a:r>
              <a:rPr sz="819" b="0" dirty="0" err="1">
                <a:solidFill>
                  <a:srgbClr val="222222"/>
                </a:solidFill>
                <a:latin typeface="Arial"/>
              </a:rPr>
              <a:t>a_t</a:t>
            </a:r>
            <a:endParaRPr sz="819" b="0" dirty="0">
              <a:solidFill>
                <a:srgbClr val="222222"/>
              </a:solidFill>
              <a:latin typeface="Arial"/>
            </a:endParaRPr>
          </a:p>
        </p:txBody>
      </p:sp>
      <p:sp>
        <p:nvSpPr>
          <p:cNvPr id="127" name="Right Arrow 126"/>
          <p:cNvSpPr/>
          <p:nvPr/>
        </p:nvSpPr>
        <p:spPr>
          <a:xfrm>
            <a:off x="2590276" y="5537229"/>
            <a:ext cx="274320" cy="71504"/>
          </a:xfrm>
          <a:prstGeom prst="rightArrow">
            <a:avLst/>
          </a:prstGeom>
          <a:solidFill>
            <a:srgbClr val="3A8C4A"/>
          </a:solidFill>
          <a:ln w="6350">
            <a:solidFill>
              <a:srgbClr val="3A8C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AutoShape 4">
            <a:extLst>
              <a:ext uri="{FF2B5EF4-FFF2-40B4-BE49-F238E27FC236}">
                <a16:creationId xmlns:a16="http://schemas.microsoft.com/office/drawing/2014/main" id="{B855AAA3-75E4-4E2F-A544-A8E2D851702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724400" y="3657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147" name="图片 146">
            <a:extLst>
              <a:ext uri="{FF2B5EF4-FFF2-40B4-BE49-F238E27FC236}">
                <a16:creationId xmlns:a16="http://schemas.microsoft.com/office/drawing/2014/main" id="{1E0300BB-C96C-4F09-ACB1-22CF9986D7F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567"/>
          <a:stretch/>
        </p:blipFill>
        <p:spPr>
          <a:xfrm>
            <a:off x="830112" y="4916197"/>
            <a:ext cx="1641521" cy="133193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49" name="图片 148">
            <a:extLst>
              <a:ext uri="{FF2B5EF4-FFF2-40B4-BE49-F238E27FC236}">
                <a16:creationId xmlns:a16="http://schemas.microsoft.com/office/drawing/2014/main" id="{EE130DF0-D2EC-4DBF-BD37-96596DDD782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2569" b="19911"/>
          <a:stretch/>
        </p:blipFill>
        <p:spPr>
          <a:xfrm>
            <a:off x="472440" y="1348240"/>
            <a:ext cx="2395726" cy="1645921"/>
          </a:xfrm>
          <a:prstGeom prst="rect">
            <a:avLst/>
          </a:prstGeom>
          <a:effectLst>
            <a:glow rad="101600">
              <a:schemeClr val="bg1">
                <a:lumMod val="75000"/>
                <a:alpha val="60000"/>
              </a:schemeClr>
            </a:glow>
          </a:effectLst>
        </p:spPr>
      </p:pic>
      <p:pic>
        <p:nvPicPr>
          <p:cNvPr id="153" name="图片 152">
            <a:extLst>
              <a:ext uri="{FF2B5EF4-FFF2-40B4-BE49-F238E27FC236}">
                <a16:creationId xmlns:a16="http://schemas.microsoft.com/office/drawing/2014/main" id="{695B7BBB-B300-4EA5-8C51-2C72218BAB2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3375" b="5500"/>
          <a:stretch/>
        </p:blipFill>
        <p:spPr>
          <a:xfrm>
            <a:off x="5757672" y="4663589"/>
            <a:ext cx="2303598" cy="2252936"/>
          </a:xfrm>
          <a:prstGeom prst="rect">
            <a:avLst/>
          </a:prstGeom>
        </p:spPr>
      </p:pic>
      <p:sp>
        <p:nvSpPr>
          <p:cNvPr id="154" name="TextBox 62">
            <a:extLst>
              <a:ext uri="{FF2B5EF4-FFF2-40B4-BE49-F238E27FC236}">
                <a16:creationId xmlns:a16="http://schemas.microsoft.com/office/drawing/2014/main" id="{FA42DF31-D46F-4A6E-82E9-323FD69D57C0}"/>
              </a:ext>
            </a:extLst>
          </p:cNvPr>
          <p:cNvSpPr txBox="1"/>
          <p:nvPr/>
        </p:nvSpPr>
        <p:spPr>
          <a:xfrm>
            <a:off x="7993035" y="4658936"/>
            <a:ext cx="1078992" cy="1923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010" b="1" dirty="0">
                <a:solidFill>
                  <a:srgbClr val="222222"/>
                </a:solidFill>
                <a:latin typeface="Arial"/>
              </a:rPr>
              <a:t>C</a:t>
            </a:r>
            <a:r>
              <a:rPr lang="en-US" altLang="zh-CN" sz="1010" b="1" dirty="0">
                <a:solidFill>
                  <a:srgbClr val="222222"/>
                </a:solidFill>
                <a:latin typeface="Arial"/>
              </a:rPr>
              <a:t>amera</a:t>
            </a:r>
            <a:endParaRPr sz="1010" b="1" dirty="0">
              <a:solidFill>
                <a:srgbClr val="222222"/>
              </a:solidFill>
              <a:latin typeface="Arial"/>
            </a:endParaRPr>
          </a:p>
        </p:txBody>
      </p:sp>
      <p:sp>
        <p:nvSpPr>
          <p:cNvPr id="155" name="梯形 154">
            <a:extLst>
              <a:ext uri="{FF2B5EF4-FFF2-40B4-BE49-F238E27FC236}">
                <a16:creationId xmlns:a16="http://schemas.microsoft.com/office/drawing/2014/main" id="{70BE3D1F-40B5-4DD0-B0D2-04D73FEE2421}"/>
              </a:ext>
            </a:extLst>
          </p:cNvPr>
          <p:cNvSpPr/>
          <p:nvPr/>
        </p:nvSpPr>
        <p:spPr>
          <a:xfrm rot="-120000">
            <a:off x="6623089" y="6262385"/>
            <a:ext cx="1363550" cy="390366"/>
          </a:xfrm>
          <a:prstGeom prst="trapezoid">
            <a:avLst>
              <a:gd name="adj" fmla="val 68103"/>
            </a:avLst>
          </a:prstGeom>
          <a:noFill/>
          <a:ln w="38100">
            <a:solidFill>
              <a:srgbClr val="A76257"/>
            </a:solidFill>
            <a:prstDash val="lg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56" name="TextBox 62">
            <a:extLst>
              <a:ext uri="{FF2B5EF4-FFF2-40B4-BE49-F238E27FC236}">
                <a16:creationId xmlns:a16="http://schemas.microsoft.com/office/drawing/2014/main" id="{07A84A4B-FB1E-43C5-9E5B-829719C11A0B}"/>
              </a:ext>
            </a:extLst>
          </p:cNvPr>
          <p:cNvSpPr txBox="1"/>
          <p:nvPr/>
        </p:nvSpPr>
        <p:spPr>
          <a:xfrm>
            <a:off x="8061270" y="5422816"/>
            <a:ext cx="1078992" cy="34778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010" b="1" dirty="0">
                <a:solidFill>
                  <a:srgbClr val="222222"/>
                </a:solidFill>
                <a:latin typeface="Arial"/>
              </a:rPr>
              <a:t>W</a:t>
            </a:r>
            <a:r>
              <a:rPr lang="en-US" altLang="zh-CN" sz="1010" b="1" dirty="0">
                <a:solidFill>
                  <a:srgbClr val="222222"/>
                </a:solidFill>
                <a:latin typeface="Arial"/>
              </a:rPr>
              <a:t>orkspace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altLang="en-US" sz="1010" b="1" dirty="0">
                <a:solidFill>
                  <a:srgbClr val="222222"/>
                </a:solidFill>
                <a:latin typeface="Arial"/>
              </a:rPr>
              <a:t>（</a:t>
            </a:r>
            <a:r>
              <a:rPr lang="en-US" altLang="zh-CN" sz="1010" b="1" dirty="0">
                <a:solidFill>
                  <a:srgbClr val="222222"/>
                </a:solidFill>
                <a:latin typeface="Arial"/>
              </a:rPr>
              <a:t>80x50cm</a:t>
            </a:r>
            <a:r>
              <a:rPr lang="zh-CN" altLang="en-US" sz="1010" b="1" dirty="0">
                <a:solidFill>
                  <a:srgbClr val="222222"/>
                </a:solidFill>
                <a:latin typeface="Arial"/>
              </a:rPr>
              <a:t>）</a:t>
            </a:r>
            <a:endParaRPr sz="1010" b="1" dirty="0">
              <a:solidFill>
                <a:srgbClr val="222222"/>
              </a:solidFill>
              <a:latin typeface="Arial"/>
            </a:endParaRPr>
          </a:p>
        </p:txBody>
      </p:sp>
      <p:sp>
        <p:nvSpPr>
          <p:cNvPr id="157" name="TextBox 62">
            <a:extLst>
              <a:ext uri="{FF2B5EF4-FFF2-40B4-BE49-F238E27FC236}">
                <a16:creationId xmlns:a16="http://schemas.microsoft.com/office/drawing/2014/main" id="{FABC5894-F079-48E8-97C7-1A09020A8F62}"/>
              </a:ext>
            </a:extLst>
          </p:cNvPr>
          <p:cNvSpPr txBox="1"/>
          <p:nvPr/>
        </p:nvSpPr>
        <p:spPr>
          <a:xfrm>
            <a:off x="4665605" y="6391913"/>
            <a:ext cx="1334679" cy="1923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010" b="1" dirty="0">
                <a:solidFill>
                  <a:srgbClr val="222222"/>
                </a:solidFill>
                <a:latin typeface="Arial"/>
              </a:rPr>
              <a:t>R</a:t>
            </a:r>
            <a:r>
              <a:rPr lang="en-US" altLang="zh-CN" sz="1010" b="1" dirty="0">
                <a:solidFill>
                  <a:srgbClr val="222222"/>
                </a:solidFill>
                <a:latin typeface="Arial"/>
              </a:rPr>
              <a:t>obotic Arm</a:t>
            </a:r>
            <a:endParaRPr sz="1010" b="1" dirty="0">
              <a:solidFill>
                <a:srgbClr val="222222"/>
              </a:solidFill>
              <a:latin typeface="Arial"/>
            </a:endParaRPr>
          </a:p>
        </p:txBody>
      </p:sp>
      <p:sp>
        <p:nvSpPr>
          <p:cNvPr id="158" name="TextBox 62">
            <a:extLst>
              <a:ext uri="{FF2B5EF4-FFF2-40B4-BE49-F238E27FC236}">
                <a16:creationId xmlns:a16="http://schemas.microsoft.com/office/drawing/2014/main" id="{3ABB0537-963C-4655-B30A-64F7694BC7F5}"/>
              </a:ext>
            </a:extLst>
          </p:cNvPr>
          <p:cNvSpPr txBox="1"/>
          <p:nvPr/>
        </p:nvSpPr>
        <p:spPr>
          <a:xfrm>
            <a:off x="4788408" y="5382139"/>
            <a:ext cx="1078992" cy="1923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010" b="1" dirty="0">
                <a:solidFill>
                  <a:srgbClr val="222222"/>
                </a:solidFill>
                <a:latin typeface="Arial"/>
              </a:rPr>
              <a:t>C</a:t>
            </a:r>
            <a:r>
              <a:rPr lang="en-US" altLang="zh-CN" sz="1010" b="1" dirty="0">
                <a:solidFill>
                  <a:srgbClr val="222222"/>
                </a:solidFill>
                <a:latin typeface="Arial"/>
              </a:rPr>
              <a:t>ontroller</a:t>
            </a:r>
            <a:endParaRPr sz="1010" b="1" dirty="0">
              <a:solidFill>
                <a:srgbClr val="222222"/>
              </a:solidFill>
              <a:latin typeface="Arial"/>
            </a:endParaRPr>
          </a:p>
        </p:txBody>
      </p:sp>
      <p:cxnSp>
        <p:nvCxnSpPr>
          <p:cNvPr id="160" name="直接箭头连接符 159">
            <a:extLst>
              <a:ext uri="{FF2B5EF4-FFF2-40B4-BE49-F238E27FC236}">
                <a16:creationId xmlns:a16="http://schemas.microsoft.com/office/drawing/2014/main" id="{F402F65C-F6DB-42ED-B1C4-7BE135FE1151}"/>
              </a:ext>
            </a:extLst>
          </p:cNvPr>
          <p:cNvCxnSpPr>
            <a:cxnSpLocks/>
          </p:cNvCxnSpPr>
          <p:nvPr/>
        </p:nvCxnSpPr>
        <p:spPr>
          <a:xfrm>
            <a:off x="5661660" y="5507507"/>
            <a:ext cx="1019556" cy="529438"/>
          </a:xfrm>
          <a:prstGeom prst="straightConnector1">
            <a:avLst/>
          </a:prstGeom>
          <a:ln w="41275">
            <a:solidFill>
              <a:srgbClr val="C00000"/>
            </a:solidFill>
            <a:tailEnd type="stealt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62" name="直接箭头连接符 161">
            <a:extLst>
              <a:ext uri="{FF2B5EF4-FFF2-40B4-BE49-F238E27FC236}">
                <a16:creationId xmlns:a16="http://schemas.microsoft.com/office/drawing/2014/main" id="{02777E30-05CB-43FB-A694-70A6A30AE1E6}"/>
              </a:ext>
            </a:extLst>
          </p:cNvPr>
          <p:cNvCxnSpPr>
            <a:cxnSpLocks/>
          </p:cNvCxnSpPr>
          <p:nvPr/>
        </p:nvCxnSpPr>
        <p:spPr>
          <a:xfrm flipH="1">
            <a:off x="7304864" y="4793818"/>
            <a:ext cx="869109" cy="57478"/>
          </a:xfrm>
          <a:prstGeom prst="straightConnector1">
            <a:avLst/>
          </a:prstGeom>
          <a:ln w="41275">
            <a:solidFill>
              <a:srgbClr val="C00000"/>
            </a:solidFill>
            <a:tailEnd type="stealt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64" name="直接箭头连接符 163">
            <a:extLst>
              <a:ext uri="{FF2B5EF4-FFF2-40B4-BE49-F238E27FC236}">
                <a16:creationId xmlns:a16="http://schemas.microsoft.com/office/drawing/2014/main" id="{C22AD6F6-37CA-4B5F-AD63-256BD5B5E3E1}"/>
              </a:ext>
            </a:extLst>
          </p:cNvPr>
          <p:cNvCxnSpPr>
            <a:cxnSpLocks/>
          </p:cNvCxnSpPr>
          <p:nvPr/>
        </p:nvCxnSpPr>
        <p:spPr>
          <a:xfrm flipH="1">
            <a:off x="7668307" y="5611729"/>
            <a:ext cx="556566" cy="611962"/>
          </a:xfrm>
          <a:prstGeom prst="straightConnector1">
            <a:avLst/>
          </a:prstGeom>
          <a:ln w="41275">
            <a:solidFill>
              <a:srgbClr val="C00000"/>
            </a:solidFill>
            <a:tailEnd type="stealt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66" name="直接箭头连接符 165">
            <a:extLst>
              <a:ext uri="{FF2B5EF4-FFF2-40B4-BE49-F238E27FC236}">
                <a16:creationId xmlns:a16="http://schemas.microsoft.com/office/drawing/2014/main" id="{D0DEF4EF-36A7-4D58-8CCE-FB3DF292FC35}"/>
              </a:ext>
            </a:extLst>
          </p:cNvPr>
          <p:cNvCxnSpPr>
            <a:cxnSpLocks/>
          </p:cNvCxnSpPr>
          <p:nvPr/>
        </p:nvCxnSpPr>
        <p:spPr>
          <a:xfrm flipH="1">
            <a:off x="7311692" y="6384971"/>
            <a:ext cx="942292" cy="41446"/>
          </a:xfrm>
          <a:prstGeom prst="straightConnector1">
            <a:avLst/>
          </a:prstGeom>
          <a:ln w="41275">
            <a:solidFill>
              <a:srgbClr val="C00000"/>
            </a:solidFill>
            <a:tailEnd type="stealt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pic>
        <p:nvPicPr>
          <p:cNvPr id="169" name="图片 168">
            <a:extLst>
              <a:ext uri="{FF2B5EF4-FFF2-40B4-BE49-F238E27FC236}">
                <a16:creationId xmlns:a16="http://schemas.microsoft.com/office/drawing/2014/main" id="{C2E170DA-E9FF-46C0-8BD5-8B8B8EB890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8816" y="6244194"/>
            <a:ext cx="673974" cy="522911"/>
          </a:xfrm>
          <a:prstGeom prst="rect">
            <a:avLst/>
          </a:prstGeom>
        </p:spPr>
      </p:pic>
      <p:sp>
        <p:nvSpPr>
          <p:cNvPr id="170" name="TextBox 62">
            <a:extLst>
              <a:ext uri="{FF2B5EF4-FFF2-40B4-BE49-F238E27FC236}">
                <a16:creationId xmlns:a16="http://schemas.microsoft.com/office/drawing/2014/main" id="{EAAD4515-8E28-4631-A3EC-010262D8EC35}"/>
              </a:ext>
            </a:extLst>
          </p:cNvPr>
          <p:cNvSpPr txBox="1"/>
          <p:nvPr/>
        </p:nvSpPr>
        <p:spPr>
          <a:xfrm>
            <a:off x="8061960" y="6747417"/>
            <a:ext cx="1078992" cy="1923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altLang="zh-CN" sz="1010" b="1" dirty="0">
                <a:solidFill>
                  <a:srgbClr val="222222"/>
                </a:solidFill>
                <a:latin typeface="Arial"/>
              </a:rPr>
              <a:t>microrobot</a:t>
            </a:r>
            <a:endParaRPr sz="1010" b="1" dirty="0">
              <a:solidFill>
                <a:srgbClr val="222222"/>
              </a:solidFill>
              <a:latin typeface="Arial"/>
            </a:endParaRPr>
          </a:p>
        </p:txBody>
      </p:sp>
      <p:pic>
        <p:nvPicPr>
          <p:cNvPr id="178" name="图片 177">
            <a:extLst>
              <a:ext uri="{FF2B5EF4-FFF2-40B4-BE49-F238E27FC236}">
                <a16:creationId xmlns:a16="http://schemas.microsoft.com/office/drawing/2014/main" id="{B8745DF7-8BEB-4EE8-A954-D3F779D8C023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5607"/>
          <a:stretch/>
        </p:blipFill>
        <p:spPr>
          <a:xfrm>
            <a:off x="304869" y="5353405"/>
            <a:ext cx="1641522" cy="132821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82" name="右中括号 181">
            <a:extLst>
              <a:ext uri="{FF2B5EF4-FFF2-40B4-BE49-F238E27FC236}">
                <a16:creationId xmlns:a16="http://schemas.microsoft.com/office/drawing/2014/main" id="{297C3882-2B95-4369-821B-934FF4BCB207}"/>
              </a:ext>
            </a:extLst>
          </p:cNvPr>
          <p:cNvSpPr/>
          <p:nvPr/>
        </p:nvSpPr>
        <p:spPr>
          <a:xfrm rot="3060175">
            <a:off x="2228482" y="6247576"/>
            <a:ext cx="78592" cy="596116"/>
          </a:xfrm>
          <a:prstGeom prst="rightBracket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4" name="Right Arrow 128">
            <a:extLst>
              <a:ext uri="{FF2B5EF4-FFF2-40B4-BE49-F238E27FC236}">
                <a16:creationId xmlns:a16="http://schemas.microsoft.com/office/drawing/2014/main" id="{BBA68BBE-C84C-40AA-B43A-5BEA2ACA2AEA}"/>
              </a:ext>
            </a:extLst>
          </p:cNvPr>
          <p:cNvSpPr/>
          <p:nvPr/>
        </p:nvSpPr>
        <p:spPr>
          <a:xfrm>
            <a:off x="2587397" y="6571893"/>
            <a:ext cx="274320" cy="109728"/>
          </a:xfrm>
          <a:prstGeom prst="rightArrow">
            <a:avLst/>
          </a:prstGeom>
          <a:solidFill>
            <a:srgbClr val="2F6FA7"/>
          </a:solidFill>
          <a:ln w="6350">
            <a:solidFill>
              <a:srgbClr val="2F6F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5" name="Rectangle 8">
            <a:extLst>
              <a:ext uri="{FF2B5EF4-FFF2-40B4-BE49-F238E27FC236}">
                <a16:creationId xmlns:a16="http://schemas.microsoft.com/office/drawing/2014/main" id="{22CC2423-321B-4665-8701-B188494E62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33482" y="6092886"/>
            <a:ext cx="1177655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Temporal state</a:t>
            </a:r>
            <a:r>
              <a:rPr kumimoji="0" lang="zh-CN" altLang="zh-CN" sz="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kumimoji="0" lang="zh-CN" altLang="zh-CN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9" name="Rounded Rectangle 129">
            <a:extLst>
              <a:ext uri="{FF2B5EF4-FFF2-40B4-BE49-F238E27FC236}">
                <a16:creationId xmlns:a16="http://schemas.microsoft.com/office/drawing/2014/main" id="{CA7C7D29-AB48-47C7-AA06-1C1276271E09}"/>
              </a:ext>
            </a:extLst>
          </p:cNvPr>
          <p:cNvSpPr/>
          <p:nvPr/>
        </p:nvSpPr>
        <p:spPr>
          <a:xfrm>
            <a:off x="5823295" y="3032726"/>
            <a:ext cx="648708" cy="330921"/>
          </a:xfrm>
          <a:prstGeom prst="roundRect">
            <a:avLst/>
          </a:prstGeom>
          <a:solidFill>
            <a:srgbClr val="E9F2FB"/>
          </a:solidFill>
          <a:ln w="15875">
            <a:solidFill>
              <a:srgbClr val="2F6F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700" b="1" dirty="0">
                <a:solidFill>
                  <a:srgbClr val="222222"/>
                </a:solidFill>
                <a:latin typeface="Arial"/>
              </a:rPr>
              <a:t>PPO update</a:t>
            </a:r>
            <a:endParaRPr sz="700" b="1" dirty="0">
              <a:solidFill>
                <a:srgbClr val="222222"/>
              </a:solidFill>
              <a:latin typeface="Arial"/>
            </a:endParaRPr>
          </a:p>
        </p:txBody>
      </p:sp>
      <p:sp>
        <p:nvSpPr>
          <p:cNvPr id="194" name="Rounded Rectangle 129">
            <a:extLst>
              <a:ext uri="{FF2B5EF4-FFF2-40B4-BE49-F238E27FC236}">
                <a16:creationId xmlns:a16="http://schemas.microsoft.com/office/drawing/2014/main" id="{2C075285-0140-4518-AE71-78A240FF1B4E}"/>
              </a:ext>
            </a:extLst>
          </p:cNvPr>
          <p:cNvSpPr/>
          <p:nvPr/>
        </p:nvSpPr>
        <p:spPr>
          <a:xfrm>
            <a:off x="6852364" y="3031834"/>
            <a:ext cx="648708" cy="330921"/>
          </a:xfrm>
          <a:prstGeom prst="roundRect">
            <a:avLst/>
          </a:prstGeom>
          <a:solidFill>
            <a:srgbClr val="E9F2FB"/>
          </a:solidFill>
          <a:ln w="15875">
            <a:solidFill>
              <a:srgbClr val="2F6F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rollout data </a:t>
            </a:r>
            <a:endParaRPr kumimoji="0" lang="zh-CN" altLang="zh-CN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95" name="Right Arrow 128">
            <a:extLst>
              <a:ext uri="{FF2B5EF4-FFF2-40B4-BE49-F238E27FC236}">
                <a16:creationId xmlns:a16="http://schemas.microsoft.com/office/drawing/2014/main" id="{54A73766-646E-45DB-991E-8ACE8B9E0AE5}"/>
              </a:ext>
            </a:extLst>
          </p:cNvPr>
          <p:cNvSpPr/>
          <p:nvPr/>
        </p:nvSpPr>
        <p:spPr>
          <a:xfrm rot="5400000" flipH="1">
            <a:off x="5954714" y="2773246"/>
            <a:ext cx="321039" cy="113933"/>
          </a:xfrm>
          <a:prstGeom prst="rightArrow">
            <a:avLst/>
          </a:prstGeom>
          <a:solidFill>
            <a:srgbClr val="2F6FA7"/>
          </a:solidFill>
          <a:ln w="6350">
            <a:solidFill>
              <a:srgbClr val="2F6F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7" name="Right Arrow 128">
            <a:extLst>
              <a:ext uri="{FF2B5EF4-FFF2-40B4-BE49-F238E27FC236}">
                <a16:creationId xmlns:a16="http://schemas.microsoft.com/office/drawing/2014/main" id="{70949C26-DFE3-4CB7-9785-5DA5E157D7AE}"/>
              </a:ext>
            </a:extLst>
          </p:cNvPr>
          <p:cNvSpPr/>
          <p:nvPr/>
        </p:nvSpPr>
        <p:spPr>
          <a:xfrm flipH="1">
            <a:off x="6489608" y="3140327"/>
            <a:ext cx="321039" cy="113933"/>
          </a:xfrm>
          <a:prstGeom prst="rightArrow">
            <a:avLst/>
          </a:prstGeom>
          <a:solidFill>
            <a:srgbClr val="2F6FA7"/>
          </a:solidFill>
          <a:ln w="6350">
            <a:solidFill>
              <a:srgbClr val="2F6F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99" name="连接符: 肘形 198">
            <a:extLst>
              <a:ext uri="{FF2B5EF4-FFF2-40B4-BE49-F238E27FC236}">
                <a16:creationId xmlns:a16="http://schemas.microsoft.com/office/drawing/2014/main" id="{0F547F6F-80F8-4146-8C85-3BA575ED7CD5}"/>
              </a:ext>
            </a:extLst>
          </p:cNvPr>
          <p:cNvCxnSpPr>
            <a:cxnSpLocks/>
            <a:stCxn id="120" idx="2"/>
            <a:endCxn id="194" idx="3"/>
          </p:cNvCxnSpPr>
          <p:nvPr/>
        </p:nvCxnSpPr>
        <p:spPr>
          <a:xfrm rot="5400000">
            <a:off x="7698487" y="2294325"/>
            <a:ext cx="705555" cy="1100384"/>
          </a:xfrm>
          <a:prstGeom prst="bentConnector2">
            <a:avLst/>
          </a:prstGeom>
          <a:ln w="444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2" name="TextBox 20">
            <a:extLst>
              <a:ext uri="{FF2B5EF4-FFF2-40B4-BE49-F238E27FC236}">
                <a16:creationId xmlns:a16="http://schemas.microsoft.com/office/drawing/2014/main" id="{AAD48491-179A-4C83-B4FB-0A5D0D0A8BD7}"/>
              </a:ext>
            </a:extLst>
          </p:cNvPr>
          <p:cNvSpPr txBox="1"/>
          <p:nvPr/>
        </p:nvSpPr>
        <p:spPr>
          <a:xfrm>
            <a:off x="7710984" y="3000636"/>
            <a:ext cx="693265" cy="16773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850" b="0" dirty="0">
                <a:solidFill>
                  <a:srgbClr val="2F6FA7"/>
                </a:solidFill>
                <a:latin typeface="Arial"/>
              </a:rPr>
              <a:t>(</a:t>
            </a:r>
            <a:r>
              <a:rPr lang="en-US" sz="850" dirty="0" err="1">
                <a:solidFill>
                  <a:srgbClr val="2F6FA7"/>
                </a:solidFill>
                <a:latin typeface="Arial"/>
              </a:rPr>
              <a:t>o</a:t>
            </a:r>
            <a:r>
              <a:rPr sz="850" b="0" dirty="0" err="1">
                <a:solidFill>
                  <a:srgbClr val="2F6FA7"/>
                </a:solidFill>
                <a:latin typeface="Arial"/>
              </a:rPr>
              <a:t>_t</a:t>
            </a:r>
            <a:r>
              <a:rPr sz="850" b="0" dirty="0">
                <a:solidFill>
                  <a:srgbClr val="2F6FA7"/>
                </a:solidFill>
                <a:latin typeface="Arial"/>
              </a:rPr>
              <a:t>, </a:t>
            </a:r>
            <a:r>
              <a:rPr sz="850" b="0" dirty="0" err="1">
                <a:solidFill>
                  <a:srgbClr val="2F6FA7"/>
                </a:solidFill>
                <a:latin typeface="Arial"/>
              </a:rPr>
              <a:t>r_t</a:t>
            </a:r>
            <a:r>
              <a:rPr lang="en-US" sz="850" b="0" dirty="0">
                <a:solidFill>
                  <a:srgbClr val="2F6FA7"/>
                </a:solidFill>
                <a:latin typeface="Arial"/>
              </a:rPr>
              <a:t>,</a:t>
            </a:r>
            <a:r>
              <a:rPr lang="en-US" sz="850" dirty="0">
                <a:solidFill>
                  <a:srgbClr val="2F6FA7"/>
                </a:solidFill>
                <a:latin typeface="Arial"/>
              </a:rPr>
              <a:t> </a:t>
            </a:r>
            <a:r>
              <a:rPr lang="en-US" altLang="zh-CN" sz="850" dirty="0" err="1">
                <a:solidFill>
                  <a:srgbClr val="2F6FA7"/>
                </a:solidFill>
                <a:latin typeface="Arial"/>
              </a:rPr>
              <a:t>a_t</a:t>
            </a:r>
            <a:r>
              <a:rPr lang="en-US" altLang="zh-CN" sz="850" dirty="0">
                <a:solidFill>
                  <a:srgbClr val="2F6FA7"/>
                </a:solidFill>
                <a:latin typeface="Arial"/>
              </a:rPr>
              <a:t>)</a:t>
            </a:r>
            <a:endParaRPr sz="850" b="0" dirty="0">
              <a:solidFill>
                <a:srgbClr val="2F6FA7"/>
              </a:solidFill>
              <a:latin typeface="Arial"/>
            </a:endParaRPr>
          </a:p>
        </p:txBody>
      </p:sp>
      <p:sp>
        <p:nvSpPr>
          <p:cNvPr id="204" name="TextBox 61">
            <a:extLst>
              <a:ext uri="{FF2B5EF4-FFF2-40B4-BE49-F238E27FC236}">
                <a16:creationId xmlns:a16="http://schemas.microsoft.com/office/drawing/2014/main" id="{C8C7DEF0-DA9E-477A-807D-10DC2521336A}"/>
              </a:ext>
            </a:extLst>
          </p:cNvPr>
          <p:cNvSpPr txBox="1"/>
          <p:nvPr/>
        </p:nvSpPr>
        <p:spPr>
          <a:xfrm>
            <a:off x="3046491" y="1050672"/>
            <a:ext cx="902765" cy="221599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200" b="1" dirty="0">
                <a:solidFill>
                  <a:schemeClr val="accent1">
                    <a:lumMod val="75000"/>
                  </a:schemeClr>
                </a:solidFill>
                <a:latin typeface="Arial"/>
              </a:rPr>
              <a:t>Task</a:t>
            </a:r>
            <a:endParaRPr sz="1200" b="1" dirty="0">
              <a:solidFill>
                <a:schemeClr val="accent1">
                  <a:lumMod val="75000"/>
                </a:schemeClr>
              </a:solidFill>
              <a:latin typeface="Arial"/>
            </a:endParaRPr>
          </a:p>
        </p:txBody>
      </p:sp>
      <p:sp>
        <p:nvSpPr>
          <p:cNvPr id="205" name="TextBox 61">
            <a:extLst>
              <a:ext uri="{FF2B5EF4-FFF2-40B4-BE49-F238E27FC236}">
                <a16:creationId xmlns:a16="http://schemas.microsoft.com/office/drawing/2014/main" id="{742BDE8D-A3BC-47D7-AC01-15D79E0C8477}"/>
              </a:ext>
            </a:extLst>
          </p:cNvPr>
          <p:cNvSpPr txBox="1"/>
          <p:nvPr/>
        </p:nvSpPr>
        <p:spPr>
          <a:xfrm>
            <a:off x="2932557" y="1331335"/>
            <a:ext cx="1219581" cy="360099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altLang="zh-CN" sz="1050" dirty="0">
                <a:latin typeface="Arial" panose="020B0604020202020204" pitchFamily="34" charset="0"/>
                <a:cs typeface="Arial" panose="020B0604020202020204" pitchFamily="34" charset="0"/>
              </a:rPr>
              <a:t>• Pursuit-evasion interaction</a:t>
            </a:r>
            <a:endParaRPr sz="1010" b="1" dirty="0">
              <a:solidFill>
                <a:srgbClr val="22222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6" name="TextBox 61">
            <a:extLst>
              <a:ext uri="{FF2B5EF4-FFF2-40B4-BE49-F238E27FC236}">
                <a16:creationId xmlns:a16="http://schemas.microsoft.com/office/drawing/2014/main" id="{ED12FC04-1108-40A9-8769-37BB559FF99E}"/>
              </a:ext>
            </a:extLst>
          </p:cNvPr>
          <p:cNvSpPr txBox="1"/>
          <p:nvPr/>
        </p:nvSpPr>
        <p:spPr>
          <a:xfrm>
            <a:off x="3046491" y="1754957"/>
            <a:ext cx="1017255" cy="221599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altLang="zh-CN" sz="12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Environment</a:t>
            </a:r>
          </a:p>
        </p:txBody>
      </p:sp>
      <p:sp>
        <p:nvSpPr>
          <p:cNvPr id="207" name="TextBox 61">
            <a:extLst>
              <a:ext uri="{FF2B5EF4-FFF2-40B4-BE49-F238E27FC236}">
                <a16:creationId xmlns:a16="http://schemas.microsoft.com/office/drawing/2014/main" id="{AD747629-B210-4A78-9795-D4BE4464E802}"/>
              </a:ext>
            </a:extLst>
          </p:cNvPr>
          <p:cNvSpPr txBox="1"/>
          <p:nvPr/>
        </p:nvSpPr>
        <p:spPr>
          <a:xfrm>
            <a:off x="3037332" y="1995115"/>
            <a:ext cx="1219581" cy="521681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altLang="zh-CN" sz="1050" dirty="0"/>
              <a:t>• Virtual hand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altLang="zh-CN" sz="1050" dirty="0"/>
              <a:t>• Microrobot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altLang="zh-CN" sz="1050" dirty="0"/>
              <a:t>• Workspace</a:t>
            </a:r>
            <a:endParaRPr sz="1010" b="1" dirty="0">
              <a:solidFill>
                <a:srgbClr val="222222"/>
              </a:solidFill>
              <a:latin typeface="Arial"/>
            </a:endParaRPr>
          </a:p>
        </p:txBody>
      </p:sp>
      <p:sp>
        <p:nvSpPr>
          <p:cNvPr id="208" name="TextBox 61">
            <a:extLst>
              <a:ext uri="{FF2B5EF4-FFF2-40B4-BE49-F238E27FC236}">
                <a16:creationId xmlns:a16="http://schemas.microsoft.com/office/drawing/2014/main" id="{4FC29737-750A-42DD-A350-0AC9A151308B}"/>
              </a:ext>
            </a:extLst>
          </p:cNvPr>
          <p:cNvSpPr txBox="1"/>
          <p:nvPr/>
        </p:nvSpPr>
        <p:spPr>
          <a:xfrm>
            <a:off x="3046491" y="2588535"/>
            <a:ext cx="910389" cy="221599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2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Action</a:t>
            </a:r>
            <a:endParaRPr sz="1200" b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1" name="TextBox 61">
            <a:extLst>
              <a:ext uri="{FF2B5EF4-FFF2-40B4-BE49-F238E27FC236}">
                <a16:creationId xmlns:a16="http://schemas.microsoft.com/office/drawing/2014/main" id="{1036EB8E-9D11-427B-BAE5-CE56E4C57B02}"/>
              </a:ext>
            </a:extLst>
          </p:cNvPr>
          <p:cNvSpPr txBox="1"/>
          <p:nvPr/>
        </p:nvSpPr>
        <p:spPr>
          <a:xfrm>
            <a:off x="2922856" y="2874623"/>
            <a:ext cx="1219581" cy="360099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altLang="zh-CN" sz="1050" dirty="0"/>
              <a:t>• 2D microrobot motion</a:t>
            </a:r>
            <a:endParaRPr sz="1010" b="1" dirty="0">
              <a:solidFill>
                <a:srgbClr val="222222"/>
              </a:solidFill>
              <a:latin typeface="Arial"/>
            </a:endParaRPr>
          </a:p>
        </p:txBody>
      </p:sp>
      <p:sp>
        <p:nvSpPr>
          <p:cNvPr id="212" name="文本框 211">
            <a:extLst>
              <a:ext uri="{FF2B5EF4-FFF2-40B4-BE49-F238E27FC236}">
                <a16:creationId xmlns:a16="http://schemas.microsoft.com/office/drawing/2014/main" id="{E776DD72-CA13-4EFB-8D3C-AD041F234117}"/>
              </a:ext>
            </a:extLst>
          </p:cNvPr>
          <p:cNvSpPr txBox="1"/>
          <p:nvPr/>
        </p:nvSpPr>
        <p:spPr>
          <a:xfrm>
            <a:off x="4273277" y="5513289"/>
            <a:ext cx="5966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dirty="0">
                <a:latin typeface="Arial" panose="020B0604020202020204" pitchFamily="34" charset="0"/>
                <a:cs typeface="Arial" panose="020B0604020202020204" pitchFamily="34" charset="0"/>
              </a:rPr>
              <a:t>images</a:t>
            </a:r>
            <a:endParaRPr lang="zh-CN" alt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3" name="文本框 212">
            <a:extLst>
              <a:ext uri="{FF2B5EF4-FFF2-40B4-BE49-F238E27FC236}">
                <a16:creationId xmlns:a16="http://schemas.microsoft.com/office/drawing/2014/main" id="{A652BDC9-7DD6-4BDC-B1B7-EE9F07395EDA}"/>
              </a:ext>
            </a:extLst>
          </p:cNvPr>
          <p:cNvSpPr txBox="1"/>
          <p:nvPr/>
        </p:nvSpPr>
        <p:spPr>
          <a:xfrm>
            <a:off x="5916285" y="3735737"/>
            <a:ext cx="116410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altLang="zh-CN" sz="1000" dirty="0">
                <a:latin typeface="Arial" panose="020B0604020202020204" pitchFamily="34" charset="0"/>
                <a:cs typeface="Arial" panose="020B0604020202020204" pitchFamily="34" charset="0"/>
              </a:rPr>
              <a:t>motion command</a:t>
            </a:r>
            <a:endParaRPr lang="en-US" altLang="zh-CN" sz="1000" b="0" dirty="0">
              <a:solidFill>
                <a:srgbClr val="CF6F2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4" name="Right Arrow 19">
            <a:extLst>
              <a:ext uri="{FF2B5EF4-FFF2-40B4-BE49-F238E27FC236}">
                <a16:creationId xmlns:a16="http://schemas.microsoft.com/office/drawing/2014/main" id="{54565FA9-F6F0-49B4-A281-C530043F0A08}"/>
              </a:ext>
            </a:extLst>
          </p:cNvPr>
          <p:cNvSpPr/>
          <p:nvPr/>
        </p:nvSpPr>
        <p:spPr>
          <a:xfrm rot="19355415">
            <a:off x="4173394" y="3852490"/>
            <a:ext cx="860342" cy="94499"/>
          </a:xfrm>
          <a:prstGeom prst="rightArrow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217" name="文本框 216">
            <a:extLst>
              <a:ext uri="{FF2B5EF4-FFF2-40B4-BE49-F238E27FC236}">
                <a16:creationId xmlns:a16="http://schemas.microsoft.com/office/drawing/2014/main" id="{7B8A0140-00B8-4194-8240-B7551F163CED}"/>
              </a:ext>
            </a:extLst>
          </p:cNvPr>
          <p:cNvSpPr txBox="1"/>
          <p:nvPr/>
        </p:nvSpPr>
        <p:spPr>
          <a:xfrm rot="20133692">
            <a:off x="4021596" y="3470290"/>
            <a:ext cx="87235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00" dirty="0">
                <a:latin typeface="Arial" panose="020B0604020202020204" pitchFamily="34" charset="0"/>
                <a:cs typeface="Arial" panose="020B0604020202020204" pitchFamily="34" charset="0"/>
              </a:rPr>
              <a:t>Real-time </a:t>
            </a:r>
            <a:endParaRPr lang="en-US" altLang="zh-CN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sz="1000" dirty="0"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lang="zh-CN" altLang="en-US" sz="1000" dirty="0">
                <a:latin typeface="Arial" panose="020B0604020202020204" pitchFamily="34" charset="0"/>
                <a:cs typeface="Arial" panose="020B0604020202020204" pitchFamily="34" charset="0"/>
              </a:rPr>
              <a:t>bservation</a:t>
            </a:r>
          </a:p>
        </p:txBody>
      </p:sp>
      <p:sp>
        <p:nvSpPr>
          <p:cNvPr id="121" name="文本框 120">
            <a:extLst>
              <a:ext uri="{FF2B5EF4-FFF2-40B4-BE49-F238E27FC236}">
                <a16:creationId xmlns:a16="http://schemas.microsoft.com/office/drawing/2014/main" id="{F10F67FB-45FE-4F4C-885F-2C8819434168}"/>
              </a:ext>
            </a:extLst>
          </p:cNvPr>
          <p:cNvSpPr txBox="1"/>
          <p:nvPr/>
        </p:nvSpPr>
        <p:spPr>
          <a:xfrm>
            <a:off x="2983239" y="5114628"/>
            <a:ext cx="1273674" cy="8976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900" dirty="0">
                <a:latin typeface="Arial" panose="020B0604020202020204" pitchFamily="34" charset="0"/>
                <a:cs typeface="Arial" panose="020B0604020202020204" pitchFamily="34" charset="0"/>
              </a:rPr>
              <a:t>• Hand position</a:t>
            </a:r>
            <a:br>
              <a:rPr lang="en-US" altLang="zh-CN" sz="9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zh-CN" sz="900" dirty="0">
                <a:latin typeface="Arial" panose="020B0604020202020204" pitchFamily="34" charset="0"/>
                <a:cs typeface="Arial" panose="020B0604020202020204" pitchFamily="34" charset="0"/>
              </a:rPr>
              <a:t>• Microrobot position</a:t>
            </a:r>
            <a:br>
              <a:rPr lang="en-US" altLang="zh-CN" sz="9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zh-CN" sz="900" dirty="0">
                <a:latin typeface="Arial" panose="020B0604020202020204" pitchFamily="34" charset="0"/>
                <a:cs typeface="Arial" panose="020B0604020202020204" pitchFamily="34" charset="0"/>
              </a:rPr>
              <a:t>• Relative distance</a:t>
            </a:r>
            <a:br>
              <a:rPr lang="en-US" altLang="zh-CN" sz="9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zh-CN" sz="900" dirty="0">
                <a:latin typeface="Arial" panose="020B0604020202020204" pitchFamily="34" charset="0"/>
                <a:cs typeface="Arial" panose="020B0604020202020204" pitchFamily="34" charset="0"/>
              </a:rPr>
              <a:t>• Boundary distances</a:t>
            </a:r>
            <a:endParaRPr lang="zh-CN" alt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2" name="TextBox 61">
            <a:extLst>
              <a:ext uri="{FF2B5EF4-FFF2-40B4-BE49-F238E27FC236}">
                <a16:creationId xmlns:a16="http://schemas.microsoft.com/office/drawing/2014/main" id="{AB81B2AF-F662-4E52-92CE-23AA090A3127}"/>
              </a:ext>
            </a:extLst>
          </p:cNvPr>
          <p:cNvSpPr txBox="1"/>
          <p:nvPr/>
        </p:nvSpPr>
        <p:spPr>
          <a:xfrm>
            <a:off x="2946974" y="4896113"/>
            <a:ext cx="1219581" cy="221599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kumimoji="0" lang="zh-CN" altLang="zh-CN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patial</a:t>
            </a:r>
            <a:r>
              <a:rPr kumimoji="0" lang="en-US" altLang="zh-CN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state</a:t>
            </a:r>
            <a:r>
              <a:rPr kumimoji="0" lang="zh-CN" altLang="zh-CN" sz="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kumimoji="0" lang="zh-CN" altLang="zh-CN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4" name="文本框 123">
            <a:extLst>
              <a:ext uri="{FF2B5EF4-FFF2-40B4-BE49-F238E27FC236}">
                <a16:creationId xmlns:a16="http://schemas.microsoft.com/office/drawing/2014/main" id="{1D79B6C2-7A72-406A-81A2-A44949C7BF40}"/>
              </a:ext>
            </a:extLst>
          </p:cNvPr>
          <p:cNvSpPr txBox="1"/>
          <p:nvPr/>
        </p:nvSpPr>
        <p:spPr>
          <a:xfrm>
            <a:off x="3007946" y="6401344"/>
            <a:ext cx="117765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00">
                <a:latin typeface="Arial" panose="020B0604020202020204" pitchFamily="34" charset="0"/>
                <a:cs typeface="Arial" panose="020B0604020202020204" pitchFamily="34" charset="0"/>
              </a:rPr>
              <a:t>• hand displacements</a:t>
            </a:r>
            <a:endParaRPr lang="zh-CN" alt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5" name="文本框 124">
            <a:extLst>
              <a:ext uri="{FF2B5EF4-FFF2-40B4-BE49-F238E27FC236}">
                <a16:creationId xmlns:a16="http://schemas.microsoft.com/office/drawing/2014/main" id="{8B8E4198-6D33-4231-9B7F-20FF4E1F5D6E}"/>
              </a:ext>
            </a:extLst>
          </p:cNvPr>
          <p:cNvSpPr txBox="1"/>
          <p:nvPr/>
        </p:nvSpPr>
        <p:spPr>
          <a:xfrm>
            <a:off x="2445727" y="5664504"/>
            <a:ext cx="8763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800" b="1" dirty="0">
                <a:latin typeface="Arial" panose="020B0604020202020204" pitchFamily="34" charset="0"/>
                <a:cs typeface="Arial" panose="020B0604020202020204" pitchFamily="34" charset="0"/>
              </a:rPr>
              <a:t>Detection</a:t>
            </a:r>
            <a:endParaRPr lang="zh-CN" altLang="en-US" sz="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6" name="文本框 125">
            <a:extLst>
              <a:ext uri="{FF2B5EF4-FFF2-40B4-BE49-F238E27FC236}">
                <a16:creationId xmlns:a16="http://schemas.microsoft.com/office/drawing/2014/main" id="{948E4B07-5231-4486-A144-E5E235C93BA1}"/>
              </a:ext>
            </a:extLst>
          </p:cNvPr>
          <p:cNvSpPr txBox="1"/>
          <p:nvPr/>
        </p:nvSpPr>
        <p:spPr>
          <a:xfrm>
            <a:off x="2295305" y="6693556"/>
            <a:ext cx="108365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800" b="1" dirty="0">
                <a:latin typeface="Arial" panose="020B0604020202020204" pitchFamily="34" charset="0"/>
                <a:cs typeface="Arial" panose="020B0604020202020204" pitchFamily="34" charset="0"/>
              </a:rPr>
              <a:t>Motion history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3424113" y="2747987"/>
            <a:ext cx="1630233" cy="1742553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666666"/>
            </a:solidFill>
            <a:prstDash val="dash"/>
          </a:ln>
        </p:spPr>
      </p:sp>
      <p:sp>
        <p:nvSpPr>
          <p:cNvPr id="4" name="Text 2"/>
          <p:cNvSpPr/>
          <p:nvPr/>
        </p:nvSpPr>
        <p:spPr>
          <a:xfrm>
            <a:off x="3447887" y="2773920"/>
            <a:ext cx="1591056" cy="185166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1050" b="1" dirty="0">
                <a:latin typeface="Arial" panose="020B0604020202020204" pitchFamily="34" charset="0"/>
                <a:cs typeface="Arial" panose="020B0604020202020204" pitchFamily="34" charset="0"/>
              </a:rPr>
              <a:t>Fusion module</a:t>
            </a:r>
          </a:p>
        </p:txBody>
      </p:sp>
      <p:sp>
        <p:nvSpPr>
          <p:cNvPr id="5" name="Shape 3"/>
          <p:cNvSpPr/>
          <p:nvPr/>
        </p:nvSpPr>
        <p:spPr>
          <a:xfrm>
            <a:off x="5508114" y="1707092"/>
            <a:ext cx="2990088" cy="1624275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0000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5508114" y="1761077"/>
            <a:ext cx="2990088" cy="185166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1050" b="1" dirty="0">
                <a:latin typeface="Arial" panose="020B0604020202020204" pitchFamily="34" charset="0"/>
                <a:cs typeface="Arial" panose="020B0604020202020204" pitchFamily="34" charset="0"/>
              </a:rPr>
              <a:t>Auxiliary task module</a:t>
            </a:r>
          </a:p>
        </p:txBody>
      </p:sp>
      <p:sp>
        <p:nvSpPr>
          <p:cNvPr id="7" name="Shape 5"/>
          <p:cNvSpPr/>
          <p:nvPr/>
        </p:nvSpPr>
        <p:spPr>
          <a:xfrm>
            <a:off x="5527548" y="3456468"/>
            <a:ext cx="2970654" cy="188191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044CC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5527548" y="3496816"/>
            <a:ext cx="2970654" cy="185166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1050" b="1" dirty="0">
                <a:latin typeface="Arial" panose="020B0604020202020204" pitchFamily="34" charset="0"/>
                <a:cs typeface="Arial" panose="020B0604020202020204" pitchFamily="34" charset="0"/>
              </a:rPr>
              <a:t>PPO actor-critic module</a:t>
            </a:r>
          </a:p>
        </p:txBody>
      </p:sp>
      <p:sp>
        <p:nvSpPr>
          <p:cNvPr id="9" name="Text 7"/>
          <p:cNvSpPr/>
          <p:nvPr/>
        </p:nvSpPr>
        <p:spPr>
          <a:xfrm>
            <a:off x="935879" y="1732544"/>
            <a:ext cx="2057400" cy="178308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1050" b="1" dirty="0">
                <a:latin typeface="Arial" panose="020B0604020202020204" pitchFamily="34" charset="0"/>
                <a:ea typeface="Times New Roman" pitchFamily="34" charset="-122"/>
                <a:cs typeface="Arial" panose="020B0604020202020204" pitchFamily="34" charset="0"/>
              </a:rPr>
              <a:t>Spatial state branch</a:t>
            </a:r>
            <a:endParaRPr lang="en-US" sz="1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40664" y="3678174"/>
            <a:ext cx="2228850" cy="178308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1050" b="1" dirty="0">
                <a:latin typeface="Arial" panose="020B0604020202020204" pitchFamily="34" charset="0"/>
                <a:cs typeface="Arial" panose="020B0604020202020204" pitchFamily="34" charset="0"/>
              </a:rPr>
              <a:t>Temporal state branch</a:t>
            </a:r>
          </a:p>
        </p:txBody>
      </p:sp>
      <p:sp>
        <p:nvSpPr>
          <p:cNvPr id="11" name="Shape 9"/>
          <p:cNvSpPr/>
          <p:nvPr/>
        </p:nvSpPr>
        <p:spPr>
          <a:xfrm>
            <a:off x="1034838" y="2633471"/>
            <a:ext cx="872853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1091694" y="2455164"/>
            <a:ext cx="774954" cy="171450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750" dirty="0">
                <a:solidFill>
                  <a:srgbClr val="111111"/>
                </a:solidFill>
                <a:latin typeface="Arial" panose="020B0604020202020204" pitchFamily="34" charset="0"/>
                <a:ea typeface="Times New Roman" pitchFamily="34" charset="-122"/>
                <a:cs typeface="Arial" panose="020B0604020202020204" pitchFamily="34" charset="0"/>
              </a:rPr>
              <a:t>FC</a:t>
            </a:r>
            <a:endParaRPr lang="en-US" sz="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 flipV="1">
            <a:off x="2110015" y="2634614"/>
            <a:ext cx="600294" cy="6858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1024338" y="4618292"/>
            <a:ext cx="212785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2163396" y="4609490"/>
            <a:ext cx="428928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 flipV="1">
            <a:off x="2756228" y="4609645"/>
            <a:ext cx="225039" cy="236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3809400" y="3637026"/>
            <a:ext cx="232184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4229164" y="3640455"/>
            <a:ext cx="518794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27" name="Text 25"/>
          <p:cNvSpPr/>
          <p:nvPr/>
        </p:nvSpPr>
        <p:spPr>
          <a:xfrm>
            <a:off x="4299966" y="3493008"/>
            <a:ext cx="411480" cy="171450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750" dirty="0">
                <a:solidFill>
                  <a:srgbClr val="111111"/>
                </a:solidFill>
                <a:latin typeface="Arial" panose="020B0604020202020204" pitchFamily="34" charset="0"/>
                <a:ea typeface="Times New Roman" pitchFamily="34" charset="-122"/>
                <a:cs typeface="Arial" panose="020B0604020202020204" pitchFamily="34" charset="0"/>
              </a:rPr>
              <a:t>FC</a:t>
            </a:r>
            <a:endParaRPr lang="en-US" sz="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4898038" y="3640455"/>
            <a:ext cx="348332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246370" y="3640455"/>
            <a:ext cx="0" cy="476631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246370" y="4117086"/>
            <a:ext cx="624078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37" name="Text 35"/>
          <p:cNvSpPr/>
          <p:nvPr/>
        </p:nvSpPr>
        <p:spPr>
          <a:xfrm>
            <a:off x="5396567" y="2427009"/>
            <a:ext cx="589788" cy="171450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750" dirty="0">
                <a:solidFill>
                  <a:srgbClr val="111111"/>
                </a:solidFill>
                <a:latin typeface="Arial" panose="020B0604020202020204" pitchFamily="34" charset="0"/>
                <a:ea typeface="Times New Roman" pitchFamily="34" charset="-122"/>
                <a:cs typeface="Arial" panose="020B0604020202020204" pitchFamily="34" charset="0"/>
              </a:rPr>
              <a:t>FC</a:t>
            </a:r>
            <a:endParaRPr lang="en-US" sz="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Shape 36"/>
          <p:cNvSpPr/>
          <p:nvPr/>
        </p:nvSpPr>
        <p:spPr>
          <a:xfrm flipV="1">
            <a:off x="6078689" y="2602382"/>
            <a:ext cx="500817" cy="8265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39" name="Text 37"/>
          <p:cNvSpPr/>
          <p:nvPr/>
        </p:nvSpPr>
        <p:spPr>
          <a:xfrm>
            <a:off x="6015293" y="2430932"/>
            <a:ext cx="624078" cy="171450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750" dirty="0">
                <a:solidFill>
                  <a:srgbClr val="111111"/>
                </a:solidFill>
                <a:latin typeface="Arial" panose="020B0604020202020204" pitchFamily="34" charset="0"/>
                <a:ea typeface="Times New Roman" pitchFamily="34" charset="-122"/>
                <a:cs typeface="Arial" panose="020B0604020202020204" pitchFamily="34" charset="0"/>
              </a:rPr>
              <a:t>FC</a:t>
            </a:r>
            <a:endParaRPr lang="en-US" sz="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5845567" y="4120515"/>
            <a:ext cx="24881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47" name="Text 45"/>
          <p:cNvSpPr/>
          <p:nvPr/>
        </p:nvSpPr>
        <p:spPr>
          <a:xfrm>
            <a:off x="6013677" y="3961638"/>
            <a:ext cx="322727" cy="177737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750" dirty="0">
                <a:solidFill>
                  <a:srgbClr val="111111"/>
                </a:solidFill>
                <a:latin typeface="Arial" panose="020B0604020202020204" pitchFamily="34" charset="0"/>
                <a:ea typeface="Times New Roman" pitchFamily="34" charset="-122"/>
                <a:cs typeface="Arial" panose="020B0604020202020204" pitchFamily="34" charset="0"/>
              </a:rPr>
              <a:t>FC</a:t>
            </a:r>
            <a:endParaRPr lang="en-US" sz="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6023848" y="4132517"/>
            <a:ext cx="296726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64" name="Shape 62"/>
          <p:cNvSpPr/>
          <p:nvPr/>
        </p:nvSpPr>
        <p:spPr>
          <a:xfrm>
            <a:off x="863722" y="2112950"/>
            <a:ext cx="133616" cy="1041044"/>
          </a:xfrm>
          <a:prstGeom prst="rect">
            <a:avLst/>
          </a:prstGeom>
          <a:solidFill>
            <a:srgbClr val="FFFFFF">
              <a:alpha val="0"/>
            </a:srgbClr>
          </a:solidFill>
          <a:ln w="13970">
            <a:solidFill>
              <a:srgbClr val="0044CC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63722" y="2404442"/>
            <a:ext cx="133616" cy="0"/>
          </a:xfrm>
          <a:prstGeom prst="line">
            <a:avLst/>
          </a:prstGeom>
          <a:noFill/>
          <a:ln w="6350">
            <a:solidFill>
              <a:srgbClr val="0044CC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863722" y="2518957"/>
            <a:ext cx="133616" cy="0"/>
          </a:xfrm>
          <a:prstGeom prst="line">
            <a:avLst/>
          </a:prstGeom>
          <a:noFill/>
          <a:ln w="6350">
            <a:solidFill>
              <a:srgbClr val="0044CC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863722" y="2747987"/>
            <a:ext cx="133616" cy="0"/>
          </a:xfrm>
          <a:prstGeom prst="line">
            <a:avLst/>
          </a:prstGeom>
          <a:noFill/>
          <a:ln w="6350">
            <a:solidFill>
              <a:srgbClr val="0044CC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863722" y="2862501"/>
            <a:ext cx="133616" cy="0"/>
          </a:xfrm>
          <a:prstGeom prst="line">
            <a:avLst/>
          </a:prstGeom>
          <a:noFill/>
          <a:ln w="6350">
            <a:solidFill>
              <a:srgbClr val="0044CC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817373" y="2538831"/>
            <a:ext cx="226314" cy="189281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1125" dirty="0">
                <a:solidFill>
                  <a:srgbClr val="111111"/>
                </a:solidFill>
                <a:latin typeface="Arial" panose="020B0604020202020204" pitchFamily="34" charset="0"/>
                <a:ea typeface="Times New Roman" pitchFamily="34" charset="-122"/>
                <a:cs typeface="Arial" panose="020B0604020202020204" pitchFamily="34" charset="0"/>
              </a:rPr>
              <a:t>⋮</a:t>
            </a:r>
            <a:endParaRPr lang="en-US" sz="1125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1" name="Text 69"/>
          <p:cNvSpPr/>
          <p:nvPr/>
        </p:nvSpPr>
        <p:spPr>
          <a:xfrm>
            <a:off x="714504" y="1947342"/>
            <a:ext cx="432054" cy="150876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825" i="1" dirty="0">
                <a:solidFill>
                  <a:srgbClr val="111111"/>
                </a:solidFill>
                <a:latin typeface="Arial" panose="020B0604020202020204" pitchFamily="34" charset="0"/>
                <a:ea typeface="Times New Roman" pitchFamily="34" charset="-122"/>
                <a:cs typeface="Arial" panose="020B0604020202020204" pitchFamily="34" charset="0"/>
              </a:rPr>
              <a:t>s_t</a:t>
            </a:r>
            <a:endParaRPr lang="en-US" sz="825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2" name="Text 70"/>
          <p:cNvSpPr/>
          <p:nvPr/>
        </p:nvSpPr>
        <p:spPr>
          <a:xfrm>
            <a:off x="680213" y="3189683"/>
            <a:ext cx="500634" cy="137160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750" dirty="0">
                <a:solidFill>
                  <a:srgbClr val="111111"/>
                </a:solidFill>
                <a:latin typeface="Arial" panose="020B0604020202020204" pitchFamily="34" charset="0"/>
                <a:ea typeface="Times New Roman" pitchFamily="34" charset="-122"/>
                <a:cs typeface="Arial" panose="020B0604020202020204" pitchFamily="34" charset="0"/>
              </a:rPr>
              <a:t>12</a:t>
            </a:r>
            <a:endParaRPr lang="en-US" sz="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3" name="Shape 71"/>
          <p:cNvSpPr/>
          <p:nvPr/>
        </p:nvSpPr>
        <p:spPr>
          <a:xfrm>
            <a:off x="1945192" y="2219249"/>
            <a:ext cx="130949" cy="814730"/>
          </a:xfrm>
          <a:prstGeom prst="rect">
            <a:avLst/>
          </a:prstGeom>
          <a:solidFill>
            <a:srgbClr val="FFFFFF">
              <a:alpha val="0"/>
            </a:srgbClr>
          </a:solidFill>
          <a:ln w="13970">
            <a:solidFill>
              <a:srgbClr val="0044CC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2747809" y="2227250"/>
            <a:ext cx="134800" cy="814730"/>
          </a:xfrm>
          <a:prstGeom prst="rect">
            <a:avLst/>
          </a:prstGeom>
          <a:solidFill>
            <a:srgbClr val="FFFFFF">
              <a:alpha val="0"/>
            </a:srgbClr>
          </a:solidFill>
          <a:ln w="13970">
            <a:solidFill>
              <a:srgbClr val="0044CC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2592324" y="2051726"/>
            <a:ext cx="459486" cy="150876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825" i="1" dirty="0">
                <a:solidFill>
                  <a:srgbClr val="111111"/>
                </a:solidFill>
                <a:latin typeface="Arial" panose="020B0604020202020204" pitchFamily="34" charset="0"/>
                <a:ea typeface="Times New Roman" pitchFamily="34" charset="-122"/>
                <a:cs typeface="Arial" panose="020B0604020202020204" pitchFamily="34" charset="0"/>
              </a:rPr>
              <a:t>z_s</a:t>
            </a:r>
            <a:endParaRPr lang="en-US" sz="825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6" name="Text 74"/>
          <p:cNvSpPr/>
          <p:nvPr/>
        </p:nvSpPr>
        <p:spPr>
          <a:xfrm>
            <a:off x="2592324" y="3196284"/>
            <a:ext cx="445770" cy="123444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750" dirty="0">
                <a:solidFill>
                  <a:srgbClr val="111111"/>
                </a:solidFill>
                <a:latin typeface="Arial" panose="020B0604020202020204" pitchFamily="34" charset="0"/>
                <a:ea typeface="Times New Roman" pitchFamily="34" charset="-122"/>
                <a:cs typeface="Arial" panose="020B0604020202020204" pitchFamily="34" charset="0"/>
              </a:rPr>
              <a:t>32</a:t>
            </a:r>
            <a:endParaRPr lang="en-US" sz="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7" name="Shape 75"/>
          <p:cNvSpPr/>
          <p:nvPr/>
        </p:nvSpPr>
        <p:spPr>
          <a:xfrm>
            <a:off x="867047" y="4100513"/>
            <a:ext cx="137664" cy="1018413"/>
          </a:xfrm>
          <a:prstGeom prst="rect">
            <a:avLst/>
          </a:prstGeom>
          <a:solidFill>
            <a:srgbClr val="FFFFFF">
              <a:alpha val="0"/>
            </a:srgbClr>
          </a:solidFill>
          <a:ln w="13970">
            <a:solidFill>
              <a:srgbClr val="FF3300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867047" y="4385668"/>
            <a:ext cx="137664" cy="0"/>
          </a:xfrm>
          <a:prstGeom prst="line">
            <a:avLst/>
          </a:prstGeom>
          <a:noFill/>
          <a:ln w="6350">
            <a:solidFill>
              <a:srgbClr val="FF3300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867047" y="4497693"/>
            <a:ext cx="137664" cy="0"/>
          </a:xfrm>
          <a:prstGeom prst="line">
            <a:avLst/>
          </a:prstGeom>
          <a:noFill/>
          <a:ln w="6350">
            <a:solidFill>
              <a:srgbClr val="FF3300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867047" y="4721744"/>
            <a:ext cx="137664" cy="0"/>
          </a:xfrm>
          <a:prstGeom prst="line">
            <a:avLst/>
          </a:prstGeom>
          <a:noFill/>
          <a:ln w="6350">
            <a:solidFill>
              <a:srgbClr val="FF3300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867047" y="4833770"/>
            <a:ext cx="137664" cy="0"/>
          </a:xfrm>
          <a:prstGeom prst="line">
            <a:avLst/>
          </a:prstGeom>
          <a:noFill/>
          <a:ln w="6350">
            <a:solidFill>
              <a:srgbClr val="FF330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819293" y="4517136"/>
            <a:ext cx="233172" cy="185166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1125" dirty="0">
                <a:solidFill>
                  <a:srgbClr val="111111"/>
                </a:solidFill>
                <a:latin typeface="Arial" panose="020B0604020202020204" pitchFamily="34" charset="0"/>
                <a:ea typeface="Times New Roman" pitchFamily="34" charset="-122"/>
                <a:cs typeface="Arial" panose="020B0604020202020204" pitchFamily="34" charset="0"/>
              </a:rPr>
              <a:t>⋮</a:t>
            </a:r>
            <a:endParaRPr lang="en-US" sz="1125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4" name="Text 82"/>
          <p:cNvSpPr/>
          <p:nvPr/>
        </p:nvSpPr>
        <p:spPr>
          <a:xfrm>
            <a:off x="716423" y="3954780"/>
            <a:ext cx="438912" cy="150876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 fontScale="92500"/>
          </a:bodyPr>
          <a:lstStyle/>
          <a:p>
            <a:pPr algn="ctr"/>
            <a:r>
              <a:rPr lang="en-US" sz="750" i="1" dirty="0">
                <a:solidFill>
                  <a:srgbClr val="111111"/>
                </a:solidFill>
                <a:latin typeface="Arial" panose="020B0604020202020204" pitchFamily="34" charset="0"/>
                <a:ea typeface="Times New Roman" pitchFamily="34" charset="-122"/>
                <a:cs typeface="Arial" panose="020B0604020202020204" pitchFamily="34" charset="0"/>
              </a:rPr>
              <a:t>X_{ t-15:t }</a:t>
            </a:r>
            <a:endParaRPr lang="en-US" sz="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5" name="Text 83"/>
          <p:cNvSpPr/>
          <p:nvPr/>
        </p:nvSpPr>
        <p:spPr>
          <a:xfrm>
            <a:off x="682133" y="5144072"/>
            <a:ext cx="507492" cy="137160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750" dirty="0">
                <a:solidFill>
                  <a:srgbClr val="111111"/>
                </a:solidFill>
                <a:latin typeface="Arial" panose="020B0604020202020204" pitchFamily="34" charset="0"/>
                <a:ea typeface="Times New Roman" pitchFamily="34" charset="-122"/>
                <a:cs typeface="Arial" panose="020B0604020202020204" pitchFamily="34" charset="0"/>
              </a:rPr>
              <a:t>16 x C</a:t>
            </a:r>
            <a:endParaRPr lang="en-US" sz="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6" name="Shape 84"/>
          <p:cNvSpPr/>
          <p:nvPr/>
        </p:nvSpPr>
        <p:spPr>
          <a:xfrm>
            <a:off x="1241729" y="4214929"/>
            <a:ext cx="909117" cy="809006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3300"/>
            </a:solidFill>
            <a:prstDash val="dash"/>
          </a:ln>
        </p:spPr>
      </p:sp>
      <p:sp>
        <p:nvSpPr>
          <p:cNvPr id="87" name="Text 85"/>
          <p:cNvSpPr/>
          <p:nvPr/>
        </p:nvSpPr>
        <p:spPr>
          <a:xfrm>
            <a:off x="1012104" y="4244316"/>
            <a:ext cx="1474470" cy="150876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750" dirty="0">
                <a:solidFill>
                  <a:srgbClr val="111111"/>
                </a:solidFill>
                <a:latin typeface="Arial" panose="020B0604020202020204" pitchFamily="34" charset="0"/>
                <a:ea typeface="Times New Roman" pitchFamily="34" charset="-122"/>
                <a:cs typeface="Arial" panose="020B0604020202020204" pitchFamily="34" charset="0"/>
              </a:rPr>
              <a:t>GRU encoder</a:t>
            </a:r>
            <a:endParaRPr lang="en-US" sz="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8" name="Shape 86"/>
          <p:cNvSpPr/>
          <p:nvPr/>
        </p:nvSpPr>
        <p:spPr>
          <a:xfrm>
            <a:off x="1354469" y="4407144"/>
            <a:ext cx="696610" cy="377190"/>
          </a:xfrm>
          <a:prstGeom prst="rect">
            <a:avLst/>
          </a:prstGeom>
          <a:solidFill>
            <a:srgbClr val="FFFFFF">
              <a:alpha val="0"/>
            </a:srgbClr>
          </a:solidFill>
          <a:ln w="13970">
            <a:solidFill>
              <a:srgbClr val="FF330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1611887" y="4516872"/>
            <a:ext cx="212598" cy="123444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600" dirty="0">
                <a:solidFill>
                  <a:srgbClr val="111111"/>
                </a:solidFill>
                <a:latin typeface="Arial" panose="020B0604020202020204" pitchFamily="34" charset="0"/>
                <a:ea typeface="Times New Roman" pitchFamily="34" charset="-122"/>
                <a:cs typeface="Arial" panose="020B0604020202020204" pitchFamily="34" charset="0"/>
              </a:rPr>
              <a:t>GRU</a:t>
            </a:r>
            <a:endParaRPr lang="en-US" sz="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7" name="Text 95"/>
          <p:cNvSpPr/>
          <p:nvPr/>
        </p:nvSpPr>
        <p:spPr>
          <a:xfrm>
            <a:off x="1391860" y="4835554"/>
            <a:ext cx="377190" cy="137160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675" i="1" dirty="0">
                <a:solidFill>
                  <a:srgbClr val="111111"/>
                </a:solidFill>
                <a:latin typeface="Arial" panose="020B0604020202020204" pitchFamily="34" charset="0"/>
                <a:ea typeface="Times New Roman" pitchFamily="34" charset="-122"/>
                <a:cs typeface="Arial" panose="020B0604020202020204" pitchFamily="34" charset="0"/>
              </a:rPr>
              <a:t>x_{t−15}</a:t>
            </a:r>
            <a:endParaRPr lang="en-US" sz="675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8" name="Text 96"/>
          <p:cNvSpPr/>
          <p:nvPr/>
        </p:nvSpPr>
        <p:spPr>
          <a:xfrm>
            <a:off x="1653641" y="4835554"/>
            <a:ext cx="308610" cy="137160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750" dirty="0">
                <a:solidFill>
                  <a:srgbClr val="111111"/>
                </a:solidFill>
                <a:latin typeface="Arial" panose="020B0604020202020204" pitchFamily="34" charset="0"/>
                <a:ea typeface="Times New Roman" pitchFamily="34" charset="-122"/>
                <a:cs typeface="Arial" panose="020B0604020202020204" pitchFamily="34" charset="0"/>
              </a:rPr>
              <a:t>⋯</a:t>
            </a:r>
            <a:endParaRPr lang="en-US" sz="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9" name="Text 97"/>
          <p:cNvSpPr/>
          <p:nvPr/>
        </p:nvSpPr>
        <p:spPr>
          <a:xfrm>
            <a:off x="1773656" y="4835554"/>
            <a:ext cx="377190" cy="137160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675" i="1" dirty="0">
                <a:solidFill>
                  <a:srgbClr val="111111"/>
                </a:solidFill>
                <a:latin typeface="Arial" panose="020B0604020202020204" pitchFamily="34" charset="0"/>
                <a:ea typeface="Times New Roman" pitchFamily="34" charset="-122"/>
                <a:cs typeface="Arial" panose="020B0604020202020204" pitchFamily="34" charset="0"/>
              </a:rPr>
              <a:t>x_t</a:t>
            </a:r>
            <a:endParaRPr lang="en-US" sz="675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0" name="Shape 98"/>
          <p:cNvSpPr/>
          <p:nvPr/>
        </p:nvSpPr>
        <p:spPr>
          <a:xfrm>
            <a:off x="2615768" y="4184123"/>
            <a:ext cx="103989" cy="875081"/>
          </a:xfrm>
          <a:prstGeom prst="rect">
            <a:avLst/>
          </a:prstGeom>
          <a:solidFill>
            <a:srgbClr val="FFFFFF">
              <a:alpha val="0"/>
            </a:srgbClr>
          </a:solidFill>
          <a:ln w="13970">
            <a:solidFill>
              <a:srgbClr val="FF3300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2465452" y="4003308"/>
            <a:ext cx="404622" cy="150876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825" i="1" dirty="0">
                <a:solidFill>
                  <a:srgbClr val="111111"/>
                </a:solidFill>
                <a:latin typeface="Arial" panose="020B0604020202020204" pitchFamily="34" charset="0"/>
                <a:ea typeface="Times New Roman" pitchFamily="34" charset="-122"/>
                <a:cs typeface="Arial" panose="020B0604020202020204" pitchFamily="34" charset="0"/>
              </a:rPr>
              <a:t>h_T</a:t>
            </a:r>
            <a:endParaRPr lang="en-US" sz="825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2" name="Text 100"/>
          <p:cNvSpPr/>
          <p:nvPr/>
        </p:nvSpPr>
        <p:spPr>
          <a:xfrm>
            <a:off x="2472310" y="5081972"/>
            <a:ext cx="390906" cy="123444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750" dirty="0">
                <a:solidFill>
                  <a:srgbClr val="111111"/>
                </a:solidFill>
                <a:latin typeface="Arial" panose="020B0604020202020204" pitchFamily="34" charset="0"/>
                <a:ea typeface="Times New Roman" pitchFamily="34" charset="-122"/>
                <a:cs typeface="Arial" panose="020B0604020202020204" pitchFamily="34" charset="0"/>
              </a:rPr>
              <a:t>64</a:t>
            </a:r>
            <a:endParaRPr lang="en-US" sz="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3" name="Shape 101"/>
          <p:cNvSpPr/>
          <p:nvPr/>
        </p:nvSpPr>
        <p:spPr>
          <a:xfrm>
            <a:off x="2990498" y="4171950"/>
            <a:ext cx="103989" cy="875081"/>
          </a:xfrm>
          <a:prstGeom prst="rect">
            <a:avLst/>
          </a:prstGeom>
          <a:solidFill>
            <a:srgbClr val="FFFFFF">
              <a:alpha val="0"/>
            </a:srgbClr>
          </a:solidFill>
          <a:ln w="13970">
            <a:solidFill>
              <a:srgbClr val="FF3300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2851831" y="4014788"/>
            <a:ext cx="404622" cy="150876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825" i="1" dirty="0">
                <a:solidFill>
                  <a:srgbClr val="111111"/>
                </a:solidFill>
                <a:latin typeface="Arial" panose="020B0604020202020204" pitchFamily="34" charset="0"/>
                <a:ea typeface="Times New Roman" pitchFamily="34" charset="-122"/>
                <a:cs typeface="Arial" panose="020B0604020202020204" pitchFamily="34" charset="0"/>
              </a:rPr>
              <a:t>z_h</a:t>
            </a:r>
            <a:endParaRPr lang="en-US" sz="825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5" name="Text 103"/>
          <p:cNvSpPr/>
          <p:nvPr/>
        </p:nvSpPr>
        <p:spPr>
          <a:xfrm>
            <a:off x="2893376" y="5052559"/>
            <a:ext cx="390906" cy="123444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750" dirty="0">
                <a:solidFill>
                  <a:srgbClr val="111111"/>
                </a:solidFill>
                <a:latin typeface="Arial" panose="020B0604020202020204" pitchFamily="34" charset="0"/>
                <a:ea typeface="Times New Roman" pitchFamily="34" charset="-122"/>
                <a:cs typeface="Arial" panose="020B0604020202020204" pitchFamily="34" charset="0"/>
              </a:rPr>
              <a:t>32</a:t>
            </a:r>
            <a:endParaRPr lang="en-US" sz="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6" name="Shape 104"/>
          <p:cNvSpPr/>
          <p:nvPr/>
        </p:nvSpPr>
        <p:spPr>
          <a:xfrm>
            <a:off x="3554113" y="3520441"/>
            <a:ext cx="232184" cy="233171"/>
          </a:xfrm>
          <a:prstGeom prst="ellipse">
            <a:avLst/>
          </a:prstGeom>
          <a:solidFill>
            <a:srgbClr val="FFFFFF">
              <a:alpha val="0"/>
            </a:srgbClr>
          </a:solidFill>
          <a:ln w="13970">
            <a:solidFill>
              <a:srgbClr val="111111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3472260" y="3808361"/>
            <a:ext cx="411480" cy="123444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750" dirty="0">
                <a:solidFill>
                  <a:srgbClr val="111111"/>
                </a:solidFill>
                <a:latin typeface="Arial" panose="020B0604020202020204" pitchFamily="34" charset="0"/>
                <a:ea typeface="Times New Roman" pitchFamily="34" charset="-122"/>
                <a:cs typeface="Arial" panose="020B0604020202020204" pitchFamily="34" charset="0"/>
              </a:rPr>
              <a:t>concat</a:t>
            </a:r>
            <a:endParaRPr lang="en-US" sz="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9" name="Shape 107"/>
          <p:cNvSpPr/>
          <p:nvPr/>
        </p:nvSpPr>
        <p:spPr>
          <a:xfrm>
            <a:off x="4079084" y="3244406"/>
            <a:ext cx="112580" cy="792099"/>
          </a:xfrm>
          <a:prstGeom prst="rect">
            <a:avLst/>
          </a:prstGeom>
          <a:solidFill>
            <a:srgbClr val="FFFFFF">
              <a:alpha val="0"/>
            </a:srgbClr>
          </a:solidFill>
          <a:ln w="13970">
            <a:solidFill>
              <a:srgbClr val="12A33B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3922776" y="3088386"/>
            <a:ext cx="425196" cy="150876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825" i="1" dirty="0">
                <a:solidFill>
                  <a:srgbClr val="111111"/>
                </a:solidFill>
                <a:latin typeface="Arial" panose="020B0604020202020204" pitchFamily="34" charset="0"/>
                <a:ea typeface="Times New Roman" pitchFamily="34" charset="-122"/>
                <a:cs typeface="Arial" panose="020B0604020202020204" pitchFamily="34" charset="0"/>
              </a:rPr>
              <a:t>z</a:t>
            </a:r>
            <a:endParaRPr lang="en-US" sz="825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1" name="Text 109"/>
          <p:cNvSpPr/>
          <p:nvPr/>
        </p:nvSpPr>
        <p:spPr>
          <a:xfrm>
            <a:off x="3929634" y="4034790"/>
            <a:ext cx="411480" cy="123444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750" dirty="0">
                <a:solidFill>
                  <a:srgbClr val="111111"/>
                </a:solidFill>
                <a:latin typeface="Arial" panose="020B0604020202020204" pitchFamily="34" charset="0"/>
                <a:ea typeface="Times New Roman" pitchFamily="34" charset="-122"/>
                <a:cs typeface="Arial" panose="020B0604020202020204" pitchFamily="34" charset="0"/>
              </a:rPr>
              <a:t>64</a:t>
            </a:r>
            <a:endParaRPr lang="en-US" sz="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2" name="Shape 110"/>
          <p:cNvSpPr/>
          <p:nvPr/>
        </p:nvSpPr>
        <p:spPr>
          <a:xfrm>
            <a:off x="4785458" y="3244406"/>
            <a:ext cx="112580" cy="792099"/>
          </a:xfrm>
          <a:prstGeom prst="rect">
            <a:avLst/>
          </a:prstGeom>
          <a:solidFill>
            <a:srgbClr val="FFFFFF">
              <a:alpha val="0"/>
            </a:srgbClr>
          </a:solidFill>
          <a:ln w="13970">
            <a:solidFill>
              <a:srgbClr val="E6A000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4629150" y="3088386"/>
            <a:ext cx="425196" cy="150876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825" i="1" dirty="0">
                <a:solidFill>
                  <a:srgbClr val="111111"/>
                </a:solidFill>
                <a:latin typeface="Arial" panose="020B0604020202020204" pitchFamily="34" charset="0"/>
                <a:ea typeface="Times New Roman" pitchFamily="34" charset="-122"/>
                <a:cs typeface="Arial" panose="020B0604020202020204" pitchFamily="34" charset="0"/>
              </a:rPr>
              <a:t>f_t</a:t>
            </a:r>
            <a:endParaRPr lang="en-US" sz="825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4" name="Text 112"/>
          <p:cNvSpPr/>
          <p:nvPr/>
        </p:nvSpPr>
        <p:spPr>
          <a:xfrm>
            <a:off x="4636008" y="4034790"/>
            <a:ext cx="411480" cy="123444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750" dirty="0">
                <a:solidFill>
                  <a:srgbClr val="111111"/>
                </a:solidFill>
                <a:latin typeface="Arial" panose="020B0604020202020204" pitchFamily="34" charset="0"/>
                <a:ea typeface="Times New Roman" pitchFamily="34" charset="-122"/>
                <a:cs typeface="Arial" panose="020B0604020202020204" pitchFamily="34" charset="0"/>
              </a:rPr>
              <a:t>64</a:t>
            </a:r>
            <a:endParaRPr lang="en-US" sz="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5" name="Shape 113"/>
          <p:cNvSpPr/>
          <p:nvPr/>
        </p:nvSpPr>
        <p:spPr>
          <a:xfrm>
            <a:off x="5949096" y="2306788"/>
            <a:ext cx="91800" cy="567000"/>
          </a:xfrm>
          <a:prstGeom prst="rect">
            <a:avLst/>
          </a:prstGeom>
          <a:solidFill>
            <a:srgbClr val="FFFFFF">
              <a:alpha val="0"/>
            </a:srgbClr>
          </a:solidFill>
          <a:ln w="13970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zh-CN" altLang="en-US" sz="13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8" name="Text 116"/>
          <p:cNvSpPr/>
          <p:nvPr/>
        </p:nvSpPr>
        <p:spPr>
          <a:xfrm>
            <a:off x="8846820" y="2098918"/>
            <a:ext cx="493776" cy="123444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750" dirty="0">
                <a:solidFill>
                  <a:srgbClr val="111111"/>
                </a:solidFill>
                <a:latin typeface="Arial" panose="020B0604020202020204" pitchFamily="34" charset="0"/>
                <a:ea typeface="Times New Roman" pitchFamily="34" charset="-122"/>
                <a:cs typeface="Arial" panose="020B0604020202020204" pitchFamily="34" charset="0"/>
              </a:rPr>
              <a:t>2</a:t>
            </a:r>
            <a:endParaRPr lang="en-US" sz="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9" name="Shape 127"/>
          <p:cNvSpPr/>
          <p:nvPr/>
        </p:nvSpPr>
        <p:spPr>
          <a:xfrm>
            <a:off x="5883067" y="3913061"/>
            <a:ext cx="91349" cy="414909"/>
          </a:xfrm>
          <a:prstGeom prst="rect">
            <a:avLst/>
          </a:prstGeom>
          <a:solidFill>
            <a:srgbClr val="FFFFFF">
              <a:alpha val="0"/>
            </a:srgbClr>
          </a:solidFill>
          <a:ln w="13970">
            <a:solidFill>
              <a:srgbClr val="0044CC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5740146" y="4343400"/>
            <a:ext cx="377190" cy="123444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750" dirty="0">
                <a:solidFill>
                  <a:srgbClr val="111111"/>
                </a:solidFill>
                <a:latin typeface="Arial" panose="020B0604020202020204" pitchFamily="34" charset="0"/>
                <a:ea typeface="Times New Roman" pitchFamily="34" charset="-122"/>
                <a:cs typeface="Arial" panose="020B0604020202020204" pitchFamily="34" charset="0"/>
              </a:rPr>
              <a:t>128</a:t>
            </a:r>
            <a:endParaRPr lang="en-US" sz="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3" name="Shape 131"/>
          <p:cNvSpPr/>
          <p:nvPr/>
        </p:nvSpPr>
        <p:spPr>
          <a:xfrm>
            <a:off x="6347123" y="3922719"/>
            <a:ext cx="91349" cy="414909"/>
          </a:xfrm>
          <a:prstGeom prst="rect">
            <a:avLst/>
          </a:prstGeom>
          <a:solidFill>
            <a:srgbClr val="FFFFFF">
              <a:alpha val="0"/>
            </a:srgbClr>
          </a:solidFill>
          <a:ln w="13970">
            <a:solidFill>
              <a:srgbClr val="0044CC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7680730" y="4010501"/>
            <a:ext cx="131673" cy="301752"/>
          </a:xfrm>
          <a:prstGeom prst="rect">
            <a:avLst/>
          </a:prstGeom>
          <a:solidFill>
            <a:srgbClr val="FFFFFF">
              <a:alpha val="0"/>
            </a:srgbClr>
          </a:solidFill>
          <a:ln w="13970">
            <a:solidFill>
              <a:srgbClr val="0044CC"/>
            </a:solidFill>
            <a:prstDash val="solid"/>
          </a:ln>
        </p:spPr>
      </p:sp>
      <p:sp>
        <p:nvSpPr>
          <p:cNvPr id="146" name="Text 144"/>
          <p:cNvSpPr/>
          <p:nvPr/>
        </p:nvSpPr>
        <p:spPr>
          <a:xfrm>
            <a:off x="7474596" y="3836477"/>
            <a:ext cx="523287" cy="192024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600" dirty="0">
                <a:solidFill>
                  <a:srgbClr val="111111"/>
                </a:solidFill>
                <a:latin typeface="Arial" panose="020B0604020202020204" pitchFamily="34" charset="0"/>
                <a:ea typeface="Times New Roman" pitchFamily="34" charset="-122"/>
                <a:cs typeface="Arial" panose="020B0604020202020204" pitchFamily="34" charset="0"/>
              </a:rPr>
              <a:t>Actor head</a:t>
            </a:r>
            <a:endParaRPr lang="en-US" sz="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8" name="Text 146"/>
          <p:cNvSpPr/>
          <p:nvPr/>
        </p:nvSpPr>
        <p:spPr>
          <a:xfrm>
            <a:off x="8093580" y="3928491"/>
            <a:ext cx="301752" cy="150876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825" i="1" dirty="0">
                <a:solidFill>
                  <a:srgbClr val="111111"/>
                </a:solidFill>
                <a:latin typeface="Arial" panose="020B0604020202020204" pitchFamily="34" charset="0"/>
                <a:ea typeface="Times New Roman" pitchFamily="34" charset="-122"/>
                <a:cs typeface="Arial" panose="020B0604020202020204" pitchFamily="34" charset="0"/>
              </a:rPr>
              <a:t>a_t</a:t>
            </a:r>
            <a:endParaRPr lang="en-US" sz="825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0" name="Text 148"/>
          <p:cNvSpPr/>
          <p:nvPr/>
        </p:nvSpPr>
        <p:spPr>
          <a:xfrm>
            <a:off x="7990710" y="4244316"/>
            <a:ext cx="507492" cy="123444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675" dirty="0">
                <a:solidFill>
                  <a:srgbClr val="111111"/>
                </a:solidFill>
                <a:latin typeface="Arial" panose="020B0604020202020204" pitchFamily="34" charset="0"/>
                <a:ea typeface="Times New Roman" pitchFamily="34" charset="-122"/>
                <a:cs typeface="Arial" panose="020B0604020202020204" pitchFamily="34" charset="0"/>
              </a:rPr>
              <a:t>2D action</a:t>
            </a:r>
            <a:endParaRPr lang="en-US" sz="675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4" name="Text 152"/>
          <p:cNvSpPr/>
          <p:nvPr/>
        </p:nvSpPr>
        <p:spPr>
          <a:xfrm>
            <a:off x="8100942" y="4676177"/>
            <a:ext cx="288036" cy="137160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825" i="1" dirty="0">
                <a:solidFill>
                  <a:srgbClr val="111111"/>
                </a:solidFill>
                <a:latin typeface="Arial" panose="020B0604020202020204" pitchFamily="34" charset="0"/>
                <a:ea typeface="Times New Roman" pitchFamily="34" charset="-122"/>
                <a:cs typeface="Arial" panose="020B0604020202020204" pitchFamily="34" charset="0"/>
              </a:rPr>
              <a:t>V_t</a:t>
            </a:r>
            <a:endParaRPr lang="en-US" sz="825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5" name="Text 153"/>
          <p:cNvSpPr/>
          <p:nvPr/>
        </p:nvSpPr>
        <p:spPr>
          <a:xfrm>
            <a:off x="8039929" y="4970000"/>
            <a:ext cx="432054" cy="123444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675" dirty="0">
                <a:solidFill>
                  <a:srgbClr val="111111"/>
                </a:solidFill>
                <a:latin typeface="Arial" panose="020B0604020202020204" pitchFamily="34" charset="0"/>
                <a:ea typeface="Times New Roman" pitchFamily="34" charset="-122"/>
                <a:cs typeface="Arial" panose="020B0604020202020204" pitchFamily="34" charset="0"/>
              </a:rPr>
              <a:t>(scalar)</a:t>
            </a:r>
            <a:endParaRPr lang="en-US" sz="675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7" name="Text 70">
            <a:extLst>
              <a:ext uri="{FF2B5EF4-FFF2-40B4-BE49-F238E27FC236}">
                <a16:creationId xmlns:a16="http://schemas.microsoft.com/office/drawing/2014/main" id="{5933548D-4BC1-4B72-ADF8-24E521008D01}"/>
              </a:ext>
            </a:extLst>
          </p:cNvPr>
          <p:cNvSpPr/>
          <p:nvPr/>
        </p:nvSpPr>
        <p:spPr>
          <a:xfrm>
            <a:off x="1763778" y="3189683"/>
            <a:ext cx="500634" cy="137160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750" dirty="0">
                <a:solidFill>
                  <a:srgbClr val="11111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64</a:t>
            </a:r>
            <a:endParaRPr lang="en-US" sz="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8" name="Text 10">
            <a:extLst>
              <a:ext uri="{FF2B5EF4-FFF2-40B4-BE49-F238E27FC236}">
                <a16:creationId xmlns:a16="http://schemas.microsoft.com/office/drawing/2014/main" id="{7533B336-11DD-4708-9B58-286BA43458C4}"/>
              </a:ext>
            </a:extLst>
          </p:cNvPr>
          <p:cNvSpPr/>
          <p:nvPr/>
        </p:nvSpPr>
        <p:spPr>
          <a:xfrm>
            <a:off x="2559973" y="4413695"/>
            <a:ext cx="618188" cy="171450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750" dirty="0">
                <a:solidFill>
                  <a:srgbClr val="111111"/>
                </a:solidFill>
                <a:latin typeface="Arial" panose="020B0604020202020204" pitchFamily="34" charset="0"/>
                <a:ea typeface="Times New Roman" pitchFamily="34" charset="-122"/>
                <a:cs typeface="Arial" panose="020B0604020202020204" pitchFamily="34" charset="0"/>
              </a:rPr>
              <a:t>FC</a:t>
            </a:r>
            <a:endParaRPr lang="en-US" sz="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61" name="连接符: 肘形 160">
            <a:extLst>
              <a:ext uri="{FF2B5EF4-FFF2-40B4-BE49-F238E27FC236}">
                <a16:creationId xmlns:a16="http://schemas.microsoft.com/office/drawing/2014/main" id="{83B03BBC-E4A4-40E3-9023-B2A4A2D47BDE}"/>
              </a:ext>
            </a:extLst>
          </p:cNvPr>
          <p:cNvCxnSpPr>
            <a:cxnSpLocks/>
            <a:stCxn id="103" idx="3"/>
            <a:endCxn id="106" idx="2"/>
          </p:cNvCxnSpPr>
          <p:nvPr/>
        </p:nvCxnSpPr>
        <p:spPr>
          <a:xfrm flipV="1">
            <a:off x="3094487" y="3637027"/>
            <a:ext cx="459627" cy="972464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连接符: 肘形 165">
            <a:extLst>
              <a:ext uri="{FF2B5EF4-FFF2-40B4-BE49-F238E27FC236}">
                <a16:creationId xmlns:a16="http://schemas.microsoft.com/office/drawing/2014/main" id="{E87D2BB1-0110-44B4-9C2C-256FAC3ED454}"/>
              </a:ext>
            </a:extLst>
          </p:cNvPr>
          <p:cNvCxnSpPr>
            <a:cxnSpLocks/>
            <a:stCxn id="74" idx="3"/>
            <a:endCxn id="106" idx="2"/>
          </p:cNvCxnSpPr>
          <p:nvPr/>
        </p:nvCxnSpPr>
        <p:spPr>
          <a:xfrm>
            <a:off x="2882609" y="2634615"/>
            <a:ext cx="671505" cy="1002411"/>
          </a:xfrm>
          <a:prstGeom prst="bentConnector3">
            <a:avLst>
              <a:gd name="adj1" fmla="val 64894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0" name="Text 10">
            <a:extLst>
              <a:ext uri="{FF2B5EF4-FFF2-40B4-BE49-F238E27FC236}">
                <a16:creationId xmlns:a16="http://schemas.microsoft.com/office/drawing/2014/main" id="{AF75F240-EC29-4F1E-9D37-28C2B2325A37}"/>
              </a:ext>
            </a:extLst>
          </p:cNvPr>
          <p:cNvSpPr/>
          <p:nvPr/>
        </p:nvSpPr>
        <p:spPr>
          <a:xfrm>
            <a:off x="2021456" y="2426133"/>
            <a:ext cx="774954" cy="171450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750" dirty="0">
                <a:solidFill>
                  <a:srgbClr val="111111"/>
                </a:solidFill>
                <a:latin typeface="Arial" panose="020B0604020202020204" pitchFamily="34" charset="0"/>
                <a:ea typeface="Times New Roman" pitchFamily="34" charset="-122"/>
                <a:cs typeface="Arial" panose="020B0604020202020204" pitchFamily="34" charset="0"/>
              </a:rPr>
              <a:t>FC</a:t>
            </a:r>
            <a:endParaRPr lang="en-US" sz="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3" name="Text 45">
            <a:extLst>
              <a:ext uri="{FF2B5EF4-FFF2-40B4-BE49-F238E27FC236}">
                <a16:creationId xmlns:a16="http://schemas.microsoft.com/office/drawing/2014/main" id="{090CE591-0BA3-4BD0-97DD-11D1B1E9AF9C}"/>
              </a:ext>
            </a:extLst>
          </p:cNvPr>
          <p:cNvSpPr/>
          <p:nvPr/>
        </p:nvSpPr>
        <p:spPr>
          <a:xfrm>
            <a:off x="6470900" y="3967410"/>
            <a:ext cx="322727" cy="177737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750" dirty="0">
                <a:solidFill>
                  <a:srgbClr val="111111"/>
                </a:solidFill>
                <a:latin typeface="Arial" panose="020B0604020202020204" pitchFamily="34" charset="0"/>
                <a:ea typeface="Times New Roman" pitchFamily="34" charset="-122"/>
                <a:cs typeface="Arial" panose="020B0604020202020204" pitchFamily="34" charset="0"/>
              </a:rPr>
              <a:t>FC</a:t>
            </a:r>
            <a:endParaRPr lang="en-US" sz="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4" name="Shape 46">
            <a:extLst>
              <a:ext uri="{FF2B5EF4-FFF2-40B4-BE49-F238E27FC236}">
                <a16:creationId xmlns:a16="http://schemas.microsoft.com/office/drawing/2014/main" id="{E3D11099-0B2B-44C9-BAE2-CB1458FFAB16}"/>
              </a:ext>
            </a:extLst>
          </p:cNvPr>
          <p:cNvSpPr/>
          <p:nvPr/>
        </p:nvSpPr>
        <p:spPr>
          <a:xfrm>
            <a:off x="6481071" y="4138289"/>
            <a:ext cx="296726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175" name="Shape 131">
            <a:extLst>
              <a:ext uri="{FF2B5EF4-FFF2-40B4-BE49-F238E27FC236}">
                <a16:creationId xmlns:a16="http://schemas.microsoft.com/office/drawing/2014/main" id="{C308A46E-2672-4785-A0B4-4C21B69D5FDC}"/>
              </a:ext>
            </a:extLst>
          </p:cNvPr>
          <p:cNvSpPr/>
          <p:nvPr/>
        </p:nvSpPr>
        <p:spPr>
          <a:xfrm>
            <a:off x="6804346" y="3928491"/>
            <a:ext cx="91349" cy="414909"/>
          </a:xfrm>
          <a:prstGeom prst="rect">
            <a:avLst/>
          </a:prstGeom>
          <a:solidFill>
            <a:srgbClr val="FFFFFF">
              <a:alpha val="0"/>
            </a:srgbClr>
          </a:solidFill>
          <a:ln w="13970">
            <a:solidFill>
              <a:srgbClr val="0044CC"/>
            </a:solidFill>
            <a:prstDash val="solid"/>
          </a:ln>
        </p:spPr>
      </p:sp>
      <p:sp>
        <p:nvSpPr>
          <p:cNvPr id="176" name="Text 45">
            <a:extLst>
              <a:ext uri="{FF2B5EF4-FFF2-40B4-BE49-F238E27FC236}">
                <a16:creationId xmlns:a16="http://schemas.microsoft.com/office/drawing/2014/main" id="{23ED166E-50E3-4087-8FA1-595D26941A9A}"/>
              </a:ext>
            </a:extLst>
          </p:cNvPr>
          <p:cNvSpPr/>
          <p:nvPr/>
        </p:nvSpPr>
        <p:spPr>
          <a:xfrm>
            <a:off x="6928123" y="3976611"/>
            <a:ext cx="322727" cy="177737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750" dirty="0">
                <a:solidFill>
                  <a:srgbClr val="111111"/>
                </a:solidFill>
                <a:latin typeface="Arial" panose="020B0604020202020204" pitchFamily="34" charset="0"/>
                <a:ea typeface="Times New Roman" pitchFamily="34" charset="-122"/>
                <a:cs typeface="Arial" panose="020B0604020202020204" pitchFamily="34" charset="0"/>
              </a:rPr>
              <a:t>FC</a:t>
            </a:r>
            <a:endParaRPr lang="en-US" sz="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7" name="Shape 46">
            <a:extLst>
              <a:ext uri="{FF2B5EF4-FFF2-40B4-BE49-F238E27FC236}">
                <a16:creationId xmlns:a16="http://schemas.microsoft.com/office/drawing/2014/main" id="{28289257-55C3-4412-8843-A62503BCA76F}"/>
              </a:ext>
            </a:extLst>
          </p:cNvPr>
          <p:cNvSpPr/>
          <p:nvPr/>
        </p:nvSpPr>
        <p:spPr>
          <a:xfrm>
            <a:off x="6938294" y="4147490"/>
            <a:ext cx="296726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178" name="Shape 131">
            <a:extLst>
              <a:ext uri="{FF2B5EF4-FFF2-40B4-BE49-F238E27FC236}">
                <a16:creationId xmlns:a16="http://schemas.microsoft.com/office/drawing/2014/main" id="{1C25F154-6787-4436-9084-94A9B9D4376C}"/>
              </a:ext>
            </a:extLst>
          </p:cNvPr>
          <p:cNvSpPr/>
          <p:nvPr/>
        </p:nvSpPr>
        <p:spPr>
          <a:xfrm>
            <a:off x="7261570" y="3937692"/>
            <a:ext cx="91349" cy="414909"/>
          </a:xfrm>
          <a:prstGeom prst="rect">
            <a:avLst/>
          </a:prstGeom>
          <a:solidFill>
            <a:srgbClr val="FFFFFF">
              <a:alpha val="0"/>
            </a:srgbClr>
          </a:solidFill>
          <a:ln w="13970">
            <a:solidFill>
              <a:srgbClr val="0044CC"/>
            </a:solidFill>
            <a:prstDash val="solid"/>
          </a:ln>
        </p:spPr>
      </p:sp>
      <p:sp>
        <p:nvSpPr>
          <p:cNvPr id="182" name="Shape 46">
            <a:extLst>
              <a:ext uri="{FF2B5EF4-FFF2-40B4-BE49-F238E27FC236}">
                <a16:creationId xmlns:a16="http://schemas.microsoft.com/office/drawing/2014/main" id="{DB870AC9-88DF-4453-8CAD-2C25E9A28B84}"/>
              </a:ext>
            </a:extLst>
          </p:cNvPr>
          <p:cNvSpPr/>
          <p:nvPr/>
        </p:nvSpPr>
        <p:spPr>
          <a:xfrm>
            <a:off x="7370518" y="4158234"/>
            <a:ext cx="296726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183" name="Text 128">
            <a:extLst>
              <a:ext uri="{FF2B5EF4-FFF2-40B4-BE49-F238E27FC236}">
                <a16:creationId xmlns:a16="http://schemas.microsoft.com/office/drawing/2014/main" id="{17965B83-5D45-4C44-90E0-7E17198A2435}"/>
              </a:ext>
            </a:extLst>
          </p:cNvPr>
          <p:cNvSpPr/>
          <p:nvPr/>
        </p:nvSpPr>
        <p:spPr>
          <a:xfrm>
            <a:off x="6183346" y="4350544"/>
            <a:ext cx="377190" cy="123444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750" dirty="0">
                <a:solidFill>
                  <a:srgbClr val="111111"/>
                </a:solidFill>
                <a:latin typeface="Arial" panose="020B0604020202020204" pitchFamily="34" charset="0"/>
                <a:ea typeface="Times New Roman" pitchFamily="34" charset="-122"/>
                <a:cs typeface="Arial" panose="020B0604020202020204" pitchFamily="34" charset="0"/>
              </a:rPr>
              <a:t>256</a:t>
            </a:r>
            <a:endParaRPr lang="en-US" sz="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4" name="Text 128">
            <a:extLst>
              <a:ext uri="{FF2B5EF4-FFF2-40B4-BE49-F238E27FC236}">
                <a16:creationId xmlns:a16="http://schemas.microsoft.com/office/drawing/2014/main" id="{FB763EAE-4196-4504-B117-B9DCED19701F}"/>
              </a:ext>
            </a:extLst>
          </p:cNvPr>
          <p:cNvSpPr/>
          <p:nvPr/>
        </p:nvSpPr>
        <p:spPr>
          <a:xfrm>
            <a:off x="6661426" y="4361424"/>
            <a:ext cx="377190" cy="123444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750" dirty="0">
                <a:solidFill>
                  <a:srgbClr val="111111"/>
                </a:solidFill>
                <a:latin typeface="Arial" panose="020B0604020202020204" pitchFamily="34" charset="0"/>
                <a:ea typeface="Times New Roman" pitchFamily="34" charset="-122"/>
                <a:cs typeface="Arial" panose="020B0604020202020204" pitchFamily="34" charset="0"/>
              </a:rPr>
              <a:t>256</a:t>
            </a:r>
            <a:endParaRPr lang="en-US" sz="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5" name="Text 128">
            <a:extLst>
              <a:ext uri="{FF2B5EF4-FFF2-40B4-BE49-F238E27FC236}">
                <a16:creationId xmlns:a16="http://schemas.microsoft.com/office/drawing/2014/main" id="{5F17D412-0B06-46FE-87D5-BB7A23F63A40}"/>
              </a:ext>
            </a:extLst>
          </p:cNvPr>
          <p:cNvSpPr/>
          <p:nvPr/>
        </p:nvSpPr>
        <p:spPr>
          <a:xfrm>
            <a:off x="7104626" y="4361424"/>
            <a:ext cx="377190" cy="123444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750" dirty="0">
                <a:solidFill>
                  <a:srgbClr val="111111"/>
                </a:solidFill>
                <a:latin typeface="Arial" panose="020B0604020202020204" pitchFamily="34" charset="0"/>
                <a:ea typeface="Times New Roman" pitchFamily="34" charset="-122"/>
                <a:cs typeface="Arial" panose="020B0604020202020204" pitchFamily="34" charset="0"/>
              </a:rPr>
              <a:t>64</a:t>
            </a:r>
            <a:endParaRPr lang="en-US" sz="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6" name="Shape 46">
            <a:extLst>
              <a:ext uri="{FF2B5EF4-FFF2-40B4-BE49-F238E27FC236}">
                <a16:creationId xmlns:a16="http://schemas.microsoft.com/office/drawing/2014/main" id="{FB700446-0F18-4B02-9C32-ACEC3E362FF9}"/>
              </a:ext>
            </a:extLst>
          </p:cNvPr>
          <p:cNvSpPr/>
          <p:nvPr/>
        </p:nvSpPr>
        <p:spPr>
          <a:xfrm>
            <a:off x="7835206" y="4165664"/>
            <a:ext cx="296726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187" name="Shape 151">
            <a:extLst>
              <a:ext uri="{FF2B5EF4-FFF2-40B4-BE49-F238E27FC236}">
                <a16:creationId xmlns:a16="http://schemas.microsoft.com/office/drawing/2014/main" id="{37036E2C-6462-4902-9951-1B51BC5C9C6D}"/>
              </a:ext>
            </a:extLst>
          </p:cNvPr>
          <p:cNvSpPr/>
          <p:nvPr/>
        </p:nvSpPr>
        <p:spPr>
          <a:xfrm>
            <a:off x="8195400" y="4124516"/>
            <a:ext cx="82296" cy="82296"/>
          </a:xfrm>
          <a:prstGeom prst="ellipse">
            <a:avLst/>
          </a:prstGeom>
          <a:solidFill>
            <a:srgbClr val="92D050"/>
          </a:solidFill>
          <a:ln w="6350">
            <a:solidFill>
              <a:srgbClr val="7030A0"/>
            </a:solidFill>
            <a:prstDash val="solid"/>
          </a:ln>
        </p:spPr>
      </p:sp>
      <p:sp>
        <p:nvSpPr>
          <p:cNvPr id="189" name="Text 45">
            <a:extLst>
              <a:ext uri="{FF2B5EF4-FFF2-40B4-BE49-F238E27FC236}">
                <a16:creationId xmlns:a16="http://schemas.microsoft.com/office/drawing/2014/main" id="{6E719C4B-0C30-402B-8AFD-6410D5932789}"/>
              </a:ext>
            </a:extLst>
          </p:cNvPr>
          <p:cNvSpPr/>
          <p:nvPr/>
        </p:nvSpPr>
        <p:spPr>
          <a:xfrm>
            <a:off x="6013677" y="4660582"/>
            <a:ext cx="322727" cy="177737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750" dirty="0">
                <a:solidFill>
                  <a:srgbClr val="111111"/>
                </a:solidFill>
                <a:latin typeface="Arial" panose="020B0604020202020204" pitchFamily="34" charset="0"/>
                <a:ea typeface="Times New Roman" pitchFamily="34" charset="-122"/>
                <a:cs typeface="Arial" panose="020B0604020202020204" pitchFamily="34" charset="0"/>
              </a:rPr>
              <a:t>FC</a:t>
            </a:r>
            <a:endParaRPr lang="en-US" sz="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0" name="Shape 46">
            <a:extLst>
              <a:ext uri="{FF2B5EF4-FFF2-40B4-BE49-F238E27FC236}">
                <a16:creationId xmlns:a16="http://schemas.microsoft.com/office/drawing/2014/main" id="{3A54232B-4994-441A-A57A-E16DACD655A3}"/>
              </a:ext>
            </a:extLst>
          </p:cNvPr>
          <p:cNvSpPr/>
          <p:nvPr/>
        </p:nvSpPr>
        <p:spPr>
          <a:xfrm>
            <a:off x="6023848" y="4831461"/>
            <a:ext cx="296726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191" name="Shape 127">
            <a:extLst>
              <a:ext uri="{FF2B5EF4-FFF2-40B4-BE49-F238E27FC236}">
                <a16:creationId xmlns:a16="http://schemas.microsoft.com/office/drawing/2014/main" id="{B79F36E7-D12E-4BD1-81A0-91D07CA73CB5}"/>
              </a:ext>
            </a:extLst>
          </p:cNvPr>
          <p:cNvSpPr/>
          <p:nvPr/>
        </p:nvSpPr>
        <p:spPr>
          <a:xfrm>
            <a:off x="5883067" y="4612005"/>
            <a:ext cx="91349" cy="414909"/>
          </a:xfrm>
          <a:prstGeom prst="rect">
            <a:avLst/>
          </a:prstGeom>
          <a:solidFill>
            <a:srgbClr val="FFFFFF">
              <a:alpha val="0"/>
            </a:srgbClr>
          </a:solidFill>
          <a:ln w="13970">
            <a:solidFill>
              <a:srgbClr val="0044CC"/>
            </a:solidFill>
            <a:prstDash val="solid"/>
          </a:ln>
        </p:spPr>
        <p:txBody>
          <a:bodyPr/>
          <a:lstStyle/>
          <a:p>
            <a:endParaRPr lang="zh-CN" altLang="en-US" sz="13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2" name="Text 128">
            <a:extLst>
              <a:ext uri="{FF2B5EF4-FFF2-40B4-BE49-F238E27FC236}">
                <a16:creationId xmlns:a16="http://schemas.microsoft.com/office/drawing/2014/main" id="{061EB3EC-8C63-4122-8BDE-9DB2DAF2A329}"/>
              </a:ext>
            </a:extLst>
          </p:cNvPr>
          <p:cNvSpPr/>
          <p:nvPr/>
        </p:nvSpPr>
        <p:spPr>
          <a:xfrm>
            <a:off x="5740146" y="5042345"/>
            <a:ext cx="377190" cy="123444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750" dirty="0">
                <a:solidFill>
                  <a:srgbClr val="111111"/>
                </a:solidFill>
                <a:latin typeface="Arial" panose="020B0604020202020204" pitchFamily="34" charset="0"/>
                <a:ea typeface="Times New Roman" pitchFamily="34" charset="-122"/>
                <a:cs typeface="Arial" panose="020B0604020202020204" pitchFamily="34" charset="0"/>
              </a:rPr>
              <a:t>128</a:t>
            </a:r>
            <a:endParaRPr lang="en-US" sz="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3" name="Shape 131">
            <a:extLst>
              <a:ext uri="{FF2B5EF4-FFF2-40B4-BE49-F238E27FC236}">
                <a16:creationId xmlns:a16="http://schemas.microsoft.com/office/drawing/2014/main" id="{B6997A28-A89F-491C-8DD0-B573EE31DF4F}"/>
              </a:ext>
            </a:extLst>
          </p:cNvPr>
          <p:cNvSpPr/>
          <p:nvPr/>
        </p:nvSpPr>
        <p:spPr>
          <a:xfrm>
            <a:off x="6347123" y="4621664"/>
            <a:ext cx="91349" cy="414909"/>
          </a:xfrm>
          <a:prstGeom prst="rect">
            <a:avLst/>
          </a:prstGeom>
          <a:solidFill>
            <a:srgbClr val="FFFFFF">
              <a:alpha val="0"/>
            </a:srgbClr>
          </a:solidFill>
          <a:ln w="13970">
            <a:solidFill>
              <a:srgbClr val="0044CC"/>
            </a:solidFill>
            <a:prstDash val="solid"/>
          </a:ln>
        </p:spPr>
        <p:txBody>
          <a:bodyPr/>
          <a:lstStyle/>
          <a:p>
            <a:endParaRPr lang="zh-CN" altLang="en-US" sz="13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4" name="Shape 143">
            <a:extLst>
              <a:ext uri="{FF2B5EF4-FFF2-40B4-BE49-F238E27FC236}">
                <a16:creationId xmlns:a16="http://schemas.microsoft.com/office/drawing/2014/main" id="{3DFFCE5F-9F32-4EA5-89CD-63D79BCF8502}"/>
              </a:ext>
            </a:extLst>
          </p:cNvPr>
          <p:cNvSpPr/>
          <p:nvPr/>
        </p:nvSpPr>
        <p:spPr>
          <a:xfrm>
            <a:off x="7680730" y="4709446"/>
            <a:ext cx="131673" cy="301752"/>
          </a:xfrm>
          <a:prstGeom prst="rect">
            <a:avLst/>
          </a:prstGeom>
          <a:solidFill>
            <a:srgbClr val="FFFFFF">
              <a:alpha val="0"/>
            </a:srgbClr>
          </a:solidFill>
          <a:ln w="13970">
            <a:solidFill>
              <a:srgbClr val="0044CC"/>
            </a:solidFill>
            <a:prstDash val="solid"/>
          </a:ln>
        </p:spPr>
      </p:sp>
      <p:sp>
        <p:nvSpPr>
          <p:cNvPr id="197" name="Text 45">
            <a:extLst>
              <a:ext uri="{FF2B5EF4-FFF2-40B4-BE49-F238E27FC236}">
                <a16:creationId xmlns:a16="http://schemas.microsoft.com/office/drawing/2014/main" id="{39B6EDAE-F5C6-4425-8C96-3A74BD81B9D3}"/>
              </a:ext>
            </a:extLst>
          </p:cNvPr>
          <p:cNvSpPr/>
          <p:nvPr/>
        </p:nvSpPr>
        <p:spPr>
          <a:xfrm>
            <a:off x="6470900" y="4666354"/>
            <a:ext cx="322727" cy="177737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750" dirty="0">
                <a:solidFill>
                  <a:srgbClr val="111111"/>
                </a:solidFill>
                <a:latin typeface="Arial" panose="020B0604020202020204" pitchFamily="34" charset="0"/>
                <a:ea typeface="Times New Roman" pitchFamily="34" charset="-122"/>
                <a:cs typeface="Arial" panose="020B0604020202020204" pitchFamily="34" charset="0"/>
              </a:rPr>
              <a:t>FC</a:t>
            </a:r>
            <a:endParaRPr lang="en-US" sz="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8" name="Shape 46">
            <a:extLst>
              <a:ext uri="{FF2B5EF4-FFF2-40B4-BE49-F238E27FC236}">
                <a16:creationId xmlns:a16="http://schemas.microsoft.com/office/drawing/2014/main" id="{5D10692B-29D4-4A92-9A7F-EF6A158D3D03}"/>
              </a:ext>
            </a:extLst>
          </p:cNvPr>
          <p:cNvSpPr/>
          <p:nvPr/>
        </p:nvSpPr>
        <p:spPr>
          <a:xfrm>
            <a:off x="6481071" y="4837233"/>
            <a:ext cx="296726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199" name="Shape 131">
            <a:extLst>
              <a:ext uri="{FF2B5EF4-FFF2-40B4-BE49-F238E27FC236}">
                <a16:creationId xmlns:a16="http://schemas.microsoft.com/office/drawing/2014/main" id="{99D871A3-939F-4DEE-899B-8BB1E741236D}"/>
              </a:ext>
            </a:extLst>
          </p:cNvPr>
          <p:cNvSpPr/>
          <p:nvPr/>
        </p:nvSpPr>
        <p:spPr>
          <a:xfrm>
            <a:off x="6804346" y="4627436"/>
            <a:ext cx="91349" cy="414909"/>
          </a:xfrm>
          <a:prstGeom prst="rect">
            <a:avLst/>
          </a:prstGeom>
          <a:solidFill>
            <a:srgbClr val="FFFFFF">
              <a:alpha val="0"/>
            </a:srgbClr>
          </a:solidFill>
          <a:ln w="13970">
            <a:solidFill>
              <a:srgbClr val="0044CC"/>
            </a:solidFill>
            <a:prstDash val="solid"/>
          </a:ln>
        </p:spPr>
      </p:sp>
      <p:sp>
        <p:nvSpPr>
          <p:cNvPr id="200" name="Text 45">
            <a:extLst>
              <a:ext uri="{FF2B5EF4-FFF2-40B4-BE49-F238E27FC236}">
                <a16:creationId xmlns:a16="http://schemas.microsoft.com/office/drawing/2014/main" id="{067097CD-D434-49AE-8582-C8208F92CD10}"/>
              </a:ext>
            </a:extLst>
          </p:cNvPr>
          <p:cNvSpPr/>
          <p:nvPr/>
        </p:nvSpPr>
        <p:spPr>
          <a:xfrm>
            <a:off x="6928123" y="4675555"/>
            <a:ext cx="322727" cy="177737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750" dirty="0">
                <a:solidFill>
                  <a:srgbClr val="111111"/>
                </a:solidFill>
                <a:latin typeface="Arial" panose="020B0604020202020204" pitchFamily="34" charset="0"/>
                <a:ea typeface="Times New Roman" pitchFamily="34" charset="-122"/>
                <a:cs typeface="Arial" panose="020B0604020202020204" pitchFamily="34" charset="0"/>
              </a:rPr>
              <a:t>FC</a:t>
            </a:r>
            <a:endParaRPr lang="en-US" sz="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1" name="Shape 46">
            <a:extLst>
              <a:ext uri="{FF2B5EF4-FFF2-40B4-BE49-F238E27FC236}">
                <a16:creationId xmlns:a16="http://schemas.microsoft.com/office/drawing/2014/main" id="{9905B03C-4FBF-4A14-982A-8FDF33F29D79}"/>
              </a:ext>
            </a:extLst>
          </p:cNvPr>
          <p:cNvSpPr/>
          <p:nvPr/>
        </p:nvSpPr>
        <p:spPr>
          <a:xfrm>
            <a:off x="6938294" y="4846434"/>
            <a:ext cx="296726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202" name="Shape 131">
            <a:extLst>
              <a:ext uri="{FF2B5EF4-FFF2-40B4-BE49-F238E27FC236}">
                <a16:creationId xmlns:a16="http://schemas.microsoft.com/office/drawing/2014/main" id="{7836EC67-FC2A-42C2-86CC-6CA29DB9E845}"/>
              </a:ext>
            </a:extLst>
          </p:cNvPr>
          <p:cNvSpPr/>
          <p:nvPr/>
        </p:nvSpPr>
        <p:spPr>
          <a:xfrm>
            <a:off x="7261570" y="4636637"/>
            <a:ext cx="91349" cy="414909"/>
          </a:xfrm>
          <a:prstGeom prst="rect">
            <a:avLst/>
          </a:prstGeom>
          <a:solidFill>
            <a:srgbClr val="FFFFFF">
              <a:alpha val="0"/>
            </a:srgbClr>
          </a:solidFill>
          <a:ln w="13970">
            <a:solidFill>
              <a:srgbClr val="0044CC"/>
            </a:solidFill>
            <a:prstDash val="solid"/>
          </a:ln>
        </p:spPr>
      </p:sp>
      <p:sp>
        <p:nvSpPr>
          <p:cNvPr id="203" name="Shape 46">
            <a:extLst>
              <a:ext uri="{FF2B5EF4-FFF2-40B4-BE49-F238E27FC236}">
                <a16:creationId xmlns:a16="http://schemas.microsoft.com/office/drawing/2014/main" id="{23434E0E-81B4-4140-859B-FC408247721D}"/>
              </a:ext>
            </a:extLst>
          </p:cNvPr>
          <p:cNvSpPr/>
          <p:nvPr/>
        </p:nvSpPr>
        <p:spPr>
          <a:xfrm>
            <a:off x="7370518" y="4857179"/>
            <a:ext cx="296726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204" name="Text 128">
            <a:extLst>
              <a:ext uri="{FF2B5EF4-FFF2-40B4-BE49-F238E27FC236}">
                <a16:creationId xmlns:a16="http://schemas.microsoft.com/office/drawing/2014/main" id="{506647A7-31C8-4B6E-B0CB-0000EAE82F25}"/>
              </a:ext>
            </a:extLst>
          </p:cNvPr>
          <p:cNvSpPr/>
          <p:nvPr/>
        </p:nvSpPr>
        <p:spPr>
          <a:xfrm>
            <a:off x="6183346" y="5049488"/>
            <a:ext cx="377190" cy="123444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750" dirty="0">
                <a:solidFill>
                  <a:srgbClr val="111111"/>
                </a:solidFill>
                <a:latin typeface="Arial" panose="020B0604020202020204" pitchFamily="34" charset="0"/>
                <a:ea typeface="Times New Roman" pitchFamily="34" charset="-122"/>
                <a:cs typeface="Arial" panose="020B0604020202020204" pitchFamily="34" charset="0"/>
              </a:rPr>
              <a:t>256</a:t>
            </a:r>
            <a:endParaRPr lang="en-US" sz="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5" name="Text 128">
            <a:extLst>
              <a:ext uri="{FF2B5EF4-FFF2-40B4-BE49-F238E27FC236}">
                <a16:creationId xmlns:a16="http://schemas.microsoft.com/office/drawing/2014/main" id="{98D6DD58-A4E4-4C25-824A-386042FA6ADB}"/>
              </a:ext>
            </a:extLst>
          </p:cNvPr>
          <p:cNvSpPr/>
          <p:nvPr/>
        </p:nvSpPr>
        <p:spPr>
          <a:xfrm>
            <a:off x="6661426" y="5060369"/>
            <a:ext cx="377190" cy="123444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750" dirty="0">
                <a:solidFill>
                  <a:srgbClr val="111111"/>
                </a:solidFill>
                <a:latin typeface="Arial" panose="020B0604020202020204" pitchFamily="34" charset="0"/>
                <a:ea typeface="Times New Roman" pitchFamily="34" charset="-122"/>
                <a:cs typeface="Arial" panose="020B0604020202020204" pitchFamily="34" charset="0"/>
              </a:rPr>
              <a:t>256</a:t>
            </a:r>
            <a:endParaRPr lang="en-US" sz="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6" name="Text 128">
            <a:extLst>
              <a:ext uri="{FF2B5EF4-FFF2-40B4-BE49-F238E27FC236}">
                <a16:creationId xmlns:a16="http://schemas.microsoft.com/office/drawing/2014/main" id="{0CA734FC-41A9-42D1-A5AC-99C25DC91020}"/>
              </a:ext>
            </a:extLst>
          </p:cNvPr>
          <p:cNvSpPr/>
          <p:nvPr/>
        </p:nvSpPr>
        <p:spPr>
          <a:xfrm>
            <a:off x="7104626" y="5060369"/>
            <a:ext cx="377190" cy="123444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750" dirty="0">
                <a:solidFill>
                  <a:srgbClr val="111111"/>
                </a:solidFill>
                <a:latin typeface="Arial" panose="020B0604020202020204" pitchFamily="34" charset="0"/>
                <a:ea typeface="Times New Roman" pitchFamily="34" charset="-122"/>
                <a:cs typeface="Arial" panose="020B0604020202020204" pitchFamily="34" charset="0"/>
              </a:rPr>
              <a:t>64</a:t>
            </a:r>
            <a:endParaRPr lang="en-US" sz="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7" name="Shape 46">
            <a:extLst>
              <a:ext uri="{FF2B5EF4-FFF2-40B4-BE49-F238E27FC236}">
                <a16:creationId xmlns:a16="http://schemas.microsoft.com/office/drawing/2014/main" id="{E4ECCFC8-E708-4D6A-ABFD-C7E1874EAA4C}"/>
              </a:ext>
            </a:extLst>
          </p:cNvPr>
          <p:cNvSpPr/>
          <p:nvPr/>
        </p:nvSpPr>
        <p:spPr>
          <a:xfrm>
            <a:off x="7835206" y="4864608"/>
            <a:ext cx="296726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208" name="Shape 151">
            <a:extLst>
              <a:ext uri="{FF2B5EF4-FFF2-40B4-BE49-F238E27FC236}">
                <a16:creationId xmlns:a16="http://schemas.microsoft.com/office/drawing/2014/main" id="{A7762A9A-CB5D-4586-8483-77FF9C9EDFC7}"/>
              </a:ext>
            </a:extLst>
          </p:cNvPr>
          <p:cNvSpPr/>
          <p:nvPr/>
        </p:nvSpPr>
        <p:spPr>
          <a:xfrm>
            <a:off x="8195400" y="4823460"/>
            <a:ext cx="82296" cy="82296"/>
          </a:xfrm>
          <a:prstGeom prst="ellipse">
            <a:avLst/>
          </a:prstGeom>
          <a:solidFill>
            <a:srgbClr val="7030A0"/>
          </a:solidFill>
          <a:ln w="6350">
            <a:solidFill>
              <a:srgbClr val="7030A0"/>
            </a:solidFill>
            <a:prstDash val="solid"/>
          </a:ln>
        </p:spPr>
      </p:sp>
      <p:cxnSp>
        <p:nvCxnSpPr>
          <p:cNvPr id="209" name="连接符: 肘形 208">
            <a:extLst>
              <a:ext uri="{FF2B5EF4-FFF2-40B4-BE49-F238E27FC236}">
                <a16:creationId xmlns:a16="http://schemas.microsoft.com/office/drawing/2014/main" id="{4BBF5059-AF6F-47F9-BA9F-2F39CF32B5F4}"/>
              </a:ext>
            </a:extLst>
          </p:cNvPr>
          <p:cNvCxnSpPr>
            <a:cxnSpLocks/>
            <a:stCxn id="33" idx="0"/>
            <a:endCxn id="191" idx="1"/>
          </p:cNvCxnSpPr>
          <p:nvPr/>
        </p:nvCxnSpPr>
        <p:spPr>
          <a:xfrm rot="16200000" flipH="1">
            <a:off x="5213531" y="4149924"/>
            <a:ext cx="702374" cy="636697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2" name="Text 150">
            <a:extLst>
              <a:ext uri="{FF2B5EF4-FFF2-40B4-BE49-F238E27FC236}">
                <a16:creationId xmlns:a16="http://schemas.microsoft.com/office/drawing/2014/main" id="{3AF2F1EA-45F5-49C1-AB97-68405F65F7E0}"/>
              </a:ext>
            </a:extLst>
          </p:cNvPr>
          <p:cNvSpPr/>
          <p:nvPr/>
        </p:nvSpPr>
        <p:spPr>
          <a:xfrm>
            <a:off x="7484923" y="4504752"/>
            <a:ext cx="523287" cy="192024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600" dirty="0">
                <a:solidFill>
                  <a:srgbClr val="111111"/>
                </a:solidFill>
                <a:latin typeface="Arial" panose="020B0604020202020204" pitchFamily="34" charset="0"/>
                <a:ea typeface="Times New Roman" pitchFamily="34" charset="-122"/>
                <a:cs typeface="Arial" panose="020B0604020202020204" pitchFamily="34" charset="0"/>
              </a:rPr>
              <a:t>Critic</a:t>
            </a:r>
            <a:r>
              <a:rPr lang="en-US" sz="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600" dirty="0">
                <a:solidFill>
                  <a:srgbClr val="111111"/>
                </a:solidFill>
                <a:latin typeface="Arial" panose="020B0604020202020204" pitchFamily="34" charset="0"/>
                <a:ea typeface="Times New Roman" pitchFamily="34" charset="-122"/>
                <a:cs typeface="Arial" panose="020B0604020202020204" pitchFamily="34" charset="0"/>
              </a:rPr>
              <a:t>head</a:t>
            </a:r>
            <a:endParaRPr lang="en-US" sz="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13" name="连接符: 肘形 212">
            <a:extLst>
              <a:ext uri="{FF2B5EF4-FFF2-40B4-BE49-F238E27FC236}">
                <a16:creationId xmlns:a16="http://schemas.microsoft.com/office/drawing/2014/main" id="{48F4ABE3-9EFD-4919-A780-0121EC456216}"/>
              </a:ext>
            </a:extLst>
          </p:cNvPr>
          <p:cNvCxnSpPr>
            <a:cxnSpLocks/>
            <a:stCxn id="32" idx="0"/>
            <a:endCxn id="115" idx="1"/>
          </p:cNvCxnSpPr>
          <p:nvPr/>
        </p:nvCxnSpPr>
        <p:spPr>
          <a:xfrm rot="5400000" flipH="1" flipV="1">
            <a:off x="5072650" y="2764009"/>
            <a:ext cx="1050167" cy="702726"/>
          </a:xfrm>
          <a:prstGeom prst="bentConnector4">
            <a:avLst>
              <a:gd name="adj1" fmla="val 0"/>
              <a:gd name="adj2" fmla="val 188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1" name="矩形 220">
            <a:extLst>
              <a:ext uri="{FF2B5EF4-FFF2-40B4-BE49-F238E27FC236}">
                <a16:creationId xmlns:a16="http://schemas.microsoft.com/office/drawing/2014/main" id="{E0BB0A8B-EBC9-4BCE-B179-DC63C02F4529}"/>
              </a:ext>
            </a:extLst>
          </p:cNvPr>
          <p:cNvSpPr/>
          <p:nvPr/>
        </p:nvSpPr>
        <p:spPr>
          <a:xfrm>
            <a:off x="7474596" y="2389156"/>
            <a:ext cx="108000" cy="185166"/>
          </a:xfrm>
          <a:prstGeom prst="rect">
            <a:avLst/>
          </a:prstGeom>
          <a:solidFill>
            <a:schemeClr val="bg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2" name="矩形 221">
            <a:extLst>
              <a:ext uri="{FF2B5EF4-FFF2-40B4-BE49-F238E27FC236}">
                <a16:creationId xmlns:a16="http://schemas.microsoft.com/office/drawing/2014/main" id="{E62163C4-0E56-463C-8801-9833DDB40539}"/>
              </a:ext>
            </a:extLst>
          </p:cNvPr>
          <p:cNvSpPr/>
          <p:nvPr/>
        </p:nvSpPr>
        <p:spPr>
          <a:xfrm>
            <a:off x="7525457" y="2481739"/>
            <a:ext cx="108000" cy="185166"/>
          </a:xfrm>
          <a:prstGeom prst="rect">
            <a:avLst/>
          </a:prstGeom>
          <a:solidFill>
            <a:schemeClr val="bg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3" name="矩形 222">
            <a:extLst>
              <a:ext uri="{FF2B5EF4-FFF2-40B4-BE49-F238E27FC236}">
                <a16:creationId xmlns:a16="http://schemas.microsoft.com/office/drawing/2014/main" id="{E273FD4B-6243-4828-A461-B18F91F374CE}"/>
              </a:ext>
            </a:extLst>
          </p:cNvPr>
          <p:cNvSpPr/>
          <p:nvPr/>
        </p:nvSpPr>
        <p:spPr>
          <a:xfrm>
            <a:off x="7575302" y="2574322"/>
            <a:ext cx="108000" cy="185166"/>
          </a:xfrm>
          <a:prstGeom prst="rect">
            <a:avLst/>
          </a:prstGeom>
          <a:solidFill>
            <a:schemeClr val="bg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4" name="文本框 223">
            <a:extLst>
              <a:ext uri="{FF2B5EF4-FFF2-40B4-BE49-F238E27FC236}">
                <a16:creationId xmlns:a16="http://schemas.microsoft.com/office/drawing/2014/main" id="{6DBEB6A5-56A3-4C1B-AFDC-A212A14A8617}"/>
              </a:ext>
            </a:extLst>
          </p:cNvPr>
          <p:cNvSpPr txBox="1"/>
          <p:nvPr/>
        </p:nvSpPr>
        <p:spPr>
          <a:xfrm rot="3031321">
            <a:off x="7245148" y="2658504"/>
            <a:ext cx="49564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900" dirty="0">
                <a:latin typeface="Arial" panose="020B0604020202020204" pitchFamily="34" charset="0"/>
                <a:cs typeface="Arial" panose="020B0604020202020204" pitchFamily="34" charset="0"/>
              </a:rPr>
              <a:t>t…t+3</a:t>
            </a:r>
            <a:endParaRPr lang="zh-CN" alt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5" name="矩形 224">
            <a:extLst>
              <a:ext uri="{FF2B5EF4-FFF2-40B4-BE49-F238E27FC236}">
                <a16:creationId xmlns:a16="http://schemas.microsoft.com/office/drawing/2014/main" id="{91F52615-3426-4178-8108-84A77C6803E5}"/>
              </a:ext>
            </a:extLst>
          </p:cNvPr>
          <p:cNvSpPr/>
          <p:nvPr/>
        </p:nvSpPr>
        <p:spPr>
          <a:xfrm>
            <a:off x="7632275" y="2688622"/>
            <a:ext cx="108000" cy="185166"/>
          </a:xfrm>
          <a:prstGeom prst="rect">
            <a:avLst/>
          </a:prstGeom>
          <a:solidFill>
            <a:schemeClr val="bg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0" name="文本框 229">
            <a:extLst>
              <a:ext uri="{FF2B5EF4-FFF2-40B4-BE49-F238E27FC236}">
                <a16:creationId xmlns:a16="http://schemas.microsoft.com/office/drawing/2014/main" id="{F10F6C8E-60F9-4CDC-AA75-74135794BE44}"/>
              </a:ext>
            </a:extLst>
          </p:cNvPr>
          <p:cNvSpPr txBox="1"/>
          <p:nvPr/>
        </p:nvSpPr>
        <p:spPr>
          <a:xfrm>
            <a:off x="7800534" y="2533460"/>
            <a:ext cx="535724" cy="1962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675" dirty="0" err="1">
                <a:latin typeface="Arial" panose="020B0604020202020204" pitchFamily="34" charset="0"/>
                <a:cs typeface="Arial" panose="020B0604020202020204" pitchFamily="34" charset="0"/>
              </a:rPr>
              <a:t>dx_t,dy_t</a:t>
            </a:r>
            <a:endParaRPr lang="zh-CN" altLang="en-US" sz="675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6" name="Shape 113">
            <a:extLst>
              <a:ext uri="{FF2B5EF4-FFF2-40B4-BE49-F238E27FC236}">
                <a16:creationId xmlns:a16="http://schemas.microsoft.com/office/drawing/2014/main" id="{89D9A728-9121-4897-A82C-9CB38CA3948E}"/>
              </a:ext>
            </a:extLst>
          </p:cNvPr>
          <p:cNvSpPr/>
          <p:nvPr/>
        </p:nvSpPr>
        <p:spPr>
          <a:xfrm>
            <a:off x="6593793" y="2314959"/>
            <a:ext cx="91800" cy="567000"/>
          </a:xfrm>
          <a:prstGeom prst="rect">
            <a:avLst/>
          </a:prstGeom>
          <a:solidFill>
            <a:srgbClr val="FFFFFF">
              <a:alpha val="0"/>
            </a:srgbClr>
          </a:solidFill>
          <a:ln w="13970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zh-CN" altLang="en-US" sz="13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7" name="Shape 36">
            <a:extLst>
              <a:ext uri="{FF2B5EF4-FFF2-40B4-BE49-F238E27FC236}">
                <a16:creationId xmlns:a16="http://schemas.microsoft.com/office/drawing/2014/main" id="{02A97644-C025-47E6-B52F-001C8CE09050}"/>
              </a:ext>
            </a:extLst>
          </p:cNvPr>
          <p:cNvSpPr/>
          <p:nvPr/>
        </p:nvSpPr>
        <p:spPr>
          <a:xfrm flipV="1">
            <a:off x="6774218" y="2594327"/>
            <a:ext cx="500817" cy="8265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238" name="Text 128">
            <a:extLst>
              <a:ext uri="{FF2B5EF4-FFF2-40B4-BE49-F238E27FC236}">
                <a16:creationId xmlns:a16="http://schemas.microsoft.com/office/drawing/2014/main" id="{F44765B0-473F-426B-9BDD-C2A92CE73D07}"/>
              </a:ext>
            </a:extLst>
          </p:cNvPr>
          <p:cNvSpPr/>
          <p:nvPr/>
        </p:nvSpPr>
        <p:spPr>
          <a:xfrm>
            <a:off x="6456215" y="2907458"/>
            <a:ext cx="377190" cy="123444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750" dirty="0">
                <a:solidFill>
                  <a:srgbClr val="111111"/>
                </a:solidFill>
                <a:latin typeface="Arial" panose="020B0604020202020204" pitchFamily="34" charset="0"/>
                <a:ea typeface="Times New Roman" pitchFamily="34" charset="-122"/>
                <a:cs typeface="Arial" panose="020B0604020202020204" pitchFamily="34" charset="0"/>
              </a:rPr>
              <a:t>32</a:t>
            </a:r>
            <a:endParaRPr lang="en-US" sz="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9" name="Text 128">
            <a:extLst>
              <a:ext uri="{FF2B5EF4-FFF2-40B4-BE49-F238E27FC236}">
                <a16:creationId xmlns:a16="http://schemas.microsoft.com/office/drawing/2014/main" id="{1598D718-AFCF-445F-BB73-134C3800A413}"/>
              </a:ext>
            </a:extLst>
          </p:cNvPr>
          <p:cNvSpPr/>
          <p:nvPr/>
        </p:nvSpPr>
        <p:spPr>
          <a:xfrm>
            <a:off x="5825082" y="2901020"/>
            <a:ext cx="377190" cy="123444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750" dirty="0">
                <a:solidFill>
                  <a:srgbClr val="11111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128</a:t>
            </a:r>
            <a:endParaRPr lang="en-US" sz="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2" name="文本框 251">
            <a:extLst>
              <a:ext uri="{FF2B5EF4-FFF2-40B4-BE49-F238E27FC236}">
                <a16:creationId xmlns:a16="http://schemas.microsoft.com/office/drawing/2014/main" id="{3915D64D-22FE-4AE6-8052-9FB611EA082F}"/>
              </a:ext>
            </a:extLst>
          </p:cNvPr>
          <p:cNvSpPr txBox="1"/>
          <p:nvPr/>
        </p:nvSpPr>
        <p:spPr>
          <a:xfrm>
            <a:off x="3537174" y="3489001"/>
            <a:ext cx="271228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50" dirty="0"/>
              <a:t>+</a:t>
            </a:r>
            <a:endParaRPr lang="zh-CN" altLang="en-US" sz="1350" dirty="0"/>
          </a:p>
        </p:txBody>
      </p:sp>
      <p:sp>
        <p:nvSpPr>
          <p:cNvPr id="254" name="文本框 253">
            <a:extLst>
              <a:ext uri="{FF2B5EF4-FFF2-40B4-BE49-F238E27FC236}">
                <a16:creationId xmlns:a16="http://schemas.microsoft.com/office/drawing/2014/main" id="{3B57E559-02B5-4138-B6EE-1E48B23619B1}"/>
              </a:ext>
            </a:extLst>
          </p:cNvPr>
          <p:cNvSpPr txBox="1"/>
          <p:nvPr/>
        </p:nvSpPr>
        <p:spPr>
          <a:xfrm>
            <a:off x="2172598" y="4323947"/>
            <a:ext cx="427526" cy="4385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750" dirty="0">
                <a:latin typeface="Arial" panose="020B0604020202020204" pitchFamily="34" charset="0"/>
                <a:cs typeface="Arial" panose="020B0604020202020204" pitchFamily="34" charset="0"/>
              </a:rPr>
              <a:t>hidden state</a:t>
            </a:r>
            <a:endParaRPr lang="zh-CN" altLang="en-US" sz="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1722</TotalTime>
  <Words>226</Words>
  <Application>Microsoft Office PowerPoint</Application>
  <PresentationFormat>自定义</PresentationFormat>
  <Paragraphs>101</Paragraphs>
  <Slides>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7" baseType="lpstr">
      <vt:lpstr>Arial Unicode MS</vt:lpstr>
      <vt:lpstr>等线</vt:lpstr>
      <vt:lpstr>Arial</vt:lpstr>
      <vt:lpstr>Calibri</vt:lpstr>
      <vt:lpstr>Office Theme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/>
  <dc:creator/>
  <cp:keywords/>
  <dc:description>generated using python-pptx</dc:description>
  <cp:lastModifiedBy>huifeng Shi</cp:lastModifiedBy>
  <cp:revision>27</cp:revision>
  <dcterms:created xsi:type="dcterms:W3CDTF">2013-01-27T09:14:16Z</dcterms:created>
  <dcterms:modified xsi:type="dcterms:W3CDTF">2026-07-06T13:19:37Z</dcterms:modified>
  <cp:category/>
</cp:coreProperties>
</file>