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9144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2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9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772A2-C015-4EB9-8D66-0B73F411FD47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79239-CAAC-4878-BFBD-24C541A12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0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65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4483" y="438912"/>
            <a:ext cx="4169663" cy="3127248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522" y="585216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8992" y="438912"/>
            <a:ext cx="4114799" cy="3127248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4168" y="621222"/>
            <a:ext cx="3529583" cy="2754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C92525"/>
                </a:solidFill>
                <a:latin typeface="Arial"/>
              </a:rPr>
              <a:t>Policy</a:t>
            </a:r>
            <a:r>
              <a:rPr lang="en-US" sz="1550" b="1" dirty="0">
                <a:solidFill>
                  <a:srgbClr val="C92525"/>
                </a:solidFill>
                <a:latin typeface="Arial"/>
              </a:rPr>
              <a:t> Network</a:t>
            </a:r>
            <a:endParaRPr sz="1550" b="1" dirty="0">
              <a:solidFill>
                <a:srgbClr val="C92525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483" y="4061840"/>
            <a:ext cx="4169663" cy="3127248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522" y="4208145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Image-to-Observation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7278" y="4061840"/>
            <a:ext cx="4096513" cy="3127248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4168" y="4208145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301490" y="155448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5770" y="1379171"/>
            <a:ext cx="621792" cy="16773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50" b="0" dirty="0" err="1">
                <a:solidFill>
                  <a:srgbClr val="2F6FA7"/>
                </a:solidFill>
                <a:latin typeface="Arial"/>
              </a:rPr>
              <a:t>o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_t</a:t>
            </a:r>
            <a:r>
              <a:rPr sz="850" b="0" dirty="0">
                <a:solidFill>
                  <a:srgbClr val="2F6FA7"/>
                </a:solidFill>
                <a:latin typeface="Arial"/>
              </a:rPr>
              <a:t>, 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r_t</a:t>
            </a:r>
            <a:endParaRPr sz="850" b="0" dirty="0">
              <a:solidFill>
                <a:srgbClr val="2F6FA7"/>
              </a:solidFill>
              <a:latin typeface="Arial"/>
            </a:endParaRPr>
          </a:p>
        </p:txBody>
      </p:sp>
      <p:sp>
        <p:nvSpPr>
          <p:cNvPr id="22" name="Left Arrow 21"/>
          <p:cNvSpPr/>
          <p:nvPr/>
        </p:nvSpPr>
        <p:spPr>
          <a:xfrm>
            <a:off x="4301490" y="2048256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2658" y="2185415"/>
            <a:ext cx="27432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CF6F2E"/>
                </a:solidFill>
                <a:latin typeface="Arial"/>
              </a:rPr>
              <a:t>a_t</a:t>
            </a:r>
            <a:endParaRPr sz="900" b="0" dirty="0">
              <a:solidFill>
                <a:srgbClr val="CF6F2E"/>
              </a:solidFill>
              <a:latin typeface="Arial"/>
            </a:endParaRPr>
          </a:p>
        </p:txBody>
      </p:sp>
      <p:sp>
        <p:nvSpPr>
          <p:cNvPr id="24" name="Down Arrow 23"/>
          <p:cNvSpPr/>
          <p:nvPr/>
        </p:nvSpPr>
        <p:spPr>
          <a:xfrm rot="5400000">
            <a:off x="4481639" y="5505428"/>
            <a:ext cx="109728" cy="530352"/>
          </a:xfrm>
          <a:prstGeom prst="downArrow">
            <a:avLst/>
          </a:prstGeom>
          <a:solidFill>
            <a:schemeClr val="tx1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Up Arrow 25"/>
          <p:cNvSpPr/>
          <p:nvPr/>
        </p:nvSpPr>
        <p:spPr>
          <a:xfrm rot="10800000">
            <a:off x="6978396" y="3620264"/>
            <a:ext cx="109728" cy="427482"/>
          </a:xfrm>
          <a:prstGeom prst="upArrow">
            <a:avLst/>
          </a:prstGeom>
          <a:solidFill>
            <a:schemeClr val="tx1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09032" y="985098"/>
            <a:ext cx="813816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8336" y="962406"/>
            <a:ext cx="1078992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06512" y="985098"/>
            <a:ext cx="1036278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757672" y="1403604"/>
            <a:ext cx="685800" cy="1371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757672" y="1417320"/>
            <a:ext cx="685800" cy="32461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57672" y="1417320"/>
            <a:ext cx="685800" cy="80924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57672" y="1417320"/>
            <a:ext cx="685800" cy="112014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757672" y="1403604"/>
            <a:ext cx="685800" cy="31546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57672" y="1719072"/>
            <a:ext cx="685800" cy="228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57672" y="1719072"/>
            <a:ext cx="685800" cy="50749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57672" y="1719072"/>
            <a:ext cx="685800" cy="81838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57672" y="1403604"/>
            <a:ext cx="685800" cy="8275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757672" y="1741932"/>
            <a:ext cx="685800" cy="48920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57672" y="2226564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757672" y="2231136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57672" y="1403604"/>
            <a:ext cx="685800" cy="112928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57672" y="1741932"/>
            <a:ext cx="685800" cy="7909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57672" y="2226564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57672" y="2532888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681216" y="140360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681216" y="14036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681216" y="14036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81216" y="14036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81216" y="14036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81216" y="1741932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681216" y="17419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81216" y="17419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81216" y="14036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81216" y="17419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81216" y="222656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681216" y="22265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81216" y="14036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81216" y="17419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81216" y="22265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81216" y="2537460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623048" y="1403604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623048" y="1741932"/>
            <a:ext cx="768096" cy="22860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623048" y="1970532"/>
            <a:ext cx="768096" cy="2560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623048" y="1970532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65648" y="1321308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565648" y="1623060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5565648" y="2135124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565648" y="2436876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443472" y="12847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385304" y="12847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443472" y="16230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385304" y="16230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43472" y="21076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385304" y="21076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6443472" y="24185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385304" y="24185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534912" y="18790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534912" y="20253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7476744" y="18790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7476744" y="20253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391144" y="1851660"/>
            <a:ext cx="256032" cy="25603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954905" y="1479602"/>
            <a:ext cx="749808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</a:t>
            </a: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898136" y="2296126"/>
            <a:ext cx="969264" cy="1908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Temporal state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6552" y="2308860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dirty="0">
                <a:solidFill>
                  <a:srgbClr val="222222"/>
                </a:solidFill>
                <a:latin typeface="Arial"/>
              </a:rPr>
              <a:t>action </a:t>
            </a:r>
            <a:r>
              <a:rPr sz="819" b="0" dirty="0" err="1">
                <a:solidFill>
                  <a:srgbClr val="222222"/>
                </a:solidFill>
                <a:latin typeface="Arial"/>
              </a:rPr>
              <a:t>a_t</a:t>
            </a:r>
            <a:endParaRPr sz="819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27" name="Right Arrow 126"/>
          <p:cNvSpPr/>
          <p:nvPr/>
        </p:nvSpPr>
        <p:spPr>
          <a:xfrm>
            <a:off x="2590276" y="5537229"/>
            <a:ext cx="274320" cy="71504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AutoShape 4">
            <a:extLst>
              <a:ext uri="{FF2B5EF4-FFF2-40B4-BE49-F238E27FC236}">
                <a16:creationId xmlns:a16="http://schemas.microsoft.com/office/drawing/2014/main" id="{B855AAA3-75E4-4E2F-A544-A8E2D8517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657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7" name="图片 146">
            <a:extLst>
              <a:ext uri="{FF2B5EF4-FFF2-40B4-BE49-F238E27FC236}">
                <a16:creationId xmlns:a16="http://schemas.microsoft.com/office/drawing/2014/main" id="{1E0300BB-C96C-4F09-ACB1-22CF998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67"/>
          <a:stretch/>
        </p:blipFill>
        <p:spPr>
          <a:xfrm>
            <a:off x="830112" y="4916197"/>
            <a:ext cx="1641521" cy="13319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9" name="图片 148">
            <a:extLst>
              <a:ext uri="{FF2B5EF4-FFF2-40B4-BE49-F238E27FC236}">
                <a16:creationId xmlns:a16="http://schemas.microsoft.com/office/drawing/2014/main" id="{EE130DF0-D2EC-4DBF-BD37-96596DDD78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569" b="19911"/>
          <a:stretch/>
        </p:blipFill>
        <p:spPr>
          <a:xfrm>
            <a:off x="472440" y="1348240"/>
            <a:ext cx="2395726" cy="1645921"/>
          </a:xfrm>
          <a:prstGeom prst="rect">
            <a:avLst/>
          </a:prstGeom>
          <a:effectLst>
            <a:glow rad="101600">
              <a:schemeClr val="bg1">
                <a:lumMod val="75000"/>
                <a:alpha val="60000"/>
              </a:schemeClr>
            </a:glow>
          </a:effectLst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695B7BBB-B300-4EA5-8C51-2C72218BAB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375" b="5500"/>
          <a:stretch/>
        </p:blipFill>
        <p:spPr>
          <a:xfrm>
            <a:off x="5757672" y="4663589"/>
            <a:ext cx="2303598" cy="2252936"/>
          </a:xfrm>
          <a:prstGeom prst="rect">
            <a:avLst/>
          </a:prstGeom>
        </p:spPr>
      </p:pic>
      <p:sp>
        <p:nvSpPr>
          <p:cNvPr id="154" name="TextBox 62">
            <a:extLst>
              <a:ext uri="{FF2B5EF4-FFF2-40B4-BE49-F238E27FC236}">
                <a16:creationId xmlns:a16="http://schemas.microsoft.com/office/drawing/2014/main" id="{FA42DF31-D46F-4A6E-82E9-323FD69D57C0}"/>
              </a:ext>
            </a:extLst>
          </p:cNvPr>
          <p:cNvSpPr txBox="1"/>
          <p:nvPr/>
        </p:nvSpPr>
        <p:spPr>
          <a:xfrm>
            <a:off x="7993035" y="4658936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C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amera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5" name="梯形 154">
            <a:extLst>
              <a:ext uri="{FF2B5EF4-FFF2-40B4-BE49-F238E27FC236}">
                <a16:creationId xmlns:a16="http://schemas.microsoft.com/office/drawing/2014/main" id="{70BE3D1F-40B5-4DD0-B0D2-04D73FEE2421}"/>
              </a:ext>
            </a:extLst>
          </p:cNvPr>
          <p:cNvSpPr/>
          <p:nvPr/>
        </p:nvSpPr>
        <p:spPr>
          <a:xfrm rot="-120000">
            <a:off x="6623089" y="6262385"/>
            <a:ext cx="1363550" cy="390366"/>
          </a:xfrm>
          <a:prstGeom prst="trapezoid">
            <a:avLst>
              <a:gd name="adj" fmla="val 68103"/>
            </a:avLst>
          </a:prstGeom>
          <a:noFill/>
          <a:ln w="38100">
            <a:solidFill>
              <a:srgbClr val="A76257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TextBox 62">
            <a:extLst>
              <a:ext uri="{FF2B5EF4-FFF2-40B4-BE49-F238E27FC236}">
                <a16:creationId xmlns:a16="http://schemas.microsoft.com/office/drawing/2014/main" id="{07A84A4B-FB1E-43C5-9E5B-829719C11A0B}"/>
              </a:ext>
            </a:extLst>
          </p:cNvPr>
          <p:cNvSpPr txBox="1"/>
          <p:nvPr/>
        </p:nvSpPr>
        <p:spPr>
          <a:xfrm>
            <a:off x="8061270" y="5422816"/>
            <a:ext cx="1078992" cy="3477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W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10" b="1" dirty="0">
                <a:solidFill>
                  <a:srgbClr val="222222"/>
                </a:solidFill>
                <a:latin typeface="Arial"/>
              </a:rPr>
              <a:t>（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80x50cm</a:t>
            </a:r>
            <a:r>
              <a:rPr lang="zh-CN" altLang="en-US" sz="1010" b="1" dirty="0">
                <a:solidFill>
                  <a:srgbClr val="222222"/>
                </a:solidFill>
                <a:latin typeface="Arial"/>
              </a:rPr>
              <a:t>）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7" name="TextBox 62">
            <a:extLst>
              <a:ext uri="{FF2B5EF4-FFF2-40B4-BE49-F238E27FC236}">
                <a16:creationId xmlns:a16="http://schemas.microsoft.com/office/drawing/2014/main" id="{FABC5894-F079-48E8-97C7-1A09020A8F62}"/>
              </a:ext>
            </a:extLst>
          </p:cNvPr>
          <p:cNvSpPr txBox="1"/>
          <p:nvPr/>
        </p:nvSpPr>
        <p:spPr>
          <a:xfrm>
            <a:off x="4665605" y="6391913"/>
            <a:ext cx="1334679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R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obotic Arm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8" name="TextBox 62">
            <a:extLst>
              <a:ext uri="{FF2B5EF4-FFF2-40B4-BE49-F238E27FC236}">
                <a16:creationId xmlns:a16="http://schemas.microsoft.com/office/drawing/2014/main" id="{3ABB0537-963C-4655-B30A-64F7694BC7F5}"/>
              </a:ext>
            </a:extLst>
          </p:cNvPr>
          <p:cNvSpPr txBox="1"/>
          <p:nvPr/>
        </p:nvSpPr>
        <p:spPr>
          <a:xfrm>
            <a:off x="4788408" y="5382139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C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ontroller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F402F65C-F6DB-42ED-B1C4-7BE135FE1151}"/>
              </a:ext>
            </a:extLst>
          </p:cNvPr>
          <p:cNvCxnSpPr>
            <a:cxnSpLocks/>
          </p:cNvCxnSpPr>
          <p:nvPr/>
        </p:nvCxnSpPr>
        <p:spPr>
          <a:xfrm>
            <a:off x="5661660" y="5507507"/>
            <a:ext cx="1019556" cy="529438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02777E30-05CB-43FB-A694-70A6A30AE1E6}"/>
              </a:ext>
            </a:extLst>
          </p:cNvPr>
          <p:cNvCxnSpPr>
            <a:cxnSpLocks/>
          </p:cNvCxnSpPr>
          <p:nvPr/>
        </p:nvCxnSpPr>
        <p:spPr>
          <a:xfrm flipH="1">
            <a:off x="7304864" y="4793818"/>
            <a:ext cx="869109" cy="57478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C22AD6F6-37CA-4B5F-AD63-256BD5B5E3E1}"/>
              </a:ext>
            </a:extLst>
          </p:cNvPr>
          <p:cNvCxnSpPr>
            <a:cxnSpLocks/>
          </p:cNvCxnSpPr>
          <p:nvPr/>
        </p:nvCxnSpPr>
        <p:spPr>
          <a:xfrm flipH="1">
            <a:off x="7668307" y="5611729"/>
            <a:ext cx="556566" cy="611962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D0DEF4EF-36A7-4D58-8CCE-FB3DF292FC35}"/>
              </a:ext>
            </a:extLst>
          </p:cNvPr>
          <p:cNvCxnSpPr>
            <a:cxnSpLocks/>
          </p:cNvCxnSpPr>
          <p:nvPr/>
        </p:nvCxnSpPr>
        <p:spPr>
          <a:xfrm flipH="1">
            <a:off x="7311692" y="6384971"/>
            <a:ext cx="942292" cy="41446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69" name="图片 168">
            <a:extLst>
              <a:ext uri="{FF2B5EF4-FFF2-40B4-BE49-F238E27FC236}">
                <a16:creationId xmlns:a16="http://schemas.microsoft.com/office/drawing/2014/main" id="{C2E170DA-E9FF-46C0-8BD5-8B8B8EB89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816" y="6244194"/>
            <a:ext cx="673974" cy="522911"/>
          </a:xfrm>
          <a:prstGeom prst="rect">
            <a:avLst/>
          </a:prstGeom>
        </p:spPr>
      </p:pic>
      <p:sp>
        <p:nvSpPr>
          <p:cNvPr id="170" name="TextBox 62">
            <a:extLst>
              <a:ext uri="{FF2B5EF4-FFF2-40B4-BE49-F238E27FC236}">
                <a16:creationId xmlns:a16="http://schemas.microsoft.com/office/drawing/2014/main" id="{EAAD4515-8E28-4631-A3EC-010262D8EC35}"/>
              </a:ext>
            </a:extLst>
          </p:cNvPr>
          <p:cNvSpPr txBox="1"/>
          <p:nvPr/>
        </p:nvSpPr>
        <p:spPr>
          <a:xfrm>
            <a:off x="8061960" y="6747417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microrobot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pic>
        <p:nvPicPr>
          <p:cNvPr id="178" name="图片 177">
            <a:extLst>
              <a:ext uri="{FF2B5EF4-FFF2-40B4-BE49-F238E27FC236}">
                <a16:creationId xmlns:a16="http://schemas.microsoft.com/office/drawing/2014/main" id="{B8745DF7-8BEB-4EE8-A954-D3F779D8C0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07"/>
          <a:stretch/>
        </p:blipFill>
        <p:spPr>
          <a:xfrm>
            <a:off x="304869" y="5353405"/>
            <a:ext cx="1641522" cy="13282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2" name="右中括号 181">
            <a:extLst>
              <a:ext uri="{FF2B5EF4-FFF2-40B4-BE49-F238E27FC236}">
                <a16:creationId xmlns:a16="http://schemas.microsoft.com/office/drawing/2014/main" id="{297C3882-2B95-4369-821B-934FF4BCB207}"/>
              </a:ext>
            </a:extLst>
          </p:cNvPr>
          <p:cNvSpPr/>
          <p:nvPr/>
        </p:nvSpPr>
        <p:spPr>
          <a:xfrm rot="3060175">
            <a:off x="2228482" y="6247576"/>
            <a:ext cx="78592" cy="596116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Right Arrow 128">
            <a:extLst>
              <a:ext uri="{FF2B5EF4-FFF2-40B4-BE49-F238E27FC236}">
                <a16:creationId xmlns:a16="http://schemas.microsoft.com/office/drawing/2014/main" id="{BBA68BBE-C84C-40AA-B43A-5BEA2ACA2AEA}"/>
              </a:ext>
            </a:extLst>
          </p:cNvPr>
          <p:cNvSpPr/>
          <p:nvPr/>
        </p:nvSpPr>
        <p:spPr>
          <a:xfrm>
            <a:off x="2587397" y="6571893"/>
            <a:ext cx="274320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8">
            <a:extLst>
              <a:ext uri="{FF2B5EF4-FFF2-40B4-BE49-F238E27FC236}">
                <a16:creationId xmlns:a16="http://schemas.microsoft.com/office/drawing/2014/main" id="{22CC2423-321B-4665-8701-B188494E6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482" y="6092886"/>
            <a:ext cx="117765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Temporal state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Rounded Rectangle 129">
            <a:extLst>
              <a:ext uri="{FF2B5EF4-FFF2-40B4-BE49-F238E27FC236}">
                <a16:creationId xmlns:a16="http://schemas.microsoft.com/office/drawing/2014/main" id="{CA7C7D29-AB48-47C7-AA06-1C1276271E09}"/>
              </a:ext>
            </a:extLst>
          </p:cNvPr>
          <p:cNvSpPr/>
          <p:nvPr/>
        </p:nvSpPr>
        <p:spPr>
          <a:xfrm>
            <a:off x="5823295" y="3032726"/>
            <a:ext cx="648708" cy="330921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222222"/>
                </a:solidFill>
                <a:latin typeface="Arial"/>
              </a:rPr>
              <a:t>PPO update</a:t>
            </a:r>
            <a:endParaRPr sz="70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94" name="Rounded Rectangle 129">
            <a:extLst>
              <a:ext uri="{FF2B5EF4-FFF2-40B4-BE49-F238E27FC236}">
                <a16:creationId xmlns:a16="http://schemas.microsoft.com/office/drawing/2014/main" id="{2C075285-0140-4518-AE71-78A240FF1B4E}"/>
              </a:ext>
            </a:extLst>
          </p:cNvPr>
          <p:cNvSpPr/>
          <p:nvPr/>
        </p:nvSpPr>
        <p:spPr>
          <a:xfrm>
            <a:off x="6852364" y="3031834"/>
            <a:ext cx="648708" cy="330921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rollout data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5" name="Right Arrow 128">
            <a:extLst>
              <a:ext uri="{FF2B5EF4-FFF2-40B4-BE49-F238E27FC236}">
                <a16:creationId xmlns:a16="http://schemas.microsoft.com/office/drawing/2014/main" id="{54A73766-646E-45DB-991E-8ACE8B9E0AE5}"/>
              </a:ext>
            </a:extLst>
          </p:cNvPr>
          <p:cNvSpPr/>
          <p:nvPr/>
        </p:nvSpPr>
        <p:spPr>
          <a:xfrm rot="5400000" flipH="1">
            <a:off x="5954714" y="2773246"/>
            <a:ext cx="321039" cy="113933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ight Arrow 128">
            <a:extLst>
              <a:ext uri="{FF2B5EF4-FFF2-40B4-BE49-F238E27FC236}">
                <a16:creationId xmlns:a16="http://schemas.microsoft.com/office/drawing/2014/main" id="{70949C26-DFE3-4CB7-9785-5DA5E157D7AE}"/>
              </a:ext>
            </a:extLst>
          </p:cNvPr>
          <p:cNvSpPr/>
          <p:nvPr/>
        </p:nvSpPr>
        <p:spPr>
          <a:xfrm flipH="1">
            <a:off x="6489608" y="3140327"/>
            <a:ext cx="321039" cy="113933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0F547F6F-80F8-4146-8C85-3BA575ED7CD5}"/>
              </a:ext>
            </a:extLst>
          </p:cNvPr>
          <p:cNvCxnSpPr>
            <a:cxnSpLocks/>
            <a:stCxn id="120" idx="2"/>
            <a:endCxn id="194" idx="3"/>
          </p:cNvCxnSpPr>
          <p:nvPr/>
        </p:nvCxnSpPr>
        <p:spPr>
          <a:xfrm rot="5400000">
            <a:off x="7698487" y="2294325"/>
            <a:ext cx="705555" cy="1100384"/>
          </a:xfrm>
          <a:prstGeom prst="bent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">
            <a:extLst>
              <a:ext uri="{FF2B5EF4-FFF2-40B4-BE49-F238E27FC236}">
                <a16:creationId xmlns:a16="http://schemas.microsoft.com/office/drawing/2014/main" id="{AAD48491-179A-4C83-B4FB-0A5D0D0A8BD7}"/>
              </a:ext>
            </a:extLst>
          </p:cNvPr>
          <p:cNvSpPr txBox="1"/>
          <p:nvPr/>
        </p:nvSpPr>
        <p:spPr>
          <a:xfrm>
            <a:off x="7710984" y="3000636"/>
            <a:ext cx="693265" cy="16773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50" b="0" dirty="0">
                <a:solidFill>
                  <a:srgbClr val="2F6FA7"/>
                </a:solidFill>
                <a:latin typeface="Arial"/>
              </a:rPr>
              <a:t>(</a:t>
            </a:r>
            <a:r>
              <a:rPr lang="en-US" sz="850" dirty="0" err="1">
                <a:solidFill>
                  <a:srgbClr val="2F6FA7"/>
                </a:solidFill>
                <a:latin typeface="Arial"/>
              </a:rPr>
              <a:t>o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_t</a:t>
            </a:r>
            <a:r>
              <a:rPr sz="850" b="0" dirty="0">
                <a:solidFill>
                  <a:srgbClr val="2F6FA7"/>
                </a:solidFill>
                <a:latin typeface="Arial"/>
              </a:rPr>
              <a:t>, 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r_t</a:t>
            </a:r>
            <a:r>
              <a:rPr lang="en-US" sz="850" b="0" dirty="0">
                <a:solidFill>
                  <a:srgbClr val="2F6FA7"/>
                </a:solidFill>
                <a:latin typeface="Arial"/>
              </a:rPr>
              <a:t>,</a:t>
            </a:r>
            <a:r>
              <a:rPr lang="en-US" sz="850" dirty="0">
                <a:solidFill>
                  <a:srgbClr val="2F6FA7"/>
                </a:solidFill>
                <a:latin typeface="Arial"/>
              </a:rPr>
              <a:t> </a:t>
            </a:r>
            <a:r>
              <a:rPr lang="en-US" altLang="zh-CN" sz="850" dirty="0" err="1">
                <a:solidFill>
                  <a:srgbClr val="2F6FA7"/>
                </a:solidFill>
                <a:latin typeface="Arial"/>
              </a:rPr>
              <a:t>a_t</a:t>
            </a:r>
            <a:r>
              <a:rPr lang="en-US" altLang="zh-CN" sz="850" dirty="0">
                <a:solidFill>
                  <a:srgbClr val="2F6FA7"/>
                </a:solidFill>
                <a:latin typeface="Arial"/>
              </a:rPr>
              <a:t>)</a:t>
            </a:r>
            <a:endParaRPr sz="850" b="0" dirty="0">
              <a:solidFill>
                <a:srgbClr val="2F6FA7"/>
              </a:solidFill>
              <a:latin typeface="Arial"/>
            </a:endParaRPr>
          </a:p>
        </p:txBody>
      </p:sp>
      <p:sp>
        <p:nvSpPr>
          <p:cNvPr id="204" name="TextBox 61">
            <a:extLst>
              <a:ext uri="{FF2B5EF4-FFF2-40B4-BE49-F238E27FC236}">
                <a16:creationId xmlns:a16="http://schemas.microsoft.com/office/drawing/2014/main" id="{C8C7DEF0-DA9E-477A-807D-10DC2521336A}"/>
              </a:ext>
            </a:extLst>
          </p:cNvPr>
          <p:cNvSpPr txBox="1"/>
          <p:nvPr/>
        </p:nvSpPr>
        <p:spPr>
          <a:xfrm>
            <a:off x="3046491" y="1050672"/>
            <a:ext cx="902765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Task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205" name="TextBox 61">
            <a:extLst>
              <a:ext uri="{FF2B5EF4-FFF2-40B4-BE49-F238E27FC236}">
                <a16:creationId xmlns:a16="http://schemas.microsoft.com/office/drawing/2014/main" id="{742BDE8D-A3BC-47D7-AC01-15D79E0C8477}"/>
              </a:ext>
            </a:extLst>
          </p:cNvPr>
          <p:cNvSpPr txBox="1"/>
          <p:nvPr/>
        </p:nvSpPr>
        <p:spPr>
          <a:xfrm>
            <a:off x="2932557" y="1331335"/>
            <a:ext cx="1219581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• Pursuit-evasion interaction</a:t>
            </a:r>
            <a:endParaRPr sz="1010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Box 61">
            <a:extLst>
              <a:ext uri="{FF2B5EF4-FFF2-40B4-BE49-F238E27FC236}">
                <a16:creationId xmlns:a16="http://schemas.microsoft.com/office/drawing/2014/main" id="{ED12FC04-1108-40A9-8769-37BB559FF99E}"/>
              </a:ext>
            </a:extLst>
          </p:cNvPr>
          <p:cNvSpPr txBox="1"/>
          <p:nvPr/>
        </p:nvSpPr>
        <p:spPr>
          <a:xfrm>
            <a:off x="3046491" y="1754957"/>
            <a:ext cx="1017255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207" name="TextBox 61">
            <a:extLst>
              <a:ext uri="{FF2B5EF4-FFF2-40B4-BE49-F238E27FC236}">
                <a16:creationId xmlns:a16="http://schemas.microsoft.com/office/drawing/2014/main" id="{AD747629-B210-4A78-9795-D4BE4464E802}"/>
              </a:ext>
            </a:extLst>
          </p:cNvPr>
          <p:cNvSpPr txBox="1"/>
          <p:nvPr/>
        </p:nvSpPr>
        <p:spPr>
          <a:xfrm>
            <a:off x="3037332" y="1995115"/>
            <a:ext cx="1219581" cy="52168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Virtual hand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Microrobot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Workspace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08" name="TextBox 61">
            <a:extLst>
              <a:ext uri="{FF2B5EF4-FFF2-40B4-BE49-F238E27FC236}">
                <a16:creationId xmlns:a16="http://schemas.microsoft.com/office/drawing/2014/main" id="{4FC29737-750A-42DD-A350-0AC9A151308B}"/>
              </a:ext>
            </a:extLst>
          </p:cNvPr>
          <p:cNvSpPr txBox="1"/>
          <p:nvPr/>
        </p:nvSpPr>
        <p:spPr>
          <a:xfrm>
            <a:off x="3046491" y="2588535"/>
            <a:ext cx="910389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61">
            <a:extLst>
              <a:ext uri="{FF2B5EF4-FFF2-40B4-BE49-F238E27FC236}">
                <a16:creationId xmlns:a16="http://schemas.microsoft.com/office/drawing/2014/main" id="{1036EB8E-9D11-427B-BAE5-CE56E4C57B02}"/>
              </a:ext>
            </a:extLst>
          </p:cNvPr>
          <p:cNvSpPr txBox="1"/>
          <p:nvPr/>
        </p:nvSpPr>
        <p:spPr>
          <a:xfrm>
            <a:off x="2922856" y="2874623"/>
            <a:ext cx="1219581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2D microrobot motion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E776DD72-CA13-4EFB-8D3C-AD041F234117}"/>
              </a:ext>
            </a:extLst>
          </p:cNvPr>
          <p:cNvSpPr txBox="1"/>
          <p:nvPr/>
        </p:nvSpPr>
        <p:spPr>
          <a:xfrm>
            <a:off x="4273277" y="5513289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A652BDC9-7DD6-4BDC-B1B7-EE9F07395EDA}"/>
              </a:ext>
            </a:extLst>
          </p:cNvPr>
          <p:cNvSpPr txBox="1"/>
          <p:nvPr/>
        </p:nvSpPr>
        <p:spPr>
          <a:xfrm>
            <a:off x="5916285" y="3735737"/>
            <a:ext cx="1164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motion command</a:t>
            </a:r>
            <a:endParaRPr lang="en-US" altLang="zh-CN" sz="1000" b="0" dirty="0">
              <a:solidFill>
                <a:srgbClr val="CF6F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Right Arrow 19">
            <a:extLst>
              <a:ext uri="{FF2B5EF4-FFF2-40B4-BE49-F238E27FC236}">
                <a16:creationId xmlns:a16="http://schemas.microsoft.com/office/drawing/2014/main" id="{54565FA9-F6F0-49B4-A281-C530043F0A08}"/>
              </a:ext>
            </a:extLst>
          </p:cNvPr>
          <p:cNvSpPr/>
          <p:nvPr/>
        </p:nvSpPr>
        <p:spPr>
          <a:xfrm rot="19355415">
            <a:off x="4173394" y="3852490"/>
            <a:ext cx="860342" cy="94499"/>
          </a:xfrm>
          <a:prstGeom prst="rightArrow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7B8A0140-00B8-4194-8240-B7551F163CED}"/>
              </a:ext>
            </a:extLst>
          </p:cNvPr>
          <p:cNvSpPr txBox="1"/>
          <p:nvPr/>
        </p:nvSpPr>
        <p:spPr>
          <a:xfrm rot="20133692">
            <a:off x="4021596" y="3470290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Real-time </a:t>
            </a:r>
            <a:endParaRPr lang="en-US" altLang="zh-C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bservation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10F67FB-45FE-4F4C-885F-2C8819434168}"/>
              </a:ext>
            </a:extLst>
          </p:cNvPr>
          <p:cNvSpPr txBox="1"/>
          <p:nvPr/>
        </p:nvSpPr>
        <p:spPr>
          <a:xfrm>
            <a:off x="2983239" y="5114628"/>
            <a:ext cx="1273674" cy="89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Hand position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Microrobot position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Relative distance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Boundary distances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Box 61">
            <a:extLst>
              <a:ext uri="{FF2B5EF4-FFF2-40B4-BE49-F238E27FC236}">
                <a16:creationId xmlns:a16="http://schemas.microsoft.com/office/drawing/2014/main" id="{AB81B2AF-F662-4E52-92CE-23AA090A3127}"/>
              </a:ext>
            </a:extLst>
          </p:cNvPr>
          <p:cNvSpPr txBox="1"/>
          <p:nvPr/>
        </p:nvSpPr>
        <p:spPr>
          <a:xfrm>
            <a:off x="2946974" y="4896113"/>
            <a:ext cx="1219581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  <a:r>
              <a:rPr kumimoji="0" lang="zh-CN" altLang="zh-CN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D79B6C2-7A72-406A-81A2-A44949C7BF40}"/>
              </a:ext>
            </a:extLst>
          </p:cNvPr>
          <p:cNvSpPr txBox="1"/>
          <p:nvPr/>
        </p:nvSpPr>
        <p:spPr>
          <a:xfrm>
            <a:off x="3007946" y="6401344"/>
            <a:ext cx="117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• hand displacements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B8E4198-6D33-4231-9B7F-20FF4E1F5D6E}"/>
              </a:ext>
            </a:extLst>
          </p:cNvPr>
          <p:cNvSpPr txBox="1"/>
          <p:nvPr/>
        </p:nvSpPr>
        <p:spPr>
          <a:xfrm>
            <a:off x="2445727" y="5664504"/>
            <a:ext cx="876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zh-CN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48E4B07-5231-4486-A144-E5E235C93BA1}"/>
              </a:ext>
            </a:extLst>
          </p:cNvPr>
          <p:cNvSpPr txBox="1"/>
          <p:nvPr/>
        </p:nvSpPr>
        <p:spPr>
          <a:xfrm>
            <a:off x="2295305" y="6693556"/>
            <a:ext cx="10836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Motion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24113" y="2747987"/>
            <a:ext cx="1630233" cy="174255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6666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447887" y="2773920"/>
            <a:ext cx="1591056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Fusion module</a:t>
            </a:r>
          </a:p>
        </p:txBody>
      </p:sp>
      <p:sp>
        <p:nvSpPr>
          <p:cNvPr id="5" name="Shape 3"/>
          <p:cNvSpPr/>
          <p:nvPr/>
        </p:nvSpPr>
        <p:spPr>
          <a:xfrm>
            <a:off x="5508114" y="1707092"/>
            <a:ext cx="2990088" cy="16242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508114" y="1761077"/>
            <a:ext cx="2990088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Auxiliary task module</a:t>
            </a:r>
          </a:p>
        </p:txBody>
      </p:sp>
      <p:sp>
        <p:nvSpPr>
          <p:cNvPr id="7" name="Shape 5"/>
          <p:cNvSpPr/>
          <p:nvPr/>
        </p:nvSpPr>
        <p:spPr>
          <a:xfrm>
            <a:off x="5527548" y="3456468"/>
            <a:ext cx="2970654" cy="1881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44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27548" y="3496816"/>
            <a:ext cx="2970654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PPO actor-critic module</a:t>
            </a:r>
          </a:p>
        </p:txBody>
      </p:sp>
      <p:sp>
        <p:nvSpPr>
          <p:cNvPr id="9" name="Text 7"/>
          <p:cNvSpPr/>
          <p:nvPr/>
        </p:nvSpPr>
        <p:spPr>
          <a:xfrm>
            <a:off x="935879" y="1732544"/>
            <a:ext cx="205740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Spatial state branch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0664" y="3678174"/>
            <a:ext cx="222885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Temporal state branch</a:t>
            </a:r>
          </a:p>
        </p:txBody>
      </p:sp>
      <p:sp>
        <p:nvSpPr>
          <p:cNvPr id="11" name="Shape 9"/>
          <p:cNvSpPr/>
          <p:nvPr/>
        </p:nvSpPr>
        <p:spPr>
          <a:xfrm>
            <a:off x="1034838" y="2633471"/>
            <a:ext cx="872853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91694" y="2455164"/>
            <a:ext cx="77495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2110015" y="2634614"/>
            <a:ext cx="600294" cy="685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24338" y="4618292"/>
            <a:ext cx="21278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63396" y="4609490"/>
            <a:ext cx="42892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756228" y="4609645"/>
            <a:ext cx="225039" cy="236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09400" y="3637026"/>
            <a:ext cx="23218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29164" y="3640455"/>
            <a:ext cx="51879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299966" y="3493008"/>
            <a:ext cx="411480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98038" y="3640455"/>
            <a:ext cx="34833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46370" y="3640455"/>
            <a:ext cx="0" cy="47663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6370" y="4117086"/>
            <a:ext cx="62407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396567" y="2427009"/>
            <a:ext cx="58978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 flipV="1">
            <a:off x="6078689" y="2602382"/>
            <a:ext cx="500817" cy="826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015293" y="2430932"/>
            <a:ext cx="62407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845567" y="4120515"/>
            <a:ext cx="24881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013677" y="3961638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023848" y="4132517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63722" y="2112950"/>
            <a:ext cx="133616" cy="1041044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3722" y="2404442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3722" y="2518957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3722" y="2747987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3722" y="2862501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7373" y="2538831"/>
            <a:ext cx="226314" cy="189281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12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⋮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14504" y="1947342"/>
            <a:ext cx="432054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s_t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80213" y="3189683"/>
            <a:ext cx="50063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1945192" y="2219249"/>
            <a:ext cx="130949" cy="81473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7809" y="2227250"/>
            <a:ext cx="134800" cy="81473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92324" y="2051726"/>
            <a:ext cx="45948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z_s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92324" y="3196284"/>
            <a:ext cx="44577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67047" y="4100513"/>
            <a:ext cx="137664" cy="1018413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7047" y="4385668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7047" y="4497693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7047" y="4721744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7047" y="4833770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9293" y="4517136"/>
            <a:ext cx="233172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12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⋮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716423" y="3954780"/>
            <a:ext cx="43891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/>
          </a:bodyPr>
          <a:lstStyle/>
          <a:p>
            <a:pPr algn="ctr"/>
            <a:r>
              <a:rPr lang="en-US" sz="750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X_{ t-15:t }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682133" y="5144072"/>
            <a:ext cx="507492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16 x 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241729" y="4214929"/>
            <a:ext cx="909117" cy="80900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3300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1012104" y="4244316"/>
            <a:ext cx="147447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GRU encoder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354469" y="4407144"/>
            <a:ext cx="696610" cy="37719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11887" y="4516872"/>
            <a:ext cx="212598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GRU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391860" y="4835554"/>
            <a:ext cx="37719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x_{t−15}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1653641" y="4835554"/>
            <a:ext cx="30861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⋯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773656" y="4835554"/>
            <a:ext cx="37719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x_t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2615768" y="4184123"/>
            <a:ext cx="103989" cy="875081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465452" y="4003308"/>
            <a:ext cx="40462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h_T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2472310" y="5081972"/>
            <a:ext cx="39090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2990498" y="4171950"/>
            <a:ext cx="103989" cy="875081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851831" y="4014788"/>
            <a:ext cx="40462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z_h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2893376" y="5052559"/>
            <a:ext cx="39090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554113" y="3520441"/>
            <a:ext cx="232184" cy="233171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72260" y="3808361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concat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4079084" y="3244406"/>
            <a:ext cx="112580" cy="79209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2A33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22776" y="3088386"/>
            <a:ext cx="42519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3929634" y="4034790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4785458" y="3244406"/>
            <a:ext cx="112580" cy="79209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E6A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29150" y="3088386"/>
            <a:ext cx="42519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4636008" y="4034790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5949096" y="2306788"/>
            <a:ext cx="91800" cy="5670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8846820" y="2098918"/>
            <a:ext cx="49377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5883067" y="3913061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740146" y="4343400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6347123" y="3922719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680730" y="4010501"/>
            <a:ext cx="131673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474596" y="3836477"/>
            <a:ext cx="523287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Actor head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 146"/>
          <p:cNvSpPr/>
          <p:nvPr/>
        </p:nvSpPr>
        <p:spPr>
          <a:xfrm>
            <a:off x="8093580" y="3928491"/>
            <a:ext cx="30175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7990710" y="4244316"/>
            <a:ext cx="507492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2D action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8100942" y="4676177"/>
            <a:ext cx="288036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V_t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8039929" y="4970000"/>
            <a:ext cx="432054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(scalar)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 70">
            <a:extLst>
              <a:ext uri="{FF2B5EF4-FFF2-40B4-BE49-F238E27FC236}">
                <a16:creationId xmlns:a16="http://schemas.microsoft.com/office/drawing/2014/main" id="{5933548D-4BC1-4B72-ADF8-24E521008D01}"/>
              </a:ext>
            </a:extLst>
          </p:cNvPr>
          <p:cNvSpPr/>
          <p:nvPr/>
        </p:nvSpPr>
        <p:spPr>
          <a:xfrm>
            <a:off x="1763778" y="3189683"/>
            <a:ext cx="50063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7533B336-11DD-4708-9B58-286BA43458C4}"/>
              </a:ext>
            </a:extLst>
          </p:cNvPr>
          <p:cNvSpPr/>
          <p:nvPr/>
        </p:nvSpPr>
        <p:spPr>
          <a:xfrm>
            <a:off x="2559973" y="4413695"/>
            <a:ext cx="61818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83B03BBC-E4A4-40E3-9023-B2A4A2D47BDE}"/>
              </a:ext>
            </a:extLst>
          </p:cNvPr>
          <p:cNvCxnSpPr>
            <a:cxnSpLocks/>
            <a:stCxn id="103" idx="3"/>
            <a:endCxn id="106" idx="2"/>
          </p:cNvCxnSpPr>
          <p:nvPr/>
        </p:nvCxnSpPr>
        <p:spPr>
          <a:xfrm flipV="1">
            <a:off x="3094487" y="3637027"/>
            <a:ext cx="459627" cy="9724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连接符: 肘形 165">
            <a:extLst>
              <a:ext uri="{FF2B5EF4-FFF2-40B4-BE49-F238E27FC236}">
                <a16:creationId xmlns:a16="http://schemas.microsoft.com/office/drawing/2014/main" id="{E87D2BB1-0110-44B4-9C2C-256FAC3ED454}"/>
              </a:ext>
            </a:extLst>
          </p:cNvPr>
          <p:cNvCxnSpPr>
            <a:cxnSpLocks/>
            <a:stCxn id="74" idx="3"/>
            <a:endCxn id="106" idx="2"/>
          </p:cNvCxnSpPr>
          <p:nvPr/>
        </p:nvCxnSpPr>
        <p:spPr>
          <a:xfrm>
            <a:off x="2882609" y="2634615"/>
            <a:ext cx="671505" cy="1002411"/>
          </a:xfrm>
          <a:prstGeom prst="bentConnector3">
            <a:avLst>
              <a:gd name="adj1" fmla="val 6489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 10">
            <a:extLst>
              <a:ext uri="{FF2B5EF4-FFF2-40B4-BE49-F238E27FC236}">
                <a16:creationId xmlns:a16="http://schemas.microsoft.com/office/drawing/2014/main" id="{AF75F240-EC29-4F1E-9D37-28C2B2325A37}"/>
              </a:ext>
            </a:extLst>
          </p:cNvPr>
          <p:cNvSpPr/>
          <p:nvPr/>
        </p:nvSpPr>
        <p:spPr>
          <a:xfrm>
            <a:off x="2021456" y="2426133"/>
            <a:ext cx="77495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 45">
            <a:extLst>
              <a:ext uri="{FF2B5EF4-FFF2-40B4-BE49-F238E27FC236}">
                <a16:creationId xmlns:a16="http://schemas.microsoft.com/office/drawing/2014/main" id="{090CE591-0BA3-4BD0-97DD-11D1B1E9AF9C}"/>
              </a:ext>
            </a:extLst>
          </p:cNvPr>
          <p:cNvSpPr/>
          <p:nvPr/>
        </p:nvSpPr>
        <p:spPr>
          <a:xfrm>
            <a:off x="6470900" y="3967410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Shape 46">
            <a:extLst>
              <a:ext uri="{FF2B5EF4-FFF2-40B4-BE49-F238E27FC236}">
                <a16:creationId xmlns:a16="http://schemas.microsoft.com/office/drawing/2014/main" id="{E3D11099-0B2B-44C9-BAE2-CB1458FFAB16}"/>
              </a:ext>
            </a:extLst>
          </p:cNvPr>
          <p:cNvSpPr/>
          <p:nvPr/>
        </p:nvSpPr>
        <p:spPr>
          <a:xfrm>
            <a:off x="6481071" y="4138289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5" name="Shape 131">
            <a:extLst>
              <a:ext uri="{FF2B5EF4-FFF2-40B4-BE49-F238E27FC236}">
                <a16:creationId xmlns:a16="http://schemas.microsoft.com/office/drawing/2014/main" id="{C308A46E-2672-4785-A0B4-4C21B69D5FDC}"/>
              </a:ext>
            </a:extLst>
          </p:cNvPr>
          <p:cNvSpPr/>
          <p:nvPr/>
        </p:nvSpPr>
        <p:spPr>
          <a:xfrm>
            <a:off x="6804346" y="3928491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76" name="Text 45">
            <a:extLst>
              <a:ext uri="{FF2B5EF4-FFF2-40B4-BE49-F238E27FC236}">
                <a16:creationId xmlns:a16="http://schemas.microsoft.com/office/drawing/2014/main" id="{23ED166E-50E3-4087-8FA1-595D26941A9A}"/>
              </a:ext>
            </a:extLst>
          </p:cNvPr>
          <p:cNvSpPr/>
          <p:nvPr/>
        </p:nvSpPr>
        <p:spPr>
          <a:xfrm>
            <a:off x="6928123" y="3976611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Shape 46">
            <a:extLst>
              <a:ext uri="{FF2B5EF4-FFF2-40B4-BE49-F238E27FC236}">
                <a16:creationId xmlns:a16="http://schemas.microsoft.com/office/drawing/2014/main" id="{28289257-55C3-4412-8843-A62503BCA76F}"/>
              </a:ext>
            </a:extLst>
          </p:cNvPr>
          <p:cNvSpPr/>
          <p:nvPr/>
        </p:nvSpPr>
        <p:spPr>
          <a:xfrm>
            <a:off x="6938294" y="4147490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8" name="Shape 131">
            <a:extLst>
              <a:ext uri="{FF2B5EF4-FFF2-40B4-BE49-F238E27FC236}">
                <a16:creationId xmlns:a16="http://schemas.microsoft.com/office/drawing/2014/main" id="{1C25F154-6787-4436-9084-94A9B9D4376C}"/>
              </a:ext>
            </a:extLst>
          </p:cNvPr>
          <p:cNvSpPr/>
          <p:nvPr/>
        </p:nvSpPr>
        <p:spPr>
          <a:xfrm>
            <a:off x="7261570" y="3937692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82" name="Shape 46">
            <a:extLst>
              <a:ext uri="{FF2B5EF4-FFF2-40B4-BE49-F238E27FC236}">
                <a16:creationId xmlns:a16="http://schemas.microsoft.com/office/drawing/2014/main" id="{DB870AC9-88DF-4453-8CAD-2C25E9A28B84}"/>
              </a:ext>
            </a:extLst>
          </p:cNvPr>
          <p:cNvSpPr/>
          <p:nvPr/>
        </p:nvSpPr>
        <p:spPr>
          <a:xfrm>
            <a:off x="7370518" y="415823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3" name="Text 128">
            <a:extLst>
              <a:ext uri="{FF2B5EF4-FFF2-40B4-BE49-F238E27FC236}">
                <a16:creationId xmlns:a16="http://schemas.microsoft.com/office/drawing/2014/main" id="{17965B83-5D45-4C44-90E0-7E17198A2435}"/>
              </a:ext>
            </a:extLst>
          </p:cNvPr>
          <p:cNvSpPr/>
          <p:nvPr/>
        </p:nvSpPr>
        <p:spPr>
          <a:xfrm>
            <a:off x="6183346" y="435054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 128">
            <a:extLst>
              <a:ext uri="{FF2B5EF4-FFF2-40B4-BE49-F238E27FC236}">
                <a16:creationId xmlns:a16="http://schemas.microsoft.com/office/drawing/2014/main" id="{FB763EAE-4196-4504-B117-B9DCED19701F}"/>
              </a:ext>
            </a:extLst>
          </p:cNvPr>
          <p:cNvSpPr/>
          <p:nvPr/>
        </p:nvSpPr>
        <p:spPr>
          <a:xfrm>
            <a:off x="6661426" y="436142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Text 128">
            <a:extLst>
              <a:ext uri="{FF2B5EF4-FFF2-40B4-BE49-F238E27FC236}">
                <a16:creationId xmlns:a16="http://schemas.microsoft.com/office/drawing/2014/main" id="{5F17D412-0B06-46FE-87D5-BB7A23F63A40}"/>
              </a:ext>
            </a:extLst>
          </p:cNvPr>
          <p:cNvSpPr/>
          <p:nvPr/>
        </p:nvSpPr>
        <p:spPr>
          <a:xfrm>
            <a:off x="7104626" y="436142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Shape 46">
            <a:extLst>
              <a:ext uri="{FF2B5EF4-FFF2-40B4-BE49-F238E27FC236}">
                <a16:creationId xmlns:a16="http://schemas.microsoft.com/office/drawing/2014/main" id="{FB700446-0F18-4B02-9C32-ACEC3E362FF9}"/>
              </a:ext>
            </a:extLst>
          </p:cNvPr>
          <p:cNvSpPr/>
          <p:nvPr/>
        </p:nvSpPr>
        <p:spPr>
          <a:xfrm>
            <a:off x="7835206" y="416566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7" name="Shape 151">
            <a:extLst>
              <a:ext uri="{FF2B5EF4-FFF2-40B4-BE49-F238E27FC236}">
                <a16:creationId xmlns:a16="http://schemas.microsoft.com/office/drawing/2014/main" id="{37036E2C-6462-4902-9951-1B51BC5C9C6D}"/>
              </a:ext>
            </a:extLst>
          </p:cNvPr>
          <p:cNvSpPr/>
          <p:nvPr/>
        </p:nvSpPr>
        <p:spPr>
          <a:xfrm>
            <a:off x="8195400" y="4124516"/>
            <a:ext cx="82296" cy="82296"/>
          </a:xfrm>
          <a:prstGeom prst="ellipse">
            <a:avLst/>
          </a:prstGeom>
          <a:solidFill>
            <a:srgbClr val="92D050"/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189" name="Text 45">
            <a:extLst>
              <a:ext uri="{FF2B5EF4-FFF2-40B4-BE49-F238E27FC236}">
                <a16:creationId xmlns:a16="http://schemas.microsoft.com/office/drawing/2014/main" id="{6E719C4B-0C30-402B-8AFD-6410D5932789}"/>
              </a:ext>
            </a:extLst>
          </p:cNvPr>
          <p:cNvSpPr/>
          <p:nvPr/>
        </p:nvSpPr>
        <p:spPr>
          <a:xfrm>
            <a:off x="6013677" y="4660582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A54232B-4994-441A-A57A-E16DACD655A3}"/>
              </a:ext>
            </a:extLst>
          </p:cNvPr>
          <p:cNvSpPr/>
          <p:nvPr/>
        </p:nvSpPr>
        <p:spPr>
          <a:xfrm>
            <a:off x="6023848" y="4831461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1" name="Shape 127">
            <a:extLst>
              <a:ext uri="{FF2B5EF4-FFF2-40B4-BE49-F238E27FC236}">
                <a16:creationId xmlns:a16="http://schemas.microsoft.com/office/drawing/2014/main" id="{B79F36E7-D12E-4BD1-81A0-91D07CA73CB5}"/>
              </a:ext>
            </a:extLst>
          </p:cNvPr>
          <p:cNvSpPr/>
          <p:nvPr/>
        </p:nvSpPr>
        <p:spPr>
          <a:xfrm>
            <a:off x="5883067" y="4612005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 128">
            <a:extLst>
              <a:ext uri="{FF2B5EF4-FFF2-40B4-BE49-F238E27FC236}">
                <a16:creationId xmlns:a16="http://schemas.microsoft.com/office/drawing/2014/main" id="{061EB3EC-8C63-4122-8BDE-9DB2DAF2A329}"/>
              </a:ext>
            </a:extLst>
          </p:cNvPr>
          <p:cNvSpPr/>
          <p:nvPr/>
        </p:nvSpPr>
        <p:spPr>
          <a:xfrm>
            <a:off x="5740146" y="5042345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Shape 131">
            <a:extLst>
              <a:ext uri="{FF2B5EF4-FFF2-40B4-BE49-F238E27FC236}">
                <a16:creationId xmlns:a16="http://schemas.microsoft.com/office/drawing/2014/main" id="{B6997A28-A89F-491C-8DD0-B573EE31DF4F}"/>
              </a:ext>
            </a:extLst>
          </p:cNvPr>
          <p:cNvSpPr/>
          <p:nvPr/>
        </p:nvSpPr>
        <p:spPr>
          <a:xfrm>
            <a:off x="6347123" y="4621664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Shape 143">
            <a:extLst>
              <a:ext uri="{FF2B5EF4-FFF2-40B4-BE49-F238E27FC236}">
                <a16:creationId xmlns:a16="http://schemas.microsoft.com/office/drawing/2014/main" id="{3DFFCE5F-9F32-4EA5-89CD-63D79BCF8502}"/>
              </a:ext>
            </a:extLst>
          </p:cNvPr>
          <p:cNvSpPr/>
          <p:nvPr/>
        </p:nvSpPr>
        <p:spPr>
          <a:xfrm>
            <a:off x="7680730" y="4709446"/>
            <a:ext cx="131673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97" name="Text 45">
            <a:extLst>
              <a:ext uri="{FF2B5EF4-FFF2-40B4-BE49-F238E27FC236}">
                <a16:creationId xmlns:a16="http://schemas.microsoft.com/office/drawing/2014/main" id="{39B6EDAE-F5C6-4425-8C96-3A74BD81B9D3}"/>
              </a:ext>
            </a:extLst>
          </p:cNvPr>
          <p:cNvSpPr/>
          <p:nvPr/>
        </p:nvSpPr>
        <p:spPr>
          <a:xfrm>
            <a:off x="6470900" y="4666354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Shape 46">
            <a:extLst>
              <a:ext uri="{FF2B5EF4-FFF2-40B4-BE49-F238E27FC236}">
                <a16:creationId xmlns:a16="http://schemas.microsoft.com/office/drawing/2014/main" id="{5D10692B-29D4-4A92-9A7F-EF6A158D3D03}"/>
              </a:ext>
            </a:extLst>
          </p:cNvPr>
          <p:cNvSpPr/>
          <p:nvPr/>
        </p:nvSpPr>
        <p:spPr>
          <a:xfrm>
            <a:off x="6481071" y="4837233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9" name="Shape 131">
            <a:extLst>
              <a:ext uri="{FF2B5EF4-FFF2-40B4-BE49-F238E27FC236}">
                <a16:creationId xmlns:a16="http://schemas.microsoft.com/office/drawing/2014/main" id="{99D871A3-939F-4DEE-899B-8BB1E741236D}"/>
              </a:ext>
            </a:extLst>
          </p:cNvPr>
          <p:cNvSpPr/>
          <p:nvPr/>
        </p:nvSpPr>
        <p:spPr>
          <a:xfrm>
            <a:off x="6804346" y="4627436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200" name="Text 45">
            <a:extLst>
              <a:ext uri="{FF2B5EF4-FFF2-40B4-BE49-F238E27FC236}">
                <a16:creationId xmlns:a16="http://schemas.microsoft.com/office/drawing/2014/main" id="{067097CD-D434-49AE-8582-C8208F92CD10}"/>
              </a:ext>
            </a:extLst>
          </p:cNvPr>
          <p:cNvSpPr/>
          <p:nvPr/>
        </p:nvSpPr>
        <p:spPr>
          <a:xfrm>
            <a:off x="6928123" y="4675555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Shape 46">
            <a:extLst>
              <a:ext uri="{FF2B5EF4-FFF2-40B4-BE49-F238E27FC236}">
                <a16:creationId xmlns:a16="http://schemas.microsoft.com/office/drawing/2014/main" id="{9905B03C-4FBF-4A14-982A-8FDF33F29D79}"/>
              </a:ext>
            </a:extLst>
          </p:cNvPr>
          <p:cNvSpPr/>
          <p:nvPr/>
        </p:nvSpPr>
        <p:spPr>
          <a:xfrm>
            <a:off x="6938294" y="484643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2" name="Shape 131">
            <a:extLst>
              <a:ext uri="{FF2B5EF4-FFF2-40B4-BE49-F238E27FC236}">
                <a16:creationId xmlns:a16="http://schemas.microsoft.com/office/drawing/2014/main" id="{7836EC67-FC2A-42C2-86CC-6CA29DB9E845}"/>
              </a:ext>
            </a:extLst>
          </p:cNvPr>
          <p:cNvSpPr/>
          <p:nvPr/>
        </p:nvSpPr>
        <p:spPr>
          <a:xfrm>
            <a:off x="7261570" y="4636637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203" name="Shape 46">
            <a:extLst>
              <a:ext uri="{FF2B5EF4-FFF2-40B4-BE49-F238E27FC236}">
                <a16:creationId xmlns:a16="http://schemas.microsoft.com/office/drawing/2014/main" id="{23434E0E-81B4-4140-859B-FC408247721D}"/>
              </a:ext>
            </a:extLst>
          </p:cNvPr>
          <p:cNvSpPr/>
          <p:nvPr/>
        </p:nvSpPr>
        <p:spPr>
          <a:xfrm>
            <a:off x="7370518" y="4857179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4" name="Text 128">
            <a:extLst>
              <a:ext uri="{FF2B5EF4-FFF2-40B4-BE49-F238E27FC236}">
                <a16:creationId xmlns:a16="http://schemas.microsoft.com/office/drawing/2014/main" id="{506647A7-31C8-4B6E-B0CB-0000EAE82F25}"/>
              </a:ext>
            </a:extLst>
          </p:cNvPr>
          <p:cNvSpPr/>
          <p:nvPr/>
        </p:nvSpPr>
        <p:spPr>
          <a:xfrm>
            <a:off x="6183346" y="504948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 128">
            <a:extLst>
              <a:ext uri="{FF2B5EF4-FFF2-40B4-BE49-F238E27FC236}">
                <a16:creationId xmlns:a16="http://schemas.microsoft.com/office/drawing/2014/main" id="{98D6DD58-A4E4-4C25-824A-386042FA6ADB}"/>
              </a:ext>
            </a:extLst>
          </p:cNvPr>
          <p:cNvSpPr/>
          <p:nvPr/>
        </p:nvSpPr>
        <p:spPr>
          <a:xfrm>
            <a:off x="6661426" y="5060369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 128">
            <a:extLst>
              <a:ext uri="{FF2B5EF4-FFF2-40B4-BE49-F238E27FC236}">
                <a16:creationId xmlns:a16="http://schemas.microsoft.com/office/drawing/2014/main" id="{0CA734FC-41A9-42D1-A5AC-99C25DC91020}"/>
              </a:ext>
            </a:extLst>
          </p:cNvPr>
          <p:cNvSpPr/>
          <p:nvPr/>
        </p:nvSpPr>
        <p:spPr>
          <a:xfrm>
            <a:off x="7104626" y="5060369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Shape 46">
            <a:extLst>
              <a:ext uri="{FF2B5EF4-FFF2-40B4-BE49-F238E27FC236}">
                <a16:creationId xmlns:a16="http://schemas.microsoft.com/office/drawing/2014/main" id="{E4ECCFC8-E708-4D6A-ABFD-C7E1874EAA4C}"/>
              </a:ext>
            </a:extLst>
          </p:cNvPr>
          <p:cNvSpPr/>
          <p:nvPr/>
        </p:nvSpPr>
        <p:spPr>
          <a:xfrm>
            <a:off x="7835206" y="4864608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8" name="Shape 151">
            <a:extLst>
              <a:ext uri="{FF2B5EF4-FFF2-40B4-BE49-F238E27FC236}">
                <a16:creationId xmlns:a16="http://schemas.microsoft.com/office/drawing/2014/main" id="{A7762A9A-CB5D-4586-8483-77FF9C9EDFC7}"/>
              </a:ext>
            </a:extLst>
          </p:cNvPr>
          <p:cNvSpPr/>
          <p:nvPr/>
        </p:nvSpPr>
        <p:spPr>
          <a:xfrm>
            <a:off x="8195400" y="4823460"/>
            <a:ext cx="82296" cy="82296"/>
          </a:xfrm>
          <a:prstGeom prst="ellipse">
            <a:avLst/>
          </a:prstGeom>
          <a:solidFill>
            <a:srgbClr val="7030A0"/>
          </a:solidFill>
          <a:ln w="6350">
            <a:solidFill>
              <a:srgbClr val="7030A0"/>
            </a:solidFill>
            <a:prstDash val="solid"/>
          </a:ln>
        </p:spPr>
      </p: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4BBF5059-AF6F-47F9-BA9F-2F39CF32B5F4}"/>
              </a:ext>
            </a:extLst>
          </p:cNvPr>
          <p:cNvCxnSpPr>
            <a:cxnSpLocks/>
            <a:stCxn id="33" idx="0"/>
            <a:endCxn id="191" idx="1"/>
          </p:cNvCxnSpPr>
          <p:nvPr/>
        </p:nvCxnSpPr>
        <p:spPr>
          <a:xfrm rot="16200000" flipH="1">
            <a:off x="5213531" y="4149924"/>
            <a:ext cx="702374" cy="63669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 150">
            <a:extLst>
              <a:ext uri="{FF2B5EF4-FFF2-40B4-BE49-F238E27FC236}">
                <a16:creationId xmlns:a16="http://schemas.microsoft.com/office/drawing/2014/main" id="{3AF2F1EA-45F5-49C1-AB97-68405F65F7E0}"/>
              </a:ext>
            </a:extLst>
          </p:cNvPr>
          <p:cNvSpPr/>
          <p:nvPr/>
        </p:nvSpPr>
        <p:spPr>
          <a:xfrm>
            <a:off x="7484923" y="4504752"/>
            <a:ext cx="523287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Critic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head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3" name="连接符: 肘形 212">
            <a:extLst>
              <a:ext uri="{FF2B5EF4-FFF2-40B4-BE49-F238E27FC236}">
                <a16:creationId xmlns:a16="http://schemas.microsoft.com/office/drawing/2014/main" id="{48F4ABE3-9EFD-4919-A780-0121EC456216}"/>
              </a:ext>
            </a:extLst>
          </p:cNvPr>
          <p:cNvCxnSpPr>
            <a:cxnSpLocks/>
            <a:stCxn id="32" idx="0"/>
            <a:endCxn id="115" idx="1"/>
          </p:cNvCxnSpPr>
          <p:nvPr/>
        </p:nvCxnSpPr>
        <p:spPr>
          <a:xfrm rot="5400000" flipH="1" flipV="1">
            <a:off x="5072650" y="2764009"/>
            <a:ext cx="1050167" cy="702726"/>
          </a:xfrm>
          <a:prstGeom prst="bentConnector4">
            <a:avLst>
              <a:gd name="adj1" fmla="val 0"/>
              <a:gd name="adj2" fmla="val 1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 220">
            <a:extLst>
              <a:ext uri="{FF2B5EF4-FFF2-40B4-BE49-F238E27FC236}">
                <a16:creationId xmlns:a16="http://schemas.microsoft.com/office/drawing/2014/main" id="{E0BB0A8B-EBC9-4BCE-B179-DC63C02F4529}"/>
              </a:ext>
            </a:extLst>
          </p:cNvPr>
          <p:cNvSpPr/>
          <p:nvPr/>
        </p:nvSpPr>
        <p:spPr>
          <a:xfrm>
            <a:off x="7474596" y="2389156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E62163C4-0E56-463C-8801-9833DDB40539}"/>
              </a:ext>
            </a:extLst>
          </p:cNvPr>
          <p:cNvSpPr/>
          <p:nvPr/>
        </p:nvSpPr>
        <p:spPr>
          <a:xfrm>
            <a:off x="7525457" y="2481739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E273FD4B-6243-4828-A461-B18F91F374CE}"/>
              </a:ext>
            </a:extLst>
          </p:cNvPr>
          <p:cNvSpPr/>
          <p:nvPr/>
        </p:nvSpPr>
        <p:spPr>
          <a:xfrm>
            <a:off x="7575302" y="2574322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6DBEB6A5-56A3-4C1B-AFDC-A212A14A8617}"/>
              </a:ext>
            </a:extLst>
          </p:cNvPr>
          <p:cNvSpPr txBox="1"/>
          <p:nvPr/>
        </p:nvSpPr>
        <p:spPr>
          <a:xfrm rot="3031321">
            <a:off x="7245148" y="2658504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t…t+3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91F52615-3426-4178-8108-84A77C6803E5}"/>
              </a:ext>
            </a:extLst>
          </p:cNvPr>
          <p:cNvSpPr/>
          <p:nvPr/>
        </p:nvSpPr>
        <p:spPr>
          <a:xfrm>
            <a:off x="7632275" y="2688622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F10F6C8E-60F9-4CDC-AA75-74135794BE44}"/>
              </a:ext>
            </a:extLst>
          </p:cNvPr>
          <p:cNvSpPr txBox="1"/>
          <p:nvPr/>
        </p:nvSpPr>
        <p:spPr>
          <a:xfrm>
            <a:off x="7800534" y="2533460"/>
            <a:ext cx="535724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75" dirty="0" err="1">
                <a:latin typeface="Arial" panose="020B0604020202020204" pitchFamily="34" charset="0"/>
                <a:cs typeface="Arial" panose="020B0604020202020204" pitchFamily="34" charset="0"/>
              </a:rPr>
              <a:t>dx_t,dy_t</a:t>
            </a:r>
            <a:endParaRPr lang="zh-CN" alt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Shape 113">
            <a:extLst>
              <a:ext uri="{FF2B5EF4-FFF2-40B4-BE49-F238E27FC236}">
                <a16:creationId xmlns:a16="http://schemas.microsoft.com/office/drawing/2014/main" id="{89D9A728-9121-4897-A82C-9CB38CA3948E}"/>
              </a:ext>
            </a:extLst>
          </p:cNvPr>
          <p:cNvSpPr/>
          <p:nvPr/>
        </p:nvSpPr>
        <p:spPr>
          <a:xfrm>
            <a:off x="6593793" y="2314959"/>
            <a:ext cx="91800" cy="5670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Shape 36">
            <a:extLst>
              <a:ext uri="{FF2B5EF4-FFF2-40B4-BE49-F238E27FC236}">
                <a16:creationId xmlns:a16="http://schemas.microsoft.com/office/drawing/2014/main" id="{02A97644-C025-47E6-B52F-001C8CE09050}"/>
              </a:ext>
            </a:extLst>
          </p:cNvPr>
          <p:cNvSpPr/>
          <p:nvPr/>
        </p:nvSpPr>
        <p:spPr>
          <a:xfrm flipV="1">
            <a:off x="6774218" y="2594327"/>
            <a:ext cx="500817" cy="826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38" name="Text 128">
            <a:extLst>
              <a:ext uri="{FF2B5EF4-FFF2-40B4-BE49-F238E27FC236}">
                <a16:creationId xmlns:a16="http://schemas.microsoft.com/office/drawing/2014/main" id="{F44765B0-473F-426B-9BDD-C2A92CE73D07}"/>
              </a:ext>
            </a:extLst>
          </p:cNvPr>
          <p:cNvSpPr/>
          <p:nvPr/>
        </p:nvSpPr>
        <p:spPr>
          <a:xfrm>
            <a:off x="6456215" y="290745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Text 128">
            <a:extLst>
              <a:ext uri="{FF2B5EF4-FFF2-40B4-BE49-F238E27FC236}">
                <a16:creationId xmlns:a16="http://schemas.microsoft.com/office/drawing/2014/main" id="{1598D718-AFCF-445F-BB73-134C3800A413}"/>
              </a:ext>
            </a:extLst>
          </p:cNvPr>
          <p:cNvSpPr/>
          <p:nvPr/>
        </p:nvSpPr>
        <p:spPr>
          <a:xfrm>
            <a:off x="5825082" y="2901020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3915D64D-22FE-4AE6-8052-9FB611EA082F}"/>
              </a:ext>
            </a:extLst>
          </p:cNvPr>
          <p:cNvSpPr txBox="1"/>
          <p:nvPr/>
        </p:nvSpPr>
        <p:spPr>
          <a:xfrm>
            <a:off x="3537174" y="3489001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3B57E559-02B5-4138-B6EE-1E48B23619B1}"/>
              </a:ext>
            </a:extLst>
          </p:cNvPr>
          <p:cNvSpPr txBox="1"/>
          <p:nvPr/>
        </p:nvSpPr>
        <p:spPr>
          <a:xfrm>
            <a:off x="2172598" y="4323947"/>
            <a:ext cx="42752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50" dirty="0">
                <a:latin typeface="Arial" panose="020B0604020202020204" pitchFamily="34" charset="0"/>
                <a:cs typeface="Arial" panose="020B0604020202020204" pitchFamily="34" charset="0"/>
              </a:rPr>
              <a:t>hidden state</a:t>
            </a:r>
            <a:endParaRPr lang="zh-CN" alt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01168"/>
            <a:ext cx="8458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1919"/>
                </a:solidFill>
                <a:latin typeface="Arial"/>
              </a:defRPr>
            </a:pPr>
            <a:r>
              <a:t>Simulation result I: league training robustness</a:t>
            </a:r>
          </a:p>
        </p:txBody>
      </p:sp>
      <p:pic>
        <p:nvPicPr>
          <p:cNvPr id="3" name="Picture 2" descr="fig_sim01_league_overview_n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97770"/>
            <a:ext cx="8449056" cy="3892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01168"/>
            <a:ext cx="8458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1919"/>
                </a:solidFill>
                <a:latin typeface="Arial"/>
              </a:defRPr>
            </a:pPr>
            <a:r>
              <a:t>Simulation result II: temporal encoder and auxiliary prediction</a:t>
            </a:r>
          </a:p>
        </p:txBody>
      </p:sp>
      <p:pic>
        <p:nvPicPr>
          <p:cNvPr id="3" name="Picture 2" descr="fig_sim02_ablation_gru_aux_composite_filled_n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26" y="694944"/>
            <a:ext cx="8342548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ABEAD9E-40D6-4C38-8E7F-B20CB7C64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68" y="1111808"/>
            <a:ext cx="7847264" cy="44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36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1736</TotalTime>
  <Words>242</Words>
  <Application>Microsoft Office PowerPoint</Application>
  <PresentationFormat>自定义</PresentationFormat>
  <Paragraphs>103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Arial Unicode MS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huifeng Shi</cp:lastModifiedBy>
  <cp:revision>28</cp:revision>
  <dcterms:created xsi:type="dcterms:W3CDTF">2013-01-27T09:14:16Z</dcterms:created>
  <dcterms:modified xsi:type="dcterms:W3CDTF">2026-07-16T10:25:00Z</dcterms:modified>
  <cp:category/>
</cp:coreProperties>
</file>