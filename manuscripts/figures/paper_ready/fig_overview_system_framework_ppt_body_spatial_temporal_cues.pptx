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8912" y="118872"/>
            <a:ext cx="91440" cy="91440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73152"/>
            <a:ext cx="84124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robot / microrobot</a:t>
            </a:r>
          </a:p>
        </p:txBody>
      </p:sp>
      <p:sp>
        <p:nvSpPr>
          <p:cNvPr id="4" name="Oval 3"/>
          <p:cNvSpPr/>
          <p:nvPr/>
        </p:nvSpPr>
        <p:spPr>
          <a:xfrm>
            <a:off x="1554480" y="118872"/>
            <a:ext cx="91440" cy="91440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73352" y="73152"/>
            <a:ext cx="694944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patient hand</a:t>
            </a:r>
          </a:p>
        </p:txBody>
      </p:sp>
      <p:sp>
        <p:nvSpPr>
          <p:cNvPr id="6" name="Oval 5"/>
          <p:cNvSpPr/>
          <p:nvPr/>
        </p:nvSpPr>
        <p:spPr>
          <a:xfrm>
            <a:off x="2395728" y="118872"/>
            <a:ext cx="91440" cy="91440"/>
          </a:xfrm>
          <a:prstGeom prst="ellipse">
            <a:avLst/>
          </a:prstGeom>
          <a:solidFill>
            <a:srgbClr val="3A8C4A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73152"/>
            <a:ext cx="67665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vision /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438912"/>
            <a:ext cx="4169663" cy="3127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530352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585216"/>
            <a:ext cx="3529583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Simulation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438912"/>
            <a:ext cx="4169663" cy="3127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530352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585216"/>
            <a:ext cx="3529583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Adaptive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" y="3785615"/>
            <a:ext cx="4169663" cy="3127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3877055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" y="3931920"/>
            <a:ext cx="3529583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Image-to-Observation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3785615"/>
            <a:ext cx="4169663" cy="312724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3877055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3931920"/>
            <a:ext cx="3529583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Real-World Rehabilitation Platform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434840" y="1554480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380744"/>
            <a:ext cx="62179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F6FA7"/>
                </a:solidFill>
                <a:latin typeface="Arial"/>
              </a:rPr>
              <a:t>O_t, r_t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4434840" y="2048256"/>
            <a:ext cx="530352" cy="109728"/>
          </a:xfrm>
          <a:prstGeom prst="left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2185415"/>
            <a:ext cx="27432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F6F2E"/>
                </a:solidFill>
                <a:latin typeface="Arial"/>
              </a:rPr>
              <a:t>a_t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556248" y="3557016"/>
            <a:ext cx="109728" cy="530352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0256" y="3767328"/>
            <a:ext cx="841248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A8C4A"/>
                </a:solidFill>
                <a:latin typeface="Arial"/>
              </a:rPr>
              <a:t>trained policy</a:t>
            </a:r>
          </a:p>
        </p:txBody>
      </p:sp>
      <p:sp>
        <p:nvSpPr>
          <p:cNvPr id="26" name="Up Arrow 25"/>
          <p:cNvSpPr/>
          <p:nvPr/>
        </p:nvSpPr>
        <p:spPr>
          <a:xfrm>
            <a:off x="2212848" y="3557016"/>
            <a:ext cx="109728" cy="530352"/>
          </a:xfrm>
          <a:prstGeom prst="upArrow">
            <a:avLst/>
          </a:prstGeom>
          <a:solidFill>
            <a:srgbClr val="7356B6"/>
          </a:solidFill>
          <a:ln w="6350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3767328"/>
            <a:ext cx="65836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356B6"/>
                </a:solidFill>
                <a:latin typeface="Arial"/>
              </a:rPr>
              <a:t>same task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4434840" y="4846320"/>
            <a:ext cx="530352" cy="109728"/>
          </a:xfrm>
          <a:prstGeom prst="lef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9704" y="4663440"/>
            <a:ext cx="475488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A8C4A"/>
                </a:solidFill>
                <a:latin typeface="Arial"/>
              </a:rPr>
              <a:t>image feed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434840" y="5477256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5632704"/>
            <a:ext cx="53035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F6FA7"/>
                </a:solidFill>
                <a:latin typeface="Arial"/>
              </a:rPr>
              <a:t>agent O_t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1280160"/>
            <a:ext cx="1965960" cy="1481328"/>
          </a:xfrm>
          <a:prstGeom prst="rect">
            <a:avLst/>
          </a:prstGeom>
          <a:solidFill>
            <a:srgbClr val="F4F6F8"/>
          </a:solidFill>
          <a:ln w="12700">
            <a:solidFill>
              <a:srgbClr val="C5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85825" y="1280160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31569" y="1280160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377314" y="1280160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23060" y="1280160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68805" y="1280160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14550" y="1280160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080" y="1527048"/>
            <a:ext cx="1965959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40080" y="1773936"/>
            <a:ext cx="1965959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0080" y="2020824"/>
            <a:ext cx="1965959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0080" y="2267712"/>
            <a:ext cx="1965959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572768" y="1773936"/>
            <a:ext cx="438912" cy="438912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54480" y="1673351"/>
            <a:ext cx="45720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3A8C4A"/>
                </a:solidFill>
                <a:latin typeface="Arial"/>
              </a:rPr>
              <a:t>ZPD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7824" y="1719072"/>
            <a:ext cx="365760" cy="128016"/>
          </a:xfrm>
          <a:prstGeom prst="line">
            <a:avLst/>
          </a:prstGeom>
          <a:ln w="12700">
            <a:solidFill>
              <a:srgbClr val="2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243584" y="1847088"/>
            <a:ext cx="365760" cy="192024"/>
          </a:xfrm>
          <a:prstGeom prst="line">
            <a:avLst/>
          </a:prstGeom>
          <a:ln w="12700">
            <a:solidFill>
              <a:srgbClr val="2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627632" y="2139696"/>
            <a:ext cx="329183" cy="164592"/>
          </a:xfrm>
          <a:prstGeom prst="line">
            <a:avLst/>
          </a:prstGeom>
          <a:ln w="1270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850392" y="1664207"/>
            <a:ext cx="100584" cy="100584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938528" y="2231136"/>
            <a:ext cx="164592" cy="164592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09344" y="2011680"/>
            <a:ext cx="73152" cy="73152"/>
          </a:xfrm>
          <a:prstGeom prst="ellipse">
            <a:avLst/>
          </a:prstGeom>
          <a:solidFill>
            <a:srgbClr val="C92525"/>
          </a:solidFill>
          <a:ln w="8890">
            <a:solidFill>
              <a:srgbClr val="C9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" y="2834640"/>
            <a:ext cx="1892807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666A73"/>
                </a:solidFill>
                <a:latin typeface="Arial"/>
              </a:rPr>
              <a:t>ZPD pursuit task workspace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79776" y="1042415"/>
            <a:ext cx="126187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F6F2E"/>
                </a:solidFill>
                <a:latin typeface="Arial"/>
              </a:rPr>
              <a:t>CMD-DR virtual patient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79776" y="1261872"/>
            <a:ext cx="1243584" cy="411480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22222"/>
                </a:solidFill>
                <a:latin typeface="Arial"/>
              </a:rPr>
              <a:t>Intent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22222"/>
                </a:solidFill>
                <a:latin typeface="Arial"/>
              </a:rPr>
              <a:t>scripted / learned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79776" y="1792224"/>
            <a:ext cx="1243584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Motor execution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delay / noise / smoothing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79776" y="2432304"/>
            <a:ext cx="1243584" cy="347472"/>
          </a:xfrm>
          <a:prstGeom prst="roundRect">
            <a:avLst/>
          </a:prstGeom>
          <a:solidFill>
            <a:srgbClr val="F0ECFA"/>
          </a:solidFill>
          <a:ln w="15875">
            <a:solidFill>
              <a:srgbClr val="7356B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Patient diversity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401568" y="1673351"/>
            <a:ext cx="0" cy="118873"/>
          </a:xfrm>
          <a:prstGeom prst="line">
            <a:avLst/>
          </a:prstGeom>
          <a:ln w="1270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401568" y="2267711"/>
            <a:ext cx="0" cy="164593"/>
          </a:xfrm>
          <a:prstGeom prst="line">
            <a:avLst/>
          </a:prstGeom>
          <a:ln w="12700">
            <a:solidFill>
              <a:srgbClr val="735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59536" y="2962656"/>
            <a:ext cx="978408" cy="292608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222222"/>
                </a:solidFill>
                <a:latin typeface="Arial"/>
              </a:rPr>
              <a:t>Observation O_t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993392" y="2962656"/>
            <a:ext cx="978408" cy="292608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222222"/>
                </a:solidFill>
                <a:latin typeface="Arial"/>
              </a:rPr>
              <a:t>Action a_t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27248" y="2962656"/>
            <a:ext cx="978408" cy="292608"/>
          </a:xfrm>
          <a:prstGeom prst="roundRect">
            <a:avLst/>
          </a:prstGeom>
          <a:solidFill>
            <a:srgbClr val="F0ECFA"/>
          </a:solidFill>
          <a:ln w="15875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222222"/>
                </a:solidFill>
                <a:latin typeface="Arial"/>
              </a:rPr>
              <a:t>Reward r_t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92624" y="1005840"/>
            <a:ext cx="3547872" cy="20299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57216" y="1133856"/>
            <a:ext cx="713232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222222"/>
                </a:solidFill>
                <a:latin typeface="Arial"/>
              </a:rPr>
              <a:t>Input layer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45936" y="1133856"/>
            <a:ext cx="1078992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222222"/>
                </a:solidFill>
                <a:latin typeface="Arial"/>
              </a:rPr>
              <a:t>Hidden layers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4112" y="1133856"/>
            <a:ext cx="694944" cy="23774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222222"/>
                </a:solidFill>
                <a:latin typeface="Arial"/>
              </a:rPr>
              <a:t>Output layer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5605272" y="1746504"/>
            <a:ext cx="685800" cy="1371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605272" y="1760220"/>
            <a:ext cx="685800" cy="32461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605272" y="1760220"/>
            <a:ext cx="685800" cy="80924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605272" y="1760220"/>
            <a:ext cx="685800" cy="112014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605272" y="1746504"/>
            <a:ext cx="685800" cy="31546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605272" y="2061972"/>
            <a:ext cx="685800" cy="228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605272" y="2061972"/>
            <a:ext cx="685800" cy="50749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605272" y="2061972"/>
            <a:ext cx="685800" cy="81838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605272" y="1746504"/>
            <a:ext cx="685800" cy="8275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605272" y="2084832"/>
            <a:ext cx="685800" cy="48920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605272" y="2569464"/>
            <a:ext cx="685800" cy="457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605272" y="2574036"/>
            <a:ext cx="685800" cy="30632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605272" y="1746504"/>
            <a:ext cx="685800" cy="112928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605272" y="2084832"/>
            <a:ext cx="685800" cy="7909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605272" y="2569464"/>
            <a:ext cx="685800" cy="306324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605272" y="2875788"/>
            <a:ext cx="685800" cy="457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528816" y="1746504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528816" y="1746504"/>
            <a:ext cx="704088" cy="3383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528816" y="1746504"/>
            <a:ext cx="704088" cy="8229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528816" y="1746504"/>
            <a:ext cx="704088" cy="11338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528816" y="1746504"/>
            <a:ext cx="704088" cy="3383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528816" y="2084832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28816" y="2084832"/>
            <a:ext cx="704088" cy="4846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528816" y="2084832"/>
            <a:ext cx="704088" cy="7955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528816" y="1746504"/>
            <a:ext cx="704088" cy="82296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528816" y="2084832"/>
            <a:ext cx="704088" cy="4846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528816" y="2569464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528816" y="2569464"/>
            <a:ext cx="704088" cy="31089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528816" y="1746504"/>
            <a:ext cx="704088" cy="113385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528816" y="2084832"/>
            <a:ext cx="704088" cy="7955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528816" y="2569464"/>
            <a:ext cx="704088" cy="310896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528816" y="2880360"/>
            <a:ext cx="704088" cy="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470648" y="1746504"/>
            <a:ext cx="768096" cy="5669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470648" y="2084832"/>
            <a:ext cx="768096" cy="228600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470648" y="2313432"/>
            <a:ext cx="768096" cy="256032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470648" y="2313432"/>
            <a:ext cx="768096" cy="566928"/>
          </a:xfrm>
          <a:prstGeom prst="line">
            <a:avLst/>
          </a:prstGeom>
          <a:ln w="6604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5413248" y="1664208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413248" y="1965960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413248" y="2478024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413248" y="2779776"/>
            <a:ext cx="192024" cy="192024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291072" y="162763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232904" y="162763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291072" y="1965960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232904" y="1965960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291072" y="245059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232904" y="2450592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291072" y="2761488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232904" y="2761488"/>
            <a:ext cx="237744" cy="237744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382512" y="2221992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382512" y="2368296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324344" y="2221992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324344" y="2368296"/>
            <a:ext cx="54864" cy="54864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238744" y="2194560"/>
            <a:ext cx="256032" cy="256032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056632" y="1389888"/>
            <a:ext cx="749808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spatial cues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20056" y="2176272"/>
            <a:ext cx="82296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temporal cues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074152" y="2651760"/>
            <a:ext cx="74980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Arial"/>
              </a:rPr>
              <a:t>action a_t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22959" y="4956048"/>
            <a:ext cx="1097280" cy="960120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33271" y="5532120"/>
            <a:ext cx="310896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97280" y="5568696"/>
            <a:ext cx="128016" cy="128016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444752" y="5230368"/>
            <a:ext cx="338328" cy="228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527048" y="5266944"/>
            <a:ext cx="164592" cy="164592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6111" y="5980176"/>
            <a:ext cx="950976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666A73"/>
                </a:solidFill>
                <a:latin typeface="Arial"/>
              </a:rPr>
              <a:t>camera image</a:t>
            </a:r>
          </a:p>
        </p:txBody>
      </p:sp>
      <p:sp>
        <p:nvSpPr>
          <p:cNvPr id="127" name="Right Arrow 126"/>
          <p:cNvSpPr/>
          <p:nvPr/>
        </p:nvSpPr>
        <p:spPr>
          <a:xfrm>
            <a:off x="2048255" y="5358383"/>
            <a:ext cx="274320" cy="109728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2377439" y="4864607"/>
            <a:ext cx="960120" cy="1133856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22222"/>
                </a:solidFill>
                <a:latin typeface="Arial"/>
              </a:rPr>
              <a:t>Detect + map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22222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22222"/>
                </a:solidFill>
                <a:latin typeface="Arial"/>
              </a:rPr>
              <a:t>microrobot p_m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22222"/>
                </a:solidFill>
                <a:latin typeface="Arial"/>
              </a:rPr>
              <a:t>hand p_h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22222"/>
                </a:solidFill>
                <a:latin typeface="Arial"/>
              </a:rPr>
              <a:t>workspace coords</a:t>
            </a:r>
          </a:p>
        </p:txBody>
      </p:sp>
      <p:sp>
        <p:nvSpPr>
          <p:cNvPr id="129" name="Right Arrow 128"/>
          <p:cNvSpPr/>
          <p:nvPr/>
        </p:nvSpPr>
        <p:spPr>
          <a:xfrm>
            <a:off x="3383279" y="5358383"/>
            <a:ext cx="274320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3712464" y="4864607"/>
            <a:ext cx="658368" cy="1133856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22222"/>
                </a:solidFill>
                <a:latin typeface="Arial"/>
              </a:rPr>
              <a:t>O_t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22222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22222"/>
                </a:solidFill>
                <a:latin typeface="Arial"/>
              </a:rPr>
              <a:t>positions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22222"/>
                </a:solidFill>
                <a:latin typeface="Arial"/>
              </a:rPr>
              <a:t>distance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22222"/>
                </a:solidFill>
                <a:latin typeface="Arial"/>
              </a:rPr>
              <a:t>history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14416" y="4855464"/>
            <a:ext cx="1664208" cy="1124712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insert real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setup photo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093208" y="5138927"/>
            <a:ext cx="841248" cy="34747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camera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+ hand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424928" y="4590288"/>
            <a:ext cx="969264" cy="3657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22222"/>
                </a:solidFill>
                <a:latin typeface="Arial"/>
              </a:rPr>
              <a:t>20 Hz policy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22222"/>
                </a:solidFill>
                <a:latin typeface="Arial"/>
              </a:rPr>
              <a:t>inference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479792" y="5266944"/>
            <a:ext cx="859536" cy="34747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UR10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RTDE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296912" y="6071616"/>
            <a:ext cx="1042415" cy="365760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magnetic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actuation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138928" y="6071616"/>
            <a:ext cx="950976" cy="365760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workspace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inset</a:t>
            </a:r>
          </a:p>
        </p:txBody>
      </p:sp>
      <p:cxnSp>
        <p:nvCxnSpPr>
          <p:cNvPr id="137" name="Connector 136"/>
          <p:cNvCxnSpPr/>
          <p:nvPr/>
        </p:nvCxnSpPr>
        <p:spPr>
          <a:xfrm flipH="1">
            <a:off x="5614416" y="5312664"/>
            <a:ext cx="320040" cy="54863"/>
          </a:xfrm>
          <a:prstGeom prst="line">
            <a:avLst/>
          </a:prstGeom>
          <a:ln w="11430">
            <a:solidFill>
              <a:srgbClr val="3A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278624" y="5394959"/>
            <a:ext cx="201168" cy="36577"/>
          </a:xfrm>
          <a:prstGeom prst="line">
            <a:avLst/>
          </a:prstGeom>
          <a:ln w="11430">
            <a:solidFill>
              <a:srgbClr val="3A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086600" y="5760720"/>
            <a:ext cx="210312" cy="384048"/>
          </a:xfrm>
          <a:prstGeom prst="line">
            <a:avLst/>
          </a:prstGeom>
          <a:ln w="1143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5961888" y="5861304"/>
            <a:ext cx="128016" cy="393192"/>
          </a:xfrm>
          <a:prstGeom prst="line">
            <a:avLst/>
          </a:prstGeom>
          <a:ln w="11430">
            <a:solidFill>
              <a:srgbClr val="C5CC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ight Arrow 140"/>
          <p:cNvSpPr/>
          <p:nvPr/>
        </p:nvSpPr>
        <p:spPr>
          <a:xfrm>
            <a:off x="5577840" y="4809744"/>
            <a:ext cx="1828800" cy="91440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Down Arrow 141"/>
          <p:cNvSpPr/>
          <p:nvPr/>
        </p:nvSpPr>
        <p:spPr>
          <a:xfrm>
            <a:off x="7836408" y="4983479"/>
            <a:ext cx="91440" cy="256032"/>
          </a:xfrm>
          <a:prstGeom prst="down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Down Arrow 142"/>
          <p:cNvSpPr/>
          <p:nvPr/>
        </p:nvSpPr>
        <p:spPr>
          <a:xfrm>
            <a:off x="7818120" y="5641848"/>
            <a:ext cx="91440" cy="329184"/>
          </a:xfrm>
          <a:prstGeom prst="down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