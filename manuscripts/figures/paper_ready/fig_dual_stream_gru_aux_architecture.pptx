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1156716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72E"/>
                </a:solidFill>
                <a:latin typeface="Arial"/>
              </a:rPr>
              <a:t>Dual-stream PPO policy network with auxiliary future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38912"/>
            <a:ext cx="11814048" cy="6016752"/>
          </a:xfrm>
          <a:prstGeom prst="rect">
            <a:avLst/>
          </a:prstGeom>
          <a:noFill/>
          <a:ln w="13970">
            <a:solidFill>
              <a:srgbClr val="A5AEB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4160520" cy="2194560"/>
          </a:xfrm>
          <a:prstGeom prst="rect">
            <a:avLst/>
          </a:prstGeom>
          <a:solidFill>
            <a:srgbClr val="FDFEFF"/>
          </a:solidFill>
          <a:ln w="15240">
            <a:solidFill>
              <a:srgbClr val="2D5F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804671"/>
            <a:ext cx="3941063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5F8A"/>
                </a:solidFill>
                <a:latin typeface="Arial"/>
              </a:rPr>
              <a:t>Spatial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218688"/>
            <a:ext cx="4160520" cy="2240280"/>
          </a:xfrm>
          <a:prstGeom prst="rect">
            <a:avLst/>
          </a:prstGeom>
          <a:solidFill>
            <a:srgbClr val="FDFEFF"/>
          </a:solidFill>
          <a:ln w="15240">
            <a:solidFill>
              <a:srgbClr val="84683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3273552"/>
            <a:ext cx="3941063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46830"/>
                </a:solidFill>
                <a:latin typeface="Arial"/>
              </a:rPr>
              <a:t>Temporal interaction-history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12064"/>
            <a:ext cx="1417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085"/>
                </a:solidFill>
                <a:latin typeface="Arial"/>
              </a:rPr>
              <a:t>Observation o_t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713232"/>
            <a:ext cx="0" cy="4700016"/>
          </a:xfrm>
          <a:prstGeom prst="line">
            <a:avLst/>
          </a:prstGeom>
          <a:ln w="12700">
            <a:solidFill>
              <a:srgbClr val="BEC6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834640"/>
            <a:ext cx="658368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Arial"/>
              </a:rPr>
              <a:t>split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243584"/>
            <a:ext cx="777240" cy="768096"/>
          </a:xfrm>
          <a:prstGeom prst="rect">
            <a:avLst/>
          </a:prstGeom>
          <a:solidFill>
            <a:srgbClr val="FFFFFF"/>
          </a:solidFill>
          <a:ln w="1397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" y="1380744"/>
            <a:ext cx="481888" cy="32004"/>
          </a:xfrm>
          <a:prstGeom prst="rect">
            <a:avLst/>
          </a:prstGeom>
          <a:solidFill>
            <a:srgbClr val="2D5F8A"/>
          </a:solidFill>
          <a:ln w="508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" y="1490472"/>
            <a:ext cx="683971" cy="32004"/>
          </a:xfrm>
          <a:prstGeom prst="rect">
            <a:avLst/>
          </a:prstGeom>
          <a:solidFill>
            <a:srgbClr val="2D5F8A"/>
          </a:solidFill>
          <a:ln w="508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" y="1600200"/>
            <a:ext cx="357530" cy="32004"/>
          </a:xfrm>
          <a:prstGeom prst="rect">
            <a:avLst/>
          </a:prstGeom>
          <a:solidFill>
            <a:srgbClr val="2D5F8A"/>
          </a:solidFill>
          <a:ln w="508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1709928"/>
            <a:ext cx="582930" cy="32004"/>
          </a:xfrm>
          <a:prstGeom prst="rect">
            <a:avLst/>
          </a:prstGeom>
          <a:solidFill>
            <a:srgbClr val="2D5F8A"/>
          </a:solidFill>
          <a:ln w="508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" y="1819656"/>
            <a:ext cx="427482" cy="32004"/>
          </a:xfrm>
          <a:prstGeom prst="rect">
            <a:avLst/>
          </a:prstGeom>
          <a:solidFill>
            <a:srgbClr val="2D5F8A"/>
          </a:solidFill>
          <a:ln w="508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801368"/>
            <a:ext cx="630936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D5F8A"/>
                </a:solidFill>
                <a:latin typeface="Arial"/>
              </a:rPr>
              <a:t>12-D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084831"/>
            <a:ext cx="1170432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D5F8A"/>
                </a:solidFill>
                <a:latin typeface="Arial"/>
              </a:rPr>
              <a:t>scalar state s_t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D5F8A"/>
                </a:solidFill>
                <a:latin typeface="Arial"/>
              </a:rPr>
              <a:t>positions, distance, boundary,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D5F8A"/>
                </a:solidFill>
                <a:latin typeface="Arial"/>
              </a:rPr>
              <a:t>stride, previous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1261872"/>
            <a:ext cx="960120" cy="786384"/>
          </a:xfrm>
          <a:prstGeom prst="roundRect">
            <a:avLst/>
          </a:prstGeom>
          <a:solidFill>
            <a:srgbClr val="E8F2FA"/>
          </a:solidFill>
          <a:ln w="1778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9384" y="1335024"/>
            <a:ext cx="850392" cy="2988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9384" y="1631472"/>
            <a:ext cx="850392" cy="28309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D5F8A"/>
                </a:solidFill>
                <a:latin typeface="Arial"/>
              </a:rPr>
              <a:t>FC -&gt; LN -&gt; ReLU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D5F8A"/>
                </a:solidFill>
                <a:latin typeface="Arial"/>
              </a:rPr>
              <a:t>scalar_dim -&gt; 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3864" y="1188719"/>
            <a:ext cx="841248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19856" y="1234439"/>
            <a:ext cx="841248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55848" y="1280160"/>
            <a:ext cx="841248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1325880"/>
            <a:ext cx="841248" cy="658368"/>
          </a:xfrm>
          <a:prstGeom prst="rect">
            <a:avLst/>
          </a:prstGeom>
          <a:solidFill>
            <a:srgbClr val="D1E5F4"/>
          </a:solidFill>
          <a:ln w="1524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z_s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32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54480" y="1627632"/>
            <a:ext cx="292608" cy="0"/>
          </a:xfrm>
          <a:prstGeom prst="line">
            <a:avLst/>
          </a:prstGeom>
          <a:ln w="25400">
            <a:solidFill>
              <a:srgbClr val="2D5F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852928" y="1627632"/>
            <a:ext cx="402336" cy="0"/>
          </a:xfrm>
          <a:prstGeom prst="line">
            <a:avLst/>
          </a:prstGeom>
          <a:ln w="25400">
            <a:solidFill>
              <a:srgbClr val="2D5F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59536" y="3657599"/>
            <a:ext cx="86868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846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20139" y="4043111"/>
            <a:ext cx="54864" cy="54864"/>
          </a:xfrm>
          <a:prstGeom prst="ellipse">
            <a:avLst/>
          </a:prstGeom>
          <a:solidFill>
            <a:srgbClr val="2D5F8A"/>
          </a:solidFill>
          <a:ln w="1270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50238" y="3869009"/>
            <a:ext cx="54864" cy="54864"/>
          </a:xfrm>
          <a:prstGeom prst="ellipse">
            <a:avLst/>
          </a:prstGeom>
          <a:solidFill>
            <a:srgbClr val="9B3B4C"/>
          </a:solidFill>
          <a:ln w="12700">
            <a:solidFill>
              <a:srgbClr val="9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1147572" y="3896441"/>
            <a:ext cx="330098" cy="174102"/>
          </a:xfrm>
          <a:prstGeom prst="line">
            <a:avLst/>
          </a:prstGeom>
          <a:ln w="12700">
            <a:solidFill>
              <a:srgbClr val="8468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49808" y="3739896"/>
            <a:ext cx="86868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846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8700" y="4079687"/>
            <a:ext cx="54864" cy="54864"/>
          </a:xfrm>
          <a:prstGeom prst="ellipse">
            <a:avLst/>
          </a:prstGeom>
          <a:solidFill>
            <a:srgbClr val="2D5F8A"/>
          </a:solidFill>
          <a:ln w="1270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13078" y="3978737"/>
            <a:ext cx="54864" cy="54864"/>
          </a:xfrm>
          <a:prstGeom prst="ellipse">
            <a:avLst/>
          </a:prstGeom>
          <a:solidFill>
            <a:srgbClr val="9B3B4C"/>
          </a:solidFill>
          <a:ln w="12700">
            <a:solidFill>
              <a:srgbClr val="9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056132" y="4006169"/>
            <a:ext cx="284378" cy="100950"/>
          </a:xfrm>
          <a:prstGeom prst="line">
            <a:avLst/>
          </a:prstGeom>
          <a:ln w="12700">
            <a:solidFill>
              <a:srgbClr val="8468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0080" y="3822191"/>
            <a:ext cx="86868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846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37259" y="4116263"/>
            <a:ext cx="54864" cy="54864"/>
          </a:xfrm>
          <a:prstGeom prst="ellipse">
            <a:avLst/>
          </a:prstGeom>
          <a:solidFill>
            <a:srgbClr val="2D5F8A"/>
          </a:solidFill>
          <a:ln w="1270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75918" y="4088465"/>
            <a:ext cx="54864" cy="54864"/>
          </a:xfrm>
          <a:prstGeom prst="ellipse">
            <a:avLst/>
          </a:prstGeom>
          <a:solidFill>
            <a:srgbClr val="9B3B4C"/>
          </a:solidFill>
          <a:ln w="12700">
            <a:solidFill>
              <a:srgbClr val="9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964692" y="4115897"/>
            <a:ext cx="238658" cy="27798"/>
          </a:xfrm>
          <a:prstGeom prst="line">
            <a:avLst/>
          </a:prstGeom>
          <a:ln w="12700">
            <a:solidFill>
              <a:srgbClr val="8468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4489703"/>
            <a:ext cx="868680" cy="16459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46830"/>
                </a:solidFill>
                <a:latin typeface="Arial"/>
              </a:rPr>
              <a:t>t-15 ... 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754880"/>
            <a:ext cx="1234440" cy="34747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846830"/>
                </a:solidFill>
                <a:latin typeface="Arial"/>
              </a:rPr>
              <a:t>16-frame history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846830"/>
                </a:solidFill>
                <a:latin typeface="Arial"/>
              </a:rPr>
              <a:t>relative interaction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846830"/>
                </a:solidFill>
                <a:latin typeface="Arial"/>
              </a:rPr>
              <a:t>motion sequence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74519" y="3785615"/>
            <a:ext cx="960120" cy="841248"/>
          </a:xfrm>
          <a:prstGeom prst="roundRect">
            <a:avLst/>
          </a:prstGeom>
          <a:solidFill>
            <a:srgbClr val="FFF6DB"/>
          </a:solidFill>
          <a:ln w="17780">
            <a:solidFill>
              <a:srgbClr val="846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9384" y="3858768"/>
            <a:ext cx="850392" cy="31967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GRU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9384" y="4181002"/>
            <a:ext cx="850392" cy="30284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846830"/>
                </a:solidFill>
                <a:latin typeface="Arial"/>
              </a:rPr>
              <a:t>C -&gt; 64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846830"/>
                </a:solidFill>
                <a:latin typeface="Arial"/>
              </a:rPr>
              <a:t>last hidden state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27248" y="3785615"/>
            <a:ext cx="1024128" cy="841248"/>
          </a:xfrm>
          <a:prstGeom prst="roundRect">
            <a:avLst/>
          </a:prstGeom>
          <a:solidFill>
            <a:srgbClr val="F4DA9E"/>
          </a:solidFill>
          <a:ln w="17780">
            <a:solidFill>
              <a:srgbClr val="846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82112" y="3858768"/>
            <a:ext cx="914400" cy="31967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Projection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82112" y="4181002"/>
            <a:ext cx="914400" cy="30284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846830"/>
                </a:solidFill>
                <a:latin typeface="Arial"/>
              </a:rPr>
              <a:t>LN + FC + ReLU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846830"/>
                </a:solidFill>
                <a:latin typeface="Arial"/>
              </a:rPr>
              <a:t>64 -&gt; 32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572768" y="4160520"/>
            <a:ext cx="274320" cy="0"/>
          </a:xfrm>
          <a:prstGeom prst="line">
            <a:avLst/>
          </a:prstGeom>
          <a:ln w="25400">
            <a:solidFill>
              <a:srgbClr val="8468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852928" y="4160520"/>
            <a:ext cx="246888" cy="0"/>
          </a:xfrm>
          <a:prstGeom prst="line">
            <a:avLst/>
          </a:prstGeom>
          <a:ln w="25400">
            <a:solidFill>
              <a:srgbClr val="8468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4773168" y="2176272"/>
            <a:ext cx="2148840" cy="1874519"/>
          </a:xfrm>
          <a:prstGeom prst="rect">
            <a:avLst/>
          </a:prstGeom>
          <a:solidFill>
            <a:srgbClr val="FDFEFF"/>
          </a:solidFill>
          <a:ln w="15240">
            <a:solidFill>
              <a:srgbClr val="2580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82896" y="2231136"/>
            <a:ext cx="1929384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807E"/>
                </a:solidFill>
                <a:latin typeface="Arial"/>
              </a:rPr>
              <a:t>Fusion encoder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37760" y="2779776"/>
            <a:ext cx="694944" cy="530352"/>
          </a:xfrm>
          <a:prstGeom prst="roundRect">
            <a:avLst/>
          </a:prstGeom>
          <a:solidFill>
            <a:srgbClr val="E5F6F4"/>
          </a:solidFill>
          <a:ln w="16510">
            <a:solidFill>
              <a:srgbClr val="25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72E"/>
                </a:solidFill>
                <a:latin typeface="Arial"/>
              </a:rPr>
              <a:t>Concat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72E"/>
                </a:solidFill>
                <a:latin typeface="Arial"/>
              </a:rPr>
              <a:t>z_s + z_h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42432" y="2688336"/>
            <a:ext cx="786384" cy="713232"/>
          </a:xfrm>
          <a:prstGeom prst="roundRect">
            <a:avLst/>
          </a:prstGeom>
          <a:solidFill>
            <a:srgbClr val="E5F6F4"/>
          </a:solidFill>
          <a:ln w="17780">
            <a:solidFill>
              <a:srgbClr val="25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97296" y="2761488"/>
            <a:ext cx="676656" cy="2710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Fusion MLP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97296" y="3023555"/>
            <a:ext cx="676656" cy="256763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5807E"/>
                </a:solidFill>
                <a:latin typeface="Arial"/>
              </a:rPr>
              <a:t>LN + FC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5807E"/>
                </a:solidFill>
                <a:latin typeface="Arial"/>
              </a:rPr>
              <a:t>64 -&gt; 64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05856" y="3529584"/>
            <a:ext cx="822960" cy="310896"/>
          </a:xfrm>
          <a:prstGeom prst="roundRect">
            <a:avLst/>
          </a:prstGeom>
          <a:solidFill>
            <a:srgbClr val="D6EFED"/>
          </a:solidFill>
          <a:ln w="15240">
            <a:solidFill>
              <a:srgbClr val="258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2272E"/>
                </a:solidFill>
                <a:latin typeface="Arial"/>
              </a:rPr>
              <a:t>shared feature f_t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51376" y="1627632"/>
            <a:ext cx="786384" cy="1252728"/>
          </a:xfrm>
          <a:prstGeom prst="line">
            <a:avLst/>
          </a:prstGeom>
          <a:ln w="25400">
            <a:solidFill>
              <a:srgbClr val="2D5F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169663" y="3200400"/>
            <a:ext cx="768097" cy="960120"/>
          </a:xfrm>
          <a:prstGeom prst="line">
            <a:avLst/>
          </a:prstGeom>
          <a:ln w="25400">
            <a:solidFill>
              <a:srgbClr val="8468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650992" y="3044952"/>
            <a:ext cx="64008" cy="0"/>
          </a:xfrm>
          <a:prstGeom prst="line">
            <a:avLst/>
          </a:prstGeom>
          <a:ln w="20320">
            <a:solidFill>
              <a:srgbClr val="2580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108192" y="3410712"/>
            <a:ext cx="0" cy="100584"/>
          </a:xfrm>
          <a:prstGeom prst="line">
            <a:avLst/>
          </a:prstGeom>
          <a:ln w="17780">
            <a:solidFill>
              <a:srgbClr val="2580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223760" y="749808"/>
            <a:ext cx="4434840" cy="2267712"/>
          </a:xfrm>
          <a:prstGeom prst="rect">
            <a:avLst/>
          </a:prstGeom>
          <a:solidFill>
            <a:srgbClr val="FDFEFF"/>
          </a:solidFill>
          <a:ln w="15240">
            <a:solidFill>
              <a:srgbClr val="9B3B4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33488" y="804671"/>
            <a:ext cx="4215383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B3B4C"/>
                </a:solidFill>
                <a:latin typeface="Arial"/>
              </a:rPr>
              <a:t>Auxiliary future-dynamics module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52360" y="1481328"/>
            <a:ext cx="786384" cy="658368"/>
          </a:xfrm>
          <a:prstGeom prst="roundRect">
            <a:avLst/>
          </a:prstGeom>
          <a:solidFill>
            <a:srgbClr val="FCEBEE"/>
          </a:solidFill>
          <a:ln w="17780">
            <a:solidFill>
              <a:srgbClr val="9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07224" y="1554480"/>
            <a:ext cx="676656" cy="25017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Shared FC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07224" y="1790760"/>
            <a:ext cx="676656" cy="23701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B3B4C"/>
                </a:solidFill>
                <a:latin typeface="Arial"/>
              </a:rPr>
              <a:t>64 -&gt; 64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67344" y="1078992"/>
            <a:ext cx="987552" cy="640080"/>
          </a:xfrm>
          <a:prstGeom prst="roundRect">
            <a:avLst/>
          </a:prstGeom>
          <a:solidFill>
            <a:srgbClr val="F8DEE2"/>
          </a:solidFill>
          <a:ln w="17780">
            <a:solidFill>
              <a:srgbClr val="9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22208" y="1152144"/>
            <a:ext cx="877824" cy="24323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Future traj.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22208" y="1379829"/>
            <a:ext cx="877824" cy="2304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B3B4C"/>
                </a:solidFill>
                <a:latin typeface="Arial"/>
              </a:rPr>
              <a:t>64 -&gt; H*2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67344" y="2011680"/>
            <a:ext cx="987552" cy="640080"/>
          </a:xfrm>
          <a:prstGeom prst="roundRect">
            <a:avLst/>
          </a:prstGeom>
          <a:solidFill>
            <a:srgbClr val="F8DEE2"/>
          </a:solidFill>
          <a:ln w="17780">
            <a:solidFill>
              <a:srgbClr val="9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22208" y="2084832"/>
            <a:ext cx="877824" cy="24323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Risk head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22208" y="2312517"/>
            <a:ext cx="877824" cy="2304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B3B4C"/>
                </a:solidFill>
                <a:latin typeface="Arial"/>
              </a:rPr>
              <a:t>64 -&gt; 32 -&gt; 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84080" y="1024128"/>
            <a:ext cx="896112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72E"/>
                </a:solidFill>
                <a:latin typeface="Arial"/>
              </a:rPr>
              <a:t>predicted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72E"/>
                </a:solidFill>
                <a:latin typeface="Arial"/>
              </a:rPr>
              <a:t>future hand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72E"/>
                </a:solidFill>
                <a:latin typeface="Arial"/>
              </a:rPr>
              <a:t>motion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72E"/>
                </a:solidFill>
                <a:latin typeface="Arial"/>
              </a:rPr>
              <a:t>H=8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84080" y="1993392"/>
            <a:ext cx="896112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72E"/>
                </a:solidFill>
                <a:latin typeface="Arial"/>
              </a:rPr>
              <a:t>near-catch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72E"/>
                </a:solidFill>
                <a:latin typeface="Arial"/>
              </a:rPr>
              <a:t>risk logit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844784" y="1426464"/>
            <a:ext cx="640080" cy="786384"/>
          </a:xfrm>
          <a:prstGeom prst="roundRect">
            <a:avLst/>
          </a:prstGeom>
          <a:solidFill>
            <a:srgbClr val="FFF7F8"/>
          </a:solidFill>
          <a:ln w="12700">
            <a:solidFill>
              <a:srgbClr val="9B3B4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2272E"/>
                </a:solidFill>
                <a:latin typeface="Arial"/>
              </a:rP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2272E"/>
                </a:solidFill>
                <a:latin typeface="Arial"/>
              </a:rPr>
              <a:t>targets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2272E"/>
                </a:solidFill>
                <a:latin typeface="Arial"/>
              </a:rPr>
              <a:t>D, y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6528816" y="1810512"/>
            <a:ext cx="905256" cy="1828800"/>
          </a:xfrm>
          <a:prstGeom prst="line">
            <a:avLst/>
          </a:prstGeom>
          <a:ln w="22860">
            <a:solidFill>
              <a:srgbClr val="9B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247888" y="1389888"/>
            <a:ext cx="201168" cy="420624"/>
          </a:xfrm>
          <a:prstGeom prst="line">
            <a:avLst/>
          </a:prstGeom>
          <a:ln w="19050">
            <a:solidFill>
              <a:srgbClr val="9B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247888" y="1810512"/>
            <a:ext cx="201168" cy="521208"/>
          </a:xfrm>
          <a:prstGeom prst="line">
            <a:avLst/>
          </a:prstGeom>
          <a:ln w="19050">
            <a:solidFill>
              <a:srgbClr val="9B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473184" y="1399032"/>
            <a:ext cx="283464" cy="0"/>
          </a:xfrm>
          <a:prstGeom prst="line">
            <a:avLst/>
          </a:prstGeom>
          <a:ln w="19050">
            <a:solidFill>
              <a:srgbClr val="9B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473184" y="2331720"/>
            <a:ext cx="283464" cy="0"/>
          </a:xfrm>
          <a:prstGeom prst="line">
            <a:avLst/>
          </a:prstGeom>
          <a:ln w="19050">
            <a:solidFill>
              <a:srgbClr val="9B3B4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10671048" y="1444752"/>
            <a:ext cx="155448" cy="256032"/>
          </a:xfrm>
          <a:prstGeom prst="line">
            <a:avLst/>
          </a:prstGeom>
          <a:ln w="12700">
            <a:solidFill>
              <a:srgbClr val="9B3B4C"/>
            </a:solidFill>
            <a:tailEnd type="triangle"/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498079" y="2670048"/>
            <a:ext cx="35844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B3B4C"/>
                </a:solidFill>
                <a:latin typeface="Arial"/>
              </a:rPr>
              <a:t>aux loss: L_traj + L_risk updates the shared encoder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23760" y="3401568"/>
            <a:ext cx="4434840" cy="2057400"/>
          </a:xfrm>
          <a:prstGeom prst="rect">
            <a:avLst/>
          </a:prstGeom>
          <a:solidFill>
            <a:srgbClr val="FDFEFF"/>
          </a:solidFill>
          <a:ln w="15240">
            <a:solidFill>
              <a:srgbClr val="3F4E7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33488" y="3456432"/>
            <a:ext cx="4215383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4E74"/>
                </a:solidFill>
                <a:latin typeface="Arial"/>
              </a:rPr>
              <a:t>PPO actor-critic heads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626096" y="3977639"/>
            <a:ext cx="822960" cy="566928"/>
          </a:xfrm>
          <a:prstGeom prst="roundRect">
            <a:avLst/>
          </a:prstGeom>
          <a:solidFill>
            <a:srgbClr val="ECF0FC"/>
          </a:solidFill>
          <a:ln w="17780">
            <a:solidFill>
              <a:srgbClr val="3F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80960" y="4050791"/>
            <a:ext cx="713232" cy="2154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Actor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80960" y="4244096"/>
            <a:ext cx="713232" cy="20409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3F4E74"/>
                </a:solidFill>
                <a:latin typeface="Arial"/>
              </a:rPr>
              <a:t>policy MLP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626096" y="4736592"/>
            <a:ext cx="822960" cy="566928"/>
          </a:xfrm>
          <a:prstGeom prst="roundRect">
            <a:avLst/>
          </a:prstGeom>
          <a:solidFill>
            <a:srgbClr val="F4EFFB"/>
          </a:solidFill>
          <a:ln w="17780">
            <a:solidFill>
              <a:srgbClr val="5B4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80960" y="4809744"/>
            <a:ext cx="713232" cy="2154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72E"/>
                </a:solidFill>
                <a:latin typeface="Arial"/>
              </a:rPr>
              <a:t>Critic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80960" y="5003048"/>
            <a:ext cx="713232" cy="20409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B4C77"/>
                </a:solidFill>
                <a:latin typeface="Arial"/>
              </a:rPr>
              <a:t>value MLP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869680" y="3977639"/>
            <a:ext cx="987552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72E"/>
                </a:solidFill>
                <a:latin typeface="Arial"/>
              </a:rPr>
              <a:t>2D action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72E"/>
                </a:solidFill>
                <a:latin typeface="Arial"/>
              </a:rPr>
              <a:t>a_t=(dx,dy)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869680" y="4736592"/>
            <a:ext cx="987552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4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72E"/>
                </a:solidFill>
                <a:latin typeface="Arial"/>
              </a:rPr>
              <a:t>state value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72E"/>
                </a:solidFill>
                <a:latin typeface="Arial"/>
              </a:rPr>
              <a:t>V(o_t)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195560" y="4242816"/>
            <a:ext cx="960120" cy="658368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3F4E7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72E"/>
                </a:solidFill>
                <a:latin typeface="Arial"/>
              </a:rP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72E"/>
                </a:solidFill>
                <a:latin typeface="Arial"/>
              </a:rPr>
              <a:t>buffer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72E"/>
                </a:solidFill>
                <a:latin typeface="Arial"/>
              </a:rPr>
              <a:t>(o,a,r,V)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195560" y="5047488"/>
            <a:ext cx="960120" cy="292608"/>
          </a:xfrm>
          <a:prstGeom prst="roundRect">
            <a:avLst/>
          </a:prstGeom>
          <a:solidFill>
            <a:srgbClr val="ECF0FC"/>
          </a:solidFill>
          <a:ln w="12700">
            <a:solidFill>
              <a:srgbClr val="3F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2272E"/>
                </a:solidFill>
                <a:latin typeface="Arial"/>
              </a:rPr>
              <a:t>PPO loss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528816" y="3685032"/>
            <a:ext cx="1060704" cy="576072"/>
          </a:xfrm>
          <a:prstGeom prst="line">
            <a:avLst/>
          </a:prstGeom>
          <a:ln w="22860">
            <a:solidFill>
              <a:srgbClr val="3F4E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3685032"/>
            <a:ext cx="1060704" cy="1325880"/>
          </a:xfrm>
          <a:prstGeom prst="line">
            <a:avLst/>
          </a:prstGeom>
          <a:ln w="22860">
            <a:solidFill>
              <a:srgbClr val="5B4C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467344" y="4261104"/>
            <a:ext cx="374904" cy="0"/>
          </a:xfrm>
          <a:prstGeom prst="line">
            <a:avLst/>
          </a:prstGeom>
          <a:ln w="20320">
            <a:solidFill>
              <a:srgbClr val="3F4E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467344" y="5020056"/>
            <a:ext cx="374904" cy="0"/>
          </a:xfrm>
          <a:prstGeom prst="line">
            <a:avLst/>
          </a:prstGeom>
          <a:ln w="20320">
            <a:solidFill>
              <a:srgbClr val="5B4C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680192" y="4919472"/>
            <a:ext cx="0" cy="109728"/>
          </a:xfrm>
          <a:prstGeom prst="line">
            <a:avLst/>
          </a:prstGeom>
          <a:ln w="12700">
            <a:solidFill>
              <a:srgbClr val="3F4E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8485632" y="5193792"/>
            <a:ext cx="1709928" cy="0"/>
          </a:xfrm>
          <a:prstGeom prst="line">
            <a:avLst/>
          </a:prstGeom>
          <a:ln w="12700">
            <a:solidFill>
              <a:srgbClr val="3F4E7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1828800" y="5815584"/>
            <a:ext cx="8595360" cy="384048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B9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085"/>
                </a:solidFill>
                <a:latin typeface="Arial"/>
              </a:rPr>
              <a:t>Training objective: L_total = L_PPO + lambda_traj L_traj + lambda_risk L_risk   |   shared encoder receives PPO and auxiliary gradients</a:t>
            </a:r>
          </a:p>
        </p:txBody>
      </p:sp>
      <p:cxnSp>
        <p:nvCxnSpPr>
          <p:cNvPr id="101" name="Connector 100"/>
          <p:cNvCxnSpPr/>
          <p:nvPr/>
        </p:nvCxnSpPr>
        <p:spPr>
          <a:xfrm flipV="1">
            <a:off x="6108192" y="3858768"/>
            <a:ext cx="0" cy="1938528"/>
          </a:xfrm>
          <a:prstGeom prst="line">
            <a:avLst/>
          </a:prstGeom>
          <a:ln w="12700">
            <a:solidFill>
              <a:srgbClr val="25807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