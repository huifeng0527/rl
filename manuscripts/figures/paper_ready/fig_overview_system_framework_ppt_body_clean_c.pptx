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" y="118872"/>
            <a:ext cx="91440" cy="91440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73152"/>
            <a:ext cx="84124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robot / microrobot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18872"/>
            <a:ext cx="91440" cy="9144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73352" y="73152"/>
            <a:ext cx="694944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patient hand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18872"/>
            <a:ext cx="91440" cy="91440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3152"/>
            <a:ext cx="6766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vision /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6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206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Adaptive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Image-to-Observation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346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06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93108" y="1618488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7388" y="1444752"/>
            <a:ext cx="62179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O_t, r_t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293108" y="2112264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4276" y="2249424"/>
            <a:ext cx="2743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F6F2E"/>
                </a:solidFill>
                <a:latin typeface="Arial"/>
              </a:rPr>
              <a:t>a_t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97980" y="3488436"/>
            <a:ext cx="109728" cy="530352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1988" y="3698748"/>
            <a:ext cx="841248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trained policy</a:t>
            </a:r>
          </a:p>
        </p:txBody>
      </p:sp>
      <p:sp>
        <p:nvSpPr>
          <p:cNvPr id="26" name="Up Arrow 25"/>
          <p:cNvSpPr/>
          <p:nvPr/>
        </p:nvSpPr>
        <p:spPr>
          <a:xfrm>
            <a:off x="2331720" y="3488436"/>
            <a:ext cx="109728" cy="530352"/>
          </a:xfrm>
          <a:prstGeom prst="up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3698748"/>
            <a:ext cx="65836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356B6"/>
                </a:solidFill>
                <a:latin typeface="Arial"/>
              </a:rPr>
              <a:t>same task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293108" y="5061204"/>
            <a:ext cx="530352" cy="109728"/>
          </a:xfrm>
          <a:prstGeom prst="lef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7972" y="4878324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image feed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93108" y="569214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8828" y="5847588"/>
            <a:ext cx="53035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agent O_t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1344168"/>
            <a:ext cx="1965960" cy="1481328"/>
          </a:xfrm>
          <a:prstGeom prst="rect">
            <a:avLst/>
          </a:prstGeom>
          <a:solidFill>
            <a:srgbClr val="F4F6F8"/>
          </a:solidFill>
          <a:ln w="12700">
            <a:solidFill>
              <a:srgbClr val="C5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0469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5044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9618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4193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8767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3342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952" y="1591056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8952" y="1837944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8952" y="2084832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8952" y="2331720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691640" y="1837944"/>
            <a:ext cx="438912" cy="43891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73352" y="1737360"/>
            <a:ext cx="45720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3A8C4A"/>
                </a:solidFill>
                <a:latin typeface="Arial"/>
              </a:rPr>
              <a:t>ZPD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" y="1783080"/>
            <a:ext cx="365760" cy="128016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62456" y="1911096"/>
            <a:ext cx="365760" cy="192024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746504" y="2203704"/>
            <a:ext cx="329184" cy="16459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69264" y="1728216"/>
            <a:ext cx="100584" cy="100584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57400" y="2295144"/>
            <a:ext cx="164592" cy="164592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28216" y="2075688"/>
            <a:ext cx="73152" cy="73152"/>
          </a:xfrm>
          <a:prstGeom prst="ellipse">
            <a:avLst/>
          </a:prstGeom>
          <a:solidFill>
            <a:srgbClr val="C92525"/>
          </a:solidFill>
          <a:ln w="8890">
            <a:solidFill>
              <a:srgbClr val="C9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" y="2898648"/>
            <a:ext cx="1892807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6A73"/>
                </a:solidFill>
                <a:latin typeface="Arial"/>
              </a:rPr>
              <a:t>ZPD pursuit task workspace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98648" y="1106424"/>
            <a:ext cx="126187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F6F2E"/>
                </a:solidFill>
                <a:latin typeface="Arial"/>
              </a:rPr>
              <a:t>CMD-DR virtual patient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98648" y="1325880"/>
            <a:ext cx="1243584" cy="41148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Intent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scripted / 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98648" y="1856232"/>
            <a:ext cx="1243584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Motor execution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delay / noise / smoothing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98648" y="2496312"/>
            <a:ext cx="1243584" cy="347472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Patient diversity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20440" y="1737360"/>
            <a:ext cx="0" cy="11887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520440" y="2331720"/>
            <a:ext cx="0" cy="164592"/>
          </a:xfrm>
          <a:prstGeom prst="line">
            <a:avLst/>
          </a:prstGeom>
          <a:ln w="12700">
            <a:solidFill>
              <a:srgbClr val="735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78408" y="3026663"/>
            <a:ext cx="978408" cy="29260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Observation O_t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12264" y="3026663"/>
            <a:ext cx="978408" cy="29260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46120" y="3026663"/>
            <a:ext cx="978408" cy="292608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Reward r_t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207508" y="1097280"/>
            <a:ext cx="3154680" cy="17922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2100" y="1225296"/>
            <a:ext cx="65836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948" y="1225296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3236" y="1225296"/>
            <a:ext cx="6400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6148" y="1764792"/>
            <a:ext cx="658368" cy="182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6148" y="1783080"/>
            <a:ext cx="658368" cy="2834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6148" y="1783080"/>
            <a:ext cx="658368" cy="73152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6148" y="1783080"/>
            <a:ext cx="658368" cy="9875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6148" y="1764792"/>
            <a:ext cx="658368" cy="2651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6148" y="2029968"/>
            <a:ext cx="658368" cy="365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6148" y="2029968"/>
            <a:ext cx="658368" cy="4846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6148" y="2029968"/>
            <a:ext cx="658368" cy="7406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6148" y="1764792"/>
            <a:ext cx="658368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6148" y="2066544"/>
            <a:ext cx="658368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56148" y="2514600"/>
            <a:ext cx="658368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6148" y="2514600"/>
            <a:ext cx="658368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6148" y="1764792"/>
            <a:ext cx="658368" cy="99669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6148" y="2066544"/>
            <a:ext cx="658368" cy="6949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6148" y="2514600"/>
            <a:ext cx="658368" cy="2468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6148" y="2761488"/>
            <a:ext cx="658368" cy="91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15684" y="176479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15684" y="2066544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15684" y="2514600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15684" y="277063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420356" y="1764792"/>
            <a:ext cx="621792" cy="475487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20356" y="2066544"/>
            <a:ext cx="621792" cy="173735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420356" y="2240279"/>
            <a:ext cx="621792" cy="274321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420356" y="2240279"/>
            <a:ext cx="621792" cy="530353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91556" y="170078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591556" y="194767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91556" y="243230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591556" y="267919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14516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219188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414516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19188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14516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19188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414516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219188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87668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487668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292340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292340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042148" y="2139696"/>
            <a:ext cx="219456" cy="219456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62372" y="1463040"/>
            <a:ext cx="676656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task state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34940" y="2176272"/>
            <a:ext cx="7315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motion history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68996" y="2459736"/>
            <a:ext cx="53035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41832" y="5170932"/>
            <a:ext cx="1097280" cy="96012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152144" y="5747004"/>
            <a:ext cx="310896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216152" y="5783580"/>
            <a:ext cx="128016" cy="128016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563624" y="5445252"/>
            <a:ext cx="338328" cy="228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645920" y="5481828"/>
            <a:ext cx="164592" cy="164592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14984" y="6195060"/>
            <a:ext cx="950976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6A73"/>
                </a:solidFill>
                <a:latin typeface="Arial"/>
              </a:rPr>
              <a:t>camera image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2167128" y="5573268"/>
            <a:ext cx="274320" cy="109728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496312" y="5079492"/>
            <a:ext cx="960120" cy="1133856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Detect + map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microrobot p_m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hand p_h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workspace coords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3502152" y="5573268"/>
            <a:ext cx="274320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831336" y="5079492"/>
            <a:ext cx="658368" cy="1133856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O_t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positions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distance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history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756148" y="5070348"/>
            <a:ext cx="1664208" cy="1124712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real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setup photo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234940" y="5353812"/>
            <a:ext cx="841248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camera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+ hand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566660" y="4805172"/>
            <a:ext cx="969264" cy="3657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20 Hz policy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621524" y="5481828"/>
            <a:ext cx="859536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UR10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RTDE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438644" y="6286500"/>
            <a:ext cx="1042415" cy="36576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magnetic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actuation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280660" y="6286500"/>
            <a:ext cx="950976" cy="36576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inset</a:t>
            </a:r>
          </a:p>
        </p:txBody>
      </p:sp>
      <p:cxnSp>
        <p:nvCxnSpPr>
          <p:cNvPr id="137" name="Connector 136"/>
          <p:cNvCxnSpPr/>
          <p:nvPr/>
        </p:nvCxnSpPr>
        <p:spPr>
          <a:xfrm flipH="1">
            <a:off x="5756148" y="5527548"/>
            <a:ext cx="320040" cy="54864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420356" y="5609844"/>
            <a:ext cx="201168" cy="36576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228332" y="5975604"/>
            <a:ext cx="210312" cy="384048"/>
          </a:xfrm>
          <a:prstGeom prst="line">
            <a:avLst/>
          </a:prstGeom>
          <a:ln w="1143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6103620" y="6076188"/>
            <a:ext cx="128016" cy="393192"/>
          </a:xfrm>
          <a:prstGeom prst="line">
            <a:avLst/>
          </a:prstGeom>
          <a:ln w="11430">
            <a:solidFill>
              <a:srgbClr val="C5CC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ight Arrow 140"/>
          <p:cNvSpPr/>
          <p:nvPr/>
        </p:nvSpPr>
        <p:spPr>
          <a:xfrm>
            <a:off x="5719572" y="5024628"/>
            <a:ext cx="1828800" cy="91440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own Arrow 141"/>
          <p:cNvSpPr/>
          <p:nvPr/>
        </p:nvSpPr>
        <p:spPr>
          <a:xfrm>
            <a:off x="7978140" y="5198364"/>
            <a:ext cx="91440" cy="256032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Down Arrow 142"/>
          <p:cNvSpPr/>
          <p:nvPr/>
        </p:nvSpPr>
        <p:spPr>
          <a:xfrm>
            <a:off x="7959852" y="5856731"/>
            <a:ext cx="91440" cy="32918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