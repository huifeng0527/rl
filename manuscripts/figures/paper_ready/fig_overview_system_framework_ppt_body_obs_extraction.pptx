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38912" y="118872"/>
            <a:ext cx="91440" cy="91440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784" y="73152"/>
            <a:ext cx="84124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robot / microrobot</a:t>
            </a:r>
          </a:p>
        </p:txBody>
      </p:sp>
      <p:sp>
        <p:nvSpPr>
          <p:cNvPr id="4" name="Oval 3"/>
          <p:cNvSpPr/>
          <p:nvPr/>
        </p:nvSpPr>
        <p:spPr>
          <a:xfrm>
            <a:off x="1554480" y="118872"/>
            <a:ext cx="91440" cy="91440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73352" y="73152"/>
            <a:ext cx="694944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patient hand</a:t>
            </a:r>
          </a:p>
        </p:txBody>
      </p:sp>
      <p:sp>
        <p:nvSpPr>
          <p:cNvPr id="6" name="Oval 5"/>
          <p:cNvSpPr/>
          <p:nvPr/>
        </p:nvSpPr>
        <p:spPr>
          <a:xfrm>
            <a:off x="2395728" y="118872"/>
            <a:ext cx="91440" cy="91440"/>
          </a:xfrm>
          <a:prstGeom prst="ellipse">
            <a:avLst/>
          </a:prstGeom>
          <a:solidFill>
            <a:srgbClr val="3A8C4A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73152"/>
            <a:ext cx="676656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666A73"/>
                </a:solidFill>
                <a:latin typeface="Arial"/>
              </a:rPr>
              <a:t>vision /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50292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922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Simulation Environment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3460" y="50292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2060" y="24688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0" y="64922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Adaptive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00050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446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4680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Vision-to-Observation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3460" y="4000500"/>
            <a:ext cx="3909060" cy="29946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060" y="3744468"/>
            <a:ext cx="228600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0" y="4146804"/>
            <a:ext cx="326898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C92525"/>
                </a:solidFill>
                <a:latin typeface="Arial"/>
              </a:rPr>
              <a:t>Real-World Rehabilitation Platform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293108" y="1618488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47388" y="1444752"/>
            <a:ext cx="62179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O_t, r_t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4293108" y="2112264"/>
            <a:ext cx="530352" cy="109728"/>
          </a:xfrm>
          <a:prstGeom prst="left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4276" y="2249424"/>
            <a:ext cx="27432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F6F2E"/>
                </a:solidFill>
                <a:latin typeface="Arial"/>
              </a:rPr>
              <a:t>a_t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697980" y="3488436"/>
            <a:ext cx="109728" cy="530352"/>
          </a:xfrm>
          <a:prstGeom prst="down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1988" y="3698748"/>
            <a:ext cx="841248" cy="2011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trained policy</a:t>
            </a:r>
          </a:p>
        </p:txBody>
      </p:sp>
      <p:sp>
        <p:nvSpPr>
          <p:cNvPr id="26" name="Up Arrow 25"/>
          <p:cNvSpPr/>
          <p:nvPr/>
        </p:nvSpPr>
        <p:spPr>
          <a:xfrm>
            <a:off x="2331720" y="3488436"/>
            <a:ext cx="109728" cy="530352"/>
          </a:xfrm>
          <a:prstGeom prst="upArrow">
            <a:avLst/>
          </a:prstGeom>
          <a:solidFill>
            <a:srgbClr val="7356B6"/>
          </a:solidFill>
          <a:ln w="6350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19072" y="3698748"/>
            <a:ext cx="658368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356B6"/>
                </a:solidFill>
                <a:latin typeface="Arial"/>
              </a:rPr>
              <a:t>same task</a:t>
            </a:r>
          </a:p>
        </p:txBody>
      </p:sp>
      <p:sp>
        <p:nvSpPr>
          <p:cNvPr id="28" name="Left Arrow 27"/>
          <p:cNvSpPr/>
          <p:nvPr/>
        </p:nvSpPr>
        <p:spPr>
          <a:xfrm>
            <a:off x="4293108" y="5061204"/>
            <a:ext cx="530352" cy="109728"/>
          </a:xfrm>
          <a:prstGeom prst="lef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7972" y="4878324"/>
            <a:ext cx="475488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A8C4A"/>
                </a:solidFill>
                <a:latin typeface="Arial"/>
              </a:rPr>
              <a:t>image feed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293108" y="5692140"/>
            <a:ext cx="530352" cy="109728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38828" y="5847588"/>
            <a:ext cx="53035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2F6FA7"/>
                </a:solidFill>
                <a:latin typeface="Arial"/>
              </a:rPr>
              <a:t>agent O_t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1344168"/>
            <a:ext cx="1965960" cy="1481328"/>
          </a:xfrm>
          <a:prstGeom prst="rect">
            <a:avLst/>
          </a:prstGeom>
          <a:solidFill>
            <a:srgbClr val="F4F6F8"/>
          </a:solidFill>
          <a:ln w="12700">
            <a:solidFill>
              <a:srgbClr val="C5C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04697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250442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496187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741932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987677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33422" y="1344168"/>
            <a:ext cx="0" cy="1481328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8952" y="1591056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58952" y="1837944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58952" y="2084832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58952" y="2331720"/>
            <a:ext cx="1965960" cy="0"/>
          </a:xfrm>
          <a:prstGeom prst="line">
            <a:avLst/>
          </a:prstGeom>
          <a:ln w="3175">
            <a:solidFill>
              <a:srgbClr val="DD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691640" y="1837944"/>
            <a:ext cx="438912" cy="438912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73352" y="1737360"/>
            <a:ext cx="45720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3A8C4A"/>
                </a:solidFill>
                <a:latin typeface="Arial"/>
              </a:rPr>
              <a:t>ZPD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96696" y="1783080"/>
            <a:ext cx="365760" cy="128016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62456" y="1911096"/>
            <a:ext cx="365760" cy="192024"/>
          </a:xfrm>
          <a:prstGeom prst="line">
            <a:avLst/>
          </a:prstGeom>
          <a:ln w="12700">
            <a:solidFill>
              <a:srgbClr val="2F6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746504" y="2203704"/>
            <a:ext cx="329184" cy="164592"/>
          </a:xfrm>
          <a:prstGeom prst="line">
            <a:avLst/>
          </a:prstGeom>
          <a:ln w="1270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969264" y="1728216"/>
            <a:ext cx="100584" cy="100584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057400" y="2295144"/>
            <a:ext cx="164592" cy="164592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728216" y="2075688"/>
            <a:ext cx="73152" cy="73152"/>
          </a:xfrm>
          <a:prstGeom prst="ellipse">
            <a:avLst/>
          </a:prstGeom>
          <a:solidFill>
            <a:srgbClr val="C92525"/>
          </a:solidFill>
          <a:ln w="8890">
            <a:solidFill>
              <a:srgbClr val="C9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" y="2898648"/>
            <a:ext cx="1892807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666A73"/>
                </a:solidFill>
                <a:latin typeface="Arial"/>
              </a:rPr>
              <a:t>ZPD pursuit task workspace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98648" y="1106424"/>
            <a:ext cx="1261872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CF6F2E"/>
                </a:solidFill>
                <a:latin typeface="Arial"/>
              </a:rPr>
              <a:t>CMD-DR virtual patient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898648" y="1325880"/>
            <a:ext cx="1243584" cy="411480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22222"/>
                </a:solidFill>
                <a:latin typeface="Arial"/>
              </a:rPr>
              <a:t>Intent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222222"/>
                </a:solidFill>
                <a:latin typeface="Arial"/>
              </a:rPr>
              <a:t>scripted / learned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98648" y="1856232"/>
            <a:ext cx="1243584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Motor execution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delay / noise / smoothing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98648" y="2496312"/>
            <a:ext cx="1243584" cy="347472"/>
          </a:xfrm>
          <a:prstGeom prst="roundRect">
            <a:avLst/>
          </a:prstGeom>
          <a:solidFill>
            <a:srgbClr val="F0ECFA"/>
          </a:solidFill>
          <a:ln w="15875">
            <a:solidFill>
              <a:srgbClr val="7356B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22222"/>
                </a:solidFill>
                <a:latin typeface="Arial"/>
              </a:rPr>
              <a:t>Patient diversity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520440" y="1737360"/>
            <a:ext cx="0" cy="118872"/>
          </a:xfrm>
          <a:prstGeom prst="line">
            <a:avLst/>
          </a:prstGeom>
          <a:ln w="1270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520440" y="2331720"/>
            <a:ext cx="0" cy="164592"/>
          </a:xfrm>
          <a:prstGeom prst="line">
            <a:avLst/>
          </a:prstGeom>
          <a:ln w="12700">
            <a:solidFill>
              <a:srgbClr val="7356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978408" y="3026663"/>
            <a:ext cx="978408" cy="292608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Observation O_t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12264" y="3026663"/>
            <a:ext cx="978408" cy="292608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Action a_t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46120" y="3026663"/>
            <a:ext cx="978408" cy="292608"/>
          </a:xfrm>
          <a:prstGeom prst="roundRect">
            <a:avLst/>
          </a:prstGeom>
          <a:solidFill>
            <a:srgbClr val="F0ECFA"/>
          </a:solidFill>
          <a:ln w="15875">
            <a:solidFill>
              <a:srgbClr val="7356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222222"/>
                </a:solidFill>
                <a:latin typeface="Arial"/>
              </a:rPr>
              <a:t>Reward r_t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207508" y="1097280"/>
            <a:ext cx="3154680" cy="179222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72100" y="1225296"/>
            <a:ext cx="65836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Input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1948" y="1225296"/>
            <a:ext cx="1024128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Hidden layers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03236" y="1225296"/>
            <a:ext cx="640080" cy="21945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222222"/>
                </a:solidFill>
                <a:latin typeface="Arial"/>
              </a:rPr>
              <a:t>Output layer</a:t>
            </a:r>
          </a:p>
        </p:txBody>
      </p:sp>
      <p:cxnSp>
        <p:nvCxnSpPr>
          <p:cNvPr id="65" name="Connector 64"/>
          <p:cNvCxnSpPr/>
          <p:nvPr/>
        </p:nvCxnSpPr>
        <p:spPr>
          <a:xfrm flipV="1">
            <a:off x="5756148" y="1764792"/>
            <a:ext cx="658368" cy="182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5756148" y="1783080"/>
            <a:ext cx="658368" cy="28346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756148" y="1783080"/>
            <a:ext cx="658368" cy="73152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56148" y="1783080"/>
            <a:ext cx="658368" cy="9875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5756148" y="1764792"/>
            <a:ext cx="658368" cy="26517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756148" y="2029968"/>
            <a:ext cx="658368" cy="3657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756148" y="2029968"/>
            <a:ext cx="658368" cy="4846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756148" y="2029968"/>
            <a:ext cx="658368" cy="74066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756148" y="1764792"/>
            <a:ext cx="658368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756148" y="2066544"/>
            <a:ext cx="658368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756148" y="2514600"/>
            <a:ext cx="658368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756148" y="2514600"/>
            <a:ext cx="658368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5756148" y="1764792"/>
            <a:ext cx="658368" cy="99669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5756148" y="2066544"/>
            <a:ext cx="658368" cy="69494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5756148" y="2514600"/>
            <a:ext cx="658368" cy="2468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756148" y="2761488"/>
            <a:ext cx="658368" cy="9144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615684" y="1764792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615684" y="1764792"/>
            <a:ext cx="603504" cy="3017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615684" y="1764792"/>
            <a:ext cx="603504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615684" y="1764792"/>
            <a:ext cx="603504" cy="100584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6615684" y="1764792"/>
            <a:ext cx="603504" cy="30175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6615684" y="2066544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615684" y="2066544"/>
            <a:ext cx="603504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615684" y="2066544"/>
            <a:ext cx="603504" cy="7040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6615684" y="1764792"/>
            <a:ext cx="603504" cy="74980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6615684" y="2066544"/>
            <a:ext cx="603504" cy="448056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615684" y="2514600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615684" y="2514600"/>
            <a:ext cx="603504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6615684" y="1764792"/>
            <a:ext cx="603504" cy="100584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6615684" y="2066544"/>
            <a:ext cx="603504" cy="704088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6615684" y="2514600"/>
            <a:ext cx="603504" cy="256032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615684" y="2770632"/>
            <a:ext cx="603504" cy="0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7420356" y="1764792"/>
            <a:ext cx="621792" cy="475487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7420356" y="2066544"/>
            <a:ext cx="621792" cy="173735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7420356" y="2240279"/>
            <a:ext cx="621792" cy="274321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7420356" y="2240279"/>
            <a:ext cx="621792" cy="530353"/>
          </a:xfrm>
          <a:prstGeom prst="line">
            <a:avLst/>
          </a:prstGeom>
          <a:ln w="5715">
            <a:solidFill>
              <a:srgbClr val="9BB7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591556" y="1700784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5591556" y="1947672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5591556" y="2432304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5591556" y="2679192"/>
            <a:ext cx="164592" cy="164592"/>
          </a:xfrm>
          <a:prstGeom prst="ellipse">
            <a:avLst/>
          </a:prstGeom>
          <a:solidFill>
            <a:srgbClr val="FFF0E4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414516" y="166420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219188" y="166420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414516" y="1965960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219188" y="1965960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414516" y="2414016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219188" y="2414016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414516" y="267004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219188" y="2670048"/>
            <a:ext cx="201168" cy="201168"/>
          </a:xfrm>
          <a:prstGeom prst="ellipse">
            <a:avLst/>
          </a:prstGeom>
          <a:solidFill>
            <a:srgbClr val="E9F2FB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6487668" y="219456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6487668" y="233172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292340" y="219456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292340" y="2331720"/>
            <a:ext cx="50292" cy="50292"/>
          </a:xfrm>
          <a:prstGeom prst="ellipse">
            <a:avLst/>
          </a:prstGeom>
          <a:solidFill>
            <a:srgbClr val="222222"/>
          </a:solidFill>
          <a:ln w="889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042148" y="2139696"/>
            <a:ext cx="219456" cy="219456"/>
          </a:xfrm>
          <a:prstGeom prst="ellipse">
            <a:avLst/>
          </a:prstGeom>
          <a:solidFill>
            <a:srgbClr val="E9F5EB"/>
          </a:solidFill>
          <a:ln w="889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262372" y="1463040"/>
            <a:ext cx="676656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task state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234940" y="2176272"/>
            <a:ext cx="731520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60" b="0">
                <a:solidFill>
                  <a:srgbClr val="222222"/>
                </a:solidFill>
                <a:latin typeface="Arial"/>
              </a:rPr>
              <a:t>motion history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68996" y="2459736"/>
            <a:ext cx="530352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222222"/>
                </a:solidFill>
                <a:latin typeface="Arial"/>
              </a:rPr>
              <a:t>action a_t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50392" y="4933188"/>
            <a:ext cx="1005840" cy="859536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33271" y="5445252"/>
            <a:ext cx="283464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97280" y="5481827"/>
            <a:ext cx="118872" cy="118872"/>
          </a:xfrm>
          <a:prstGeom prst="ellipse">
            <a:avLst/>
          </a:prstGeom>
          <a:solidFill>
            <a:srgbClr val="2F6FA7"/>
          </a:solidFill>
          <a:ln w="889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417319" y="5180075"/>
            <a:ext cx="310896" cy="210312"/>
          </a:xfrm>
          <a:prstGeom prst="rect">
            <a:avLst/>
          </a:prstGeom>
          <a:solidFill>
            <a:srgbClr val="FFFFFF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490472" y="5216651"/>
            <a:ext cx="155448" cy="155448"/>
          </a:xfrm>
          <a:prstGeom prst="ellipse">
            <a:avLst/>
          </a:prstGeom>
          <a:solidFill>
            <a:srgbClr val="CF6F2E"/>
          </a:solidFill>
          <a:ln w="889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86968" y="5838444"/>
            <a:ext cx="932688" cy="16459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666A73"/>
                </a:solidFill>
                <a:latin typeface="Arial"/>
              </a:rPr>
              <a:t>camera image</a:t>
            </a:r>
          </a:p>
        </p:txBody>
      </p:sp>
      <p:sp>
        <p:nvSpPr>
          <p:cNvPr id="127" name="Right Arrow 126"/>
          <p:cNvSpPr/>
          <p:nvPr/>
        </p:nvSpPr>
        <p:spPr>
          <a:xfrm>
            <a:off x="1938528" y="5298948"/>
            <a:ext cx="237744" cy="100584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2194560" y="4750308"/>
            <a:ext cx="950976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22222"/>
                </a:solidFill>
                <a:latin typeface="Arial"/>
              </a:rPr>
              <a:t>YOLO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22222"/>
                </a:solidFill>
                <a:latin typeface="Arial"/>
              </a:rPr>
              <a:t>microrobot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194560" y="5225796"/>
            <a:ext cx="950976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22222"/>
                </a:solidFill>
                <a:latin typeface="Arial"/>
              </a:rPr>
              <a:t>MediaPipe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22222"/>
                </a:solidFill>
                <a:latin typeface="Arial"/>
              </a:rPr>
              <a:t>hand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194560" y="5701284"/>
            <a:ext cx="950976" cy="34747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22222"/>
                </a:solidFill>
                <a:latin typeface="Arial"/>
              </a:rPr>
              <a:t>workspace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22222"/>
                </a:solidFill>
                <a:latin typeface="Arial"/>
              </a:rPr>
              <a:t>calibration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67128" y="6140196"/>
            <a:ext cx="1005840" cy="1828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666A73"/>
                </a:solidFill>
                <a:latin typeface="Arial"/>
              </a:rPr>
              <a:t>image -&gt; workspace state</a:t>
            </a:r>
          </a:p>
        </p:txBody>
      </p:sp>
      <p:sp>
        <p:nvSpPr>
          <p:cNvPr id="132" name="Right Arrow 131"/>
          <p:cNvSpPr/>
          <p:nvPr/>
        </p:nvSpPr>
        <p:spPr>
          <a:xfrm>
            <a:off x="3200400" y="5298948"/>
            <a:ext cx="237744" cy="100584"/>
          </a:xfrm>
          <a:prstGeom prst="right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3465576" y="4786884"/>
            <a:ext cx="877824" cy="1316736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222222"/>
                </a:solidFill>
                <a:latin typeface="Arial"/>
              </a:rPr>
              <a:t>Agent obs. O_t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222222"/>
                </a:solidFill>
                <a:latin typeface="Arial"/>
              </a:rPr>
              <a:t>p_m, p_h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222222"/>
                </a:solidFill>
                <a:latin typeface="Arial"/>
              </a:rPr>
              <a:t>relative distance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222222"/>
                </a:solidFill>
                <a:latin typeface="Arial"/>
              </a:rPr>
              <a:t>boundary margin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222222"/>
                </a:solidFill>
                <a:latin typeface="Arial"/>
              </a:rPr>
              <a:t>history + prev a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1069848" y="6487668"/>
            <a:ext cx="274320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structured observation vector for PPO policy inference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756148" y="5070348"/>
            <a:ext cx="1664208" cy="1124712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insert real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setup photo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234940" y="5353812"/>
            <a:ext cx="841248" cy="34747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camera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+ hand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566660" y="4805172"/>
            <a:ext cx="969264" cy="365760"/>
          </a:xfrm>
          <a:prstGeom prst="roundRect">
            <a:avLst/>
          </a:prstGeom>
          <a:solidFill>
            <a:srgbClr val="E9F2FB"/>
          </a:solidFill>
          <a:ln w="15875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Arial"/>
              </a:rPr>
              <a:t>20 Hz policy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22222"/>
                </a:solidFill>
                <a:latin typeface="Arial"/>
              </a:rPr>
              <a:t>inference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621524" y="5481828"/>
            <a:ext cx="859536" cy="347472"/>
          </a:xfrm>
          <a:prstGeom prst="roundRect">
            <a:avLst/>
          </a:prstGeom>
          <a:solidFill>
            <a:srgbClr val="E9F5EB"/>
          </a:solidFill>
          <a:ln w="15875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UR10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222222"/>
                </a:solidFill>
                <a:latin typeface="Arial"/>
              </a:rPr>
              <a:t>RTDE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438644" y="6286500"/>
            <a:ext cx="1042415" cy="365760"/>
          </a:xfrm>
          <a:prstGeom prst="roundRect">
            <a:avLst/>
          </a:prstGeom>
          <a:solidFill>
            <a:srgbClr val="FFF0E4"/>
          </a:solidFill>
          <a:ln w="15875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magnetic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22222"/>
                </a:solidFill>
                <a:latin typeface="Arial"/>
              </a:rPr>
              <a:t>actuation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280660" y="6286500"/>
            <a:ext cx="950976" cy="365760"/>
          </a:xfrm>
          <a:prstGeom prst="rect">
            <a:avLst/>
          </a:prstGeom>
          <a:solidFill>
            <a:srgbClr val="F4F6F8"/>
          </a:solidFill>
          <a:ln w="13970">
            <a:solidFill>
              <a:srgbClr val="C5CC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workspace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6A73"/>
                </a:solidFill>
                <a:latin typeface="Arial"/>
              </a:rPr>
              <a:t>inset</a:t>
            </a:r>
          </a:p>
        </p:txBody>
      </p:sp>
      <p:cxnSp>
        <p:nvCxnSpPr>
          <p:cNvPr id="141" name="Connector 140"/>
          <p:cNvCxnSpPr/>
          <p:nvPr/>
        </p:nvCxnSpPr>
        <p:spPr>
          <a:xfrm flipH="1">
            <a:off x="5756148" y="5527548"/>
            <a:ext cx="320040" cy="54864"/>
          </a:xfrm>
          <a:prstGeom prst="line">
            <a:avLst/>
          </a:prstGeom>
          <a:ln w="11430">
            <a:solidFill>
              <a:srgbClr val="3A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420356" y="5609844"/>
            <a:ext cx="201168" cy="36576"/>
          </a:xfrm>
          <a:prstGeom prst="line">
            <a:avLst/>
          </a:prstGeom>
          <a:ln w="11430">
            <a:solidFill>
              <a:srgbClr val="3A8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228332" y="5975604"/>
            <a:ext cx="210312" cy="384048"/>
          </a:xfrm>
          <a:prstGeom prst="line">
            <a:avLst/>
          </a:prstGeom>
          <a:ln w="11430">
            <a:solidFill>
              <a:srgbClr val="CF6F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 flipV="1">
            <a:off x="6103620" y="6076188"/>
            <a:ext cx="128016" cy="393192"/>
          </a:xfrm>
          <a:prstGeom prst="line">
            <a:avLst/>
          </a:prstGeom>
          <a:ln w="11430">
            <a:solidFill>
              <a:srgbClr val="C5CC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ight Arrow 144"/>
          <p:cNvSpPr/>
          <p:nvPr/>
        </p:nvSpPr>
        <p:spPr>
          <a:xfrm>
            <a:off x="5719572" y="5024628"/>
            <a:ext cx="1828800" cy="91440"/>
          </a:xfrm>
          <a:prstGeom prst="rightArrow">
            <a:avLst/>
          </a:prstGeom>
          <a:solidFill>
            <a:srgbClr val="3A8C4A"/>
          </a:solidFill>
          <a:ln w="6350">
            <a:solidFill>
              <a:srgbClr val="3A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Down Arrow 145"/>
          <p:cNvSpPr/>
          <p:nvPr/>
        </p:nvSpPr>
        <p:spPr>
          <a:xfrm>
            <a:off x="7978140" y="5198364"/>
            <a:ext cx="91440" cy="256032"/>
          </a:xfrm>
          <a:prstGeom prst="downArrow">
            <a:avLst/>
          </a:prstGeom>
          <a:solidFill>
            <a:srgbClr val="2F6FA7"/>
          </a:solidFill>
          <a:ln w="6350">
            <a:solidFill>
              <a:srgbClr val="2F6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Down Arrow 146"/>
          <p:cNvSpPr/>
          <p:nvPr/>
        </p:nvSpPr>
        <p:spPr>
          <a:xfrm>
            <a:off x="7959852" y="5856731"/>
            <a:ext cx="91440" cy="329184"/>
          </a:xfrm>
          <a:prstGeom prst="downArrow">
            <a:avLst/>
          </a:prstGeom>
          <a:solidFill>
            <a:srgbClr val="CF6F2E"/>
          </a:solidFill>
          <a:ln w="6350">
            <a:solidFill>
              <a:srgbClr val="CF6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