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" y="118872"/>
            <a:ext cx="91440" cy="91440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73152"/>
            <a:ext cx="84124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robot / microrobot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18872"/>
            <a:ext cx="91440" cy="91440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73352" y="73152"/>
            <a:ext cx="694944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patient hand</a:t>
            </a:r>
          </a:p>
        </p:txBody>
      </p:sp>
      <p:sp>
        <p:nvSpPr>
          <p:cNvPr id="6" name="Oval 5"/>
          <p:cNvSpPr/>
          <p:nvPr/>
        </p:nvSpPr>
        <p:spPr>
          <a:xfrm>
            <a:off x="2395728" y="118872"/>
            <a:ext cx="91440" cy="91440"/>
          </a:xfrm>
          <a:prstGeom prst="ellipse">
            <a:avLst/>
          </a:prstGeom>
          <a:solidFill>
            <a:srgbClr val="3A8C4A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73152"/>
            <a:ext cx="67665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vision /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346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206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Adaptive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Vision and State Estimation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346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06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93108" y="1618488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7388" y="1444752"/>
            <a:ext cx="62179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O_t, r_t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4293108" y="2112264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4276" y="2249424"/>
            <a:ext cx="2743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F6F2E"/>
                </a:solidFill>
                <a:latin typeface="Arial"/>
              </a:rPr>
              <a:t>a_t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697980" y="3488436"/>
            <a:ext cx="109728" cy="530352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1988" y="3698748"/>
            <a:ext cx="841248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trained policy</a:t>
            </a:r>
          </a:p>
        </p:txBody>
      </p:sp>
      <p:sp>
        <p:nvSpPr>
          <p:cNvPr id="26" name="Up Arrow 25"/>
          <p:cNvSpPr/>
          <p:nvPr/>
        </p:nvSpPr>
        <p:spPr>
          <a:xfrm>
            <a:off x="2331720" y="3488436"/>
            <a:ext cx="109728" cy="530352"/>
          </a:xfrm>
          <a:prstGeom prst="upArrow">
            <a:avLst/>
          </a:prstGeom>
          <a:solidFill>
            <a:srgbClr val="7356B6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19072" y="3698748"/>
            <a:ext cx="65836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356B6"/>
                </a:solidFill>
                <a:latin typeface="Arial"/>
              </a:rPr>
              <a:t>same task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4293108" y="5061204"/>
            <a:ext cx="530352" cy="109728"/>
          </a:xfrm>
          <a:prstGeom prst="lef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7972" y="4878324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image feed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293108" y="569214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6260" y="5847588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real O_t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1344168"/>
            <a:ext cx="1965960" cy="1481328"/>
          </a:xfrm>
          <a:prstGeom prst="rect">
            <a:avLst/>
          </a:prstGeom>
          <a:solidFill>
            <a:srgbClr val="F4F6F8"/>
          </a:solidFill>
          <a:ln w="12700">
            <a:solidFill>
              <a:srgbClr val="C5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0469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5044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9618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4193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98767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3342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8952" y="1591056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8952" y="1837944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8952" y="2084832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8952" y="2331720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691640" y="1837944"/>
            <a:ext cx="438912" cy="43891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73352" y="1737360"/>
            <a:ext cx="45720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3A8C4A"/>
                </a:solidFill>
                <a:latin typeface="Arial"/>
              </a:rPr>
              <a:t>ZPD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" y="1783080"/>
            <a:ext cx="365760" cy="128016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62456" y="1911096"/>
            <a:ext cx="365760" cy="192024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746504" y="2203704"/>
            <a:ext cx="329184" cy="164592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69264" y="1728216"/>
            <a:ext cx="100584" cy="100584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57400" y="2295144"/>
            <a:ext cx="164592" cy="164592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28216" y="2075688"/>
            <a:ext cx="73152" cy="73152"/>
          </a:xfrm>
          <a:prstGeom prst="ellipse">
            <a:avLst/>
          </a:prstGeom>
          <a:solidFill>
            <a:srgbClr val="C92525"/>
          </a:solidFill>
          <a:ln w="8890">
            <a:solidFill>
              <a:srgbClr val="C9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" y="2898648"/>
            <a:ext cx="1892807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66A73"/>
                </a:solidFill>
                <a:latin typeface="Arial"/>
              </a:rPr>
              <a:t>ZPD pursuit task workspace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98648" y="1106424"/>
            <a:ext cx="126187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F6F2E"/>
                </a:solidFill>
                <a:latin typeface="Arial"/>
              </a:rPr>
              <a:t>CMD-DR virtual patient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98648" y="1325880"/>
            <a:ext cx="1243584" cy="411480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Intent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scripted / learned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98648" y="1856232"/>
            <a:ext cx="1243584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Motor execution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delay / noise / smoothing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98648" y="2496312"/>
            <a:ext cx="1243584" cy="347472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Patient diversity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20440" y="1737360"/>
            <a:ext cx="0" cy="118872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520440" y="2331720"/>
            <a:ext cx="0" cy="164592"/>
          </a:xfrm>
          <a:prstGeom prst="line">
            <a:avLst/>
          </a:prstGeom>
          <a:ln w="12700">
            <a:solidFill>
              <a:srgbClr val="735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78408" y="3026663"/>
            <a:ext cx="978408" cy="292608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Observation O_t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12264" y="3026663"/>
            <a:ext cx="978408" cy="292608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46120" y="3026663"/>
            <a:ext cx="978408" cy="292608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Reward r_t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207508" y="1097280"/>
            <a:ext cx="3154680" cy="17922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72100" y="1225296"/>
            <a:ext cx="65836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1948" y="1225296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3236" y="1225296"/>
            <a:ext cx="6400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756148" y="1764792"/>
            <a:ext cx="658368" cy="182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756148" y="1783080"/>
            <a:ext cx="658368" cy="28346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56148" y="1783080"/>
            <a:ext cx="658368" cy="73152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56148" y="1783080"/>
            <a:ext cx="658368" cy="9875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756148" y="1764792"/>
            <a:ext cx="658368" cy="26517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56148" y="2029968"/>
            <a:ext cx="658368" cy="3657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56148" y="2029968"/>
            <a:ext cx="658368" cy="4846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56148" y="2029968"/>
            <a:ext cx="658368" cy="74066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56148" y="1764792"/>
            <a:ext cx="658368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756148" y="2066544"/>
            <a:ext cx="658368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756148" y="2514600"/>
            <a:ext cx="658368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756148" y="2514600"/>
            <a:ext cx="658368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56148" y="1764792"/>
            <a:ext cx="658368" cy="99669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56148" y="2066544"/>
            <a:ext cx="658368" cy="69494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56148" y="2514600"/>
            <a:ext cx="658368" cy="2468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56148" y="2761488"/>
            <a:ext cx="658368" cy="914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615684" y="1764792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615684" y="1764792"/>
            <a:ext cx="603504" cy="3017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615684" y="1764792"/>
            <a:ext cx="603504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15684" y="1764792"/>
            <a:ext cx="603504" cy="100584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15684" y="1764792"/>
            <a:ext cx="603504" cy="3017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15684" y="2066544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615684" y="2066544"/>
            <a:ext cx="603504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15684" y="2066544"/>
            <a:ext cx="603504" cy="7040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15684" y="1764792"/>
            <a:ext cx="603504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15684" y="2066544"/>
            <a:ext cx="603504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15684" y="2514600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615684" y="2514600"/>
            <a:ext cx="603504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15684" y="1764792"/>
            <a:ext cx="603504" cy="100584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15684" y="2066544"/>
            <a:ext cx="603504" cy="7040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15684" y="2514600"/>
            <a:ext cx="603504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15684" y="2770632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420356" y="1764792"/>
            <a:ext cx="621792" cy="475487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420356" y="2066544"/>
            <a:ext cx="621792" cy="173735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420356" y="2240279"/>
            <a:ext cx="621792" cy="274321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420356" y="2240279"/>
            <a:ext cx="621792" cy="530353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91556" y="1700784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591556" y="1947672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591556" y="2432304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591556" y="2679192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414516" y="166420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219188" y="166420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414516" y="1965960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219188" y="1965960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414516" y="2414016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19188" y="2414016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414516" y="267004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219188" y="267004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487668" y="219456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487668" y="233172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292340" y="219456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292340" y="233172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042148" y="2139696"/>
            <a:ext cx="219456" cy="219456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262372" y="1463040"/>
            <a:ext cx="676656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task state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34940" y="2176272"/>
            <a:ext cx="7315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motion history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68996" y="2459736"/>
            <a:ext cx="53035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1005840" y="4713732"/>
            <a:ext cx="3063240" cy="25603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22222"/>
                </a:solidFill>
                <a:latin typeface="Arial"/>
              </a:rPr>
              <a:t>asynchronous vision thread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6968" y="5207508"/>
            <a:ext cx="896112" cy="749808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51560" y="5646420"/>
            <a:ext cx="25603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06424" y="5682996"/>
            <a:ext cx="109728" cy="109728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399032" y="5426964"/>
            <a:ext cx="27432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463040" y="5463540"/>
            <a:ext cx="146304" cy="146304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32688" y="5993892"/>
            <a:ext cx="804672" cy="1463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666A73"/>
                </a:solidFill>
                <a:latin typeface="Arial"/>
              </a:rPr>
              <a:t>camera frame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1874520" y="5527548"/>
            <a:ext cx="292608" cy="100584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2240280" y="5097780"/>
            <a:ext cx="86868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YOLO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microrobot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240280" y="5701284"/>
            <a:ext cx="868680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MediaPipe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hand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2670048" y="5445252"/>
            <a:ext cx="0" cy="256032"/>
          </a:xfrm>
          <a:prstGeom prst="line">
            <a:avLst/>
          </a:prstGeom>
          <a:ln w="1270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ight Arrow 131"/>
          <p:cNvSpPr/>
          <p:nvPr/>
        </p:nvSpPr>
        <p:spPr>
          <a:xfrm>
            <a:off x="3172968" y="5527548"/>
            <a:ext cx="292608" cy="100584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3502152" y="5116068"/>
            <a:ext cx="841248" cy="585216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222222"/>
                </a:solidFill>
                <a:latin typeface="Arial"/>
              </a:rPr>
              <a:t>state buffer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222222"/>
                </a:solidFill>
                <a:latin typeface="Arial"/>
              </a:rPr>
              <a:t>+ filter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502152" y="5847588"/>
            <a:ext cx="841248" cy="3108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22222"/>
                </a:solidFill>
                <a:latin typeface="Arial"/>
              </a:rPr>
              <a:t>real O_t</a:t>
            </a:r>
          </a:p>
        </p:txBody>
      </p:sp>
      <p:sp>
        <p:nvSpPr>
          <p:cNvPr id="135" name="Down Arrow 134"/>
          <p:cNvSpPr/>
          <p:nvPr/>
        </p:nvSpPr>
        <p:spPr>
          <a:xfrm>
            <a:off x="3867912" y="5719572"/>
            <a:ext cx="109728" cy="146304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051560" y="6396228"/>
            <a:ext cx="2834640" cy="292608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dead reckoning fills vision gaps at 20 Hz control rate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56148" y="5070348"/>
            <a:ext cx="1664208" cy="1124712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real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setup photo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234940" y="5353812"/>
            <a:ext cx="841248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camera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+ hand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566660" y="4805172"/>
            <a:ext cx="969264" cy="3657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Arial"/>
              </a:rPr>
              <a:t>20 Hz policy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Arial"/>
              </a:rPr>
              <a:t>inference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7621524" y="5481828"/>
            <a:ext cx="859536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UR10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RTDE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438644" y="6286500"/>
            <a:ext cx="1042415" cy="365760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magnetic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actuation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280660" y="6286500"/>
            <a:ext cx="950976" cy="365760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inset</a:t>
            </a:r>
          </a:p>
        </p:txBody>
      </p:sp>
      <p:cxnSp>
        <p:nvCxnSpPr>
          <p:cNvPr id="143" name="Connector 142"/>
          <p:cNvCxnSpPr/>
          <p:nvPr/>
        </p:nvCxnSpPr>
        <p:spPr>
          <a:xfrm flipH="1">
            <a:off x="5756148" y="5527548"/>
            <a:ext cx="320040" cy="54864"/>
          </a:xfrm>
          <a:prstGeom prst="line">
            <a:avLst/>
          </a:prstGeom>
          <a:ln w="1143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420356" y="5609844"/>
            <a:ext cx="201168" cy="36576"/>
          </a:xfrm>
          <a:prstGeom prst="line">
            <a:avLst/>
          </a:prstGeom>
          <a:ln w="1143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228332" y="5975604"/>
            <a:ext cx="210312" cy="384048"/>
          </a:xfrm>
          <a:prstGeom prst="line">
            <a:avLst/>
          </a:prstGeom>
          <a:ln w="1143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H="1" flipV="1">
            <a:off x="6103620" y="6076188"/>
            <a:ext cx="128016" cy="393192"/>
          </a:xfrm>
          <a:prstGeom prst="line">
            <a:avLst/>
          </a:prstGeom>
          <a:ln w="11430">
            <a:solidFill>
              <a:srgbClr val="C5CC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ight Arrow 146"/>
          <p:cNvSpPr/>
          <p:nvPr/>
        </p:nvSpPr>
        <p:spPr>
          <a:xfrm>
            <a:off x="5719572" y="5024628"/>
            <a:ext cx="1828800" cy="91440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Down Arrow 147"/>
          <p:cNvSpPr/>
          <p:nvPr/>
        </p:nvSpPr>
        <p:spPr>
          <a:xfrm>
            <a:off x="7978140" y="5198364"/>
            <a:ext cx="91440" cy="256032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Down Arrow 148"/>
          <p:cNvSpPr/>
          <p:nvPr/>
        </p:nvSpPr>
        <p:spPr>
          <a:xfrm>
            <a:off x="7959852" y="5856731"/>
            <a:ext cx="91440" cy="32918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