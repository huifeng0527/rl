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5303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64592"/>
            <a:ext cx="11887200" cy="4956048"/>
          </a:xfrm>
          <a:prstGeom prst="rect">
            <a:avLst/>
          </a:prstGeom>
          <a:noFill/>
          <a:ln w="11430">
            <a:solidFill>
              <a:srgbClr val="696D7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4434840" cy="1874519"/>
          </a:xfrm>
          <a:prstGeom prst="rect">
            <a:avLst/>
          </a:prstGeom>
          <a:noFill/>
          <a:ln w="9525">
            <a:solidFill>
              <a:srgbClr val="2E6CA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2743200"/>
            <a:ext cx="4434840" cy="1828800"/>
          </a:xfrm>
          <a:prstGeom prst="rect">
            <a:avLst/>
          </a:prstGeom>
          <a:noFill/>
          <a:ln w="9525">
            <a:solidFill>
              <a:srgbClr val="D378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7488" y="475488"/>
            <a:ext cx="2148840" cy="4096512"/>
          </a:xfrm>
          <a:prstGeom prst="rect">
            <a:avLst/>
          </a:prstGeom>
          <a:noFill/>
          <a:ln w="9525">
            <a:solidFill>
              <a:srgbClr val="1C202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96912" y="475488"/>
            <a:ext cx="4434840" cy="1883664"/>
          </a:xfrm>
          <a:prstGeom prst="rect">
            <a:avLst/>
          </a:prstGeom>
          <a:noFill/>
          <a:ln w="9525">
            <a:solidFill>
              <a:srgbClr val="D12A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96912" y="2679192"/>
            <a:ext cx="4434840" cy="1892807"/>
          </a:xfrm>
          <a:prstGeom prst="rect">
            <a:avLst/>
          </a:prstGeom>
          <a:noFill/>
          <a:ln w="9525">
            <a:solidFill>
              <a:srgbClr val="969C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530352"/>
            <a:ext cx="19202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E6CA4"/>
                </a:solidFill>
                <a:latin typeface="Arial"/>
              </a:rPr>
              <a:t>Spatial state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798064"/>
            <a:ext cx="265176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37832"/>
                </a:solidFill>
                <a:latin typeface="Arial"/>
              </a:rPr>
              <a:t>Temporal interaction-history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530352"/>
            <a:ext cx="14630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C2026"/>
                </a:solidFill>
                <a:latin typeface="Arial"/>
              </a:rPr>
              <a:t>Fusion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530352"/>
            <a:ext cx="219456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D12A30"/>
                </a:solidFill>
                <a:latin typeface="Arial"/>
              </a:rPr>
              <a:t>Auxiliary task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34056"/>
            <a:ext cx="224028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4527B"/>
                </a:solidFill>
                <a:latin typeface="Arial"/>
              </a:rPr>
              <a:t>PPO actor-critic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"/>
            <a:ext cx="1024128" cy="12801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646E7E"/>
                </a:solidFill>
                <a:latin typeface="Arial"/>
              </a:rPr>
              <a:t>Observation o_t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" y="402336"/>
            <a:ext cx="0" cy="530352"/>
          </a:xfrm>
          <a:prstGeom prst="line">
            <a:avLst/>
          </a:prstGeom>
          <a:ln w="6350">
            <a:solidFill>
              <a:srgbClr val="B2BCC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7824" y="402336"/>
            <a:ext cx="0" cy="2798064"/>
          </a:xfrm>
          <a:prstGeom prst="line">
            <a:avLst/>
          </a:prstGeom>
          <a:ln w="6350">
            <a:solidFill>
              <a:srgbClr val="B2BCC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13232" y="1005840"/>
            <a:ext cx="201168" cy="877824"/>
          </a:xfrm>
          <a:prstGeom prst="rect">
            <a:avLst/>
          </a:prstGeom>
          <a:solidFill>
            <a:srgbClr val="DCEEFA"/>
          </a:solidFill>
          <a:ln w="11430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13232" y="1152144"/>
            <a:ext cx="201168" cy="0"/>
          </a:xfrm>
          <a:prstGeom prst="line">
            <a:avLst/>
          </a:prstGeom>
          <a:ln w="4445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" y="1298448"/>
            <a:ext cx="201168" cy="0"/>
          </a:xfrm>
          <a:prstGeom prst="line">
            <a:avLst/>
          </a:prstGeom>
          <a:ln w="4445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3232" y="1444752"/>
            <a:ext cx="201168" cy="0"/>
          </a:xfrm>
          <a:prstGeom prst="line">
            <a:avLst/>
          </a:prstGeom>
          <a:ln w="4445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3232" y="1591056"/>
            <a:ext cx="201168" cy="0"/>
          </a:xfrm>
          <a:prstGeom prst="line">
            <a:avLst/>
          </a:prstGeom>
          <a:ln w="4445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3232" y="1737360"/>
            <a:ext cx="201168" cy="0"/>
          </a:xfrm>
          <a:prstGeom prst="line">
            <a:avLst/>
          </a:prstGeom>
          <a:ln w="4445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1920240"/>
            <a:ext cx="530352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2E6CA4"/>
                </a:solidFill>
                <a:latin typeface="Arial"/>
              </a:rPr>
              <a:t>s_t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066544"/>
            <a:ext cx="530352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646E7E"/>
                </a:solidFill>
                <a:latin typeface="Arial"/>
              </a:rPr>
              <a:t>12 x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99616" y="1024128"/>
            <a:ext cx="137160" cy="841248"/>
          </a:xfrm>
          <a:prstGeom prst="rect">
            <a:avLst/>
          </a:prstGeom>
          <a:solidFill>
            <a:srgbClr val="B9D8F0"/>
          </a:solidFill>
          <a:ln w="10795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5024" y="850392"/>
            <a:ext cx="466344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E6CA4"/>
                </a:solidFill>
                <a:latin typeface="Arial"/>
              </a:rPr>
              <a:t>FC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1901952"/>
            <a:ext cx="576072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12 -&gt;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93392" y="1024128"/>
            <a:ext cx="137160" cy="841248"/>
          </a:xfrm>
          <a:prstGeom prst="rect">
            <a:avLst/>
          </a:prstGeom>
          <a:solidFill>
            <a:srgbClr val="DCEEFA"/>
          </a:solidFill>
          <a:ln w="10795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850392"/>
            <a:ext cx="466344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E6CA4"/>
                </a:solidFill>
                <a:latin typeface="Arial"/>
              </a:rPr>
              <a:t>Norm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6915" y="964692"/>
            <a:ext cx="329184" cy="768096"/>
          </a:xfrm>
          <a:prstGeom prst="rect">
            <a:avLst/>
          </a:prstGeom>
          <a:solidFill>
            <a:srgbClr val="FFFFFF"/>
          </a:solidFill>
          <a:ln w="5715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15768" y="996695"/>
            <a:ext cx="329184" cy="768096"/>
          </a:xfrm>
          <a:prstGeom prst="rect">
            <a:avLst/>
          </a:prstGeom>
          <a:solidFill>
            <a:srgbClr val="FFFFFF"/>
          </a:solidFill>
          <a:ln w="5715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74620" y="1028700"/>
            <a:ext cx="329184" cy="768096"/>
          </a:xfrm>
          <a:prstGeom prst="rect">
            <a:avLst/>
          </a:prstGeom>
          <a:solidFill>
            <a:srgbClr val="FFFFFF"/>
          </a:solidFill>
          <a:ln w="5715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33472" y="1060704"/>
            <a:ext cx="329184" cy="768096"/>
          </a:xfrm>
          <a:prstGeom prst="rect">
            <a:avLst/>
          </a:prstGeom>
          <a:solidFill>
            <a:srgbClr val="B9D8F0"/>
          </a:solidFill>
          <a:ln w="11430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660903" y="1252728"/>
            <a:ext cx="274321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60903" y="1444751"/>
            <a:ext cx="274321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60903" y="1636776"/>
            <a:ext cx="274321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87168" y="1865376"/>
            <a:ext cx="621792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2E6CA4"/>
                </a:solidFill>
                <a:latin typeface="Arial"/>
              </a:rPr>
              <a:t>spatial emb.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05456" y="2029968"/>
            <a:ext cx="585216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646E7E"/>
                </a:solidFill>
                <a:latin typeface="Arial"/>
              </a:rPr>
              <a:t>32 x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9856" y="1115568"/>
            <a:ext cx="109728" cy="658368"/>
          </a:xfrm>
          <a:prstGeom prst="rect">
            <a:avLst/>
          </a:prstGeom>
          <a:solidFill>
            <a:srgbClr val="DCEEFA"/>
          </a:solidFill>
          <a:ln w="10795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5264" y="941832"/>
            <a:ext cx="438912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E6CA4"/>
                </a:solidFill>
                <a:latin typeface="Arial"/>
              </a:rPr>
              <a:t>Flat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1444752"/>
            <a:ext cx="566928" cy="0"/>
          </a:xfrm>
          <a:prstGeom prst="line">
            <a:avLst/>
          </a:prstGeom>
          <a:ln w="11430">
            <a:solidFill>
              <a:srgbClr val="2E6C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645920" y="1444752"/>
            <a:ext cx="329184" cy="0"/>
          </a:xfrm>
          <a:prstGeom prst="line">
            <a:avLst/>
          </a:prstGeom>
          <a:ln w="10160">
            <a:solidFill>
              <a:srgbClr val="2E6C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139696" y="1444752"/>
            <a:ext cx="475488" cy="0"/>
          </a:xfrm>
          <a:prstGeom prst="line">
            <a:avLst/>
          </a:prstGeom>
          <a:ln w="10160">
            <a:solidFill>
              <a:srgbClr val="2E6C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971800" y="1444752"/>
            <a:ext cx="429768" cy="0"/>
          </a:xfrm>
          <a:prstGeom prst="line">
            <a:avLst/>
          </a:prstGeom>
          <a:ln w="10160">
            <a:solidFill>
              <a:srgbClr val="2E6C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04671" y="3136391"/>
            <a:ext cx="384048" cy="749808"/>
          </a:xfrm>
          <a:prstGeom prst="rect">
            <a:avLst/>
          </a:prstGeom>
          <a:solidFill>
            <a:srgbClr val="FFFFFF"/>
          </a:solidFill>
          <a:ln w="571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3524" y="3168396"/>
            <a:ext cx="384048" cy="749808"/>
          </a:xfrm>
          <a:prstGeom prst="rect">
            <a:avLst/>
          </a:prstGeom>
          <a:solidFill>
            <a:srgbClr val="FFFFFF"/>
          </a:solidFill>
          <a:ln w="571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375" y="3200400"/>
            <a:ext cx="384048" cy="749808"/>
          </a:xfrm>
          <a:prstGeom prst="rect">
            <a:avLst/>
          </a:prstGeom>
          <a:solidFill>
            <a:srgbClr val="FFFFFF"/>
          </a:solidFill>
          <a:ln w="571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1228" y="3232403"/>
            <a:ext cx="384048" cy="749808"/>
          </a:xfrm>
          <a:prstGeom prst="rect">
            <a:avLst/>
          </a:prstGeom>
          <a:solidFill>
            <a:srgbClr val="FFFFFF"/>
          </a:solidFill>
          <a:ln w="571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3264408"/>
            <a:ext cx="384048" cy="749808"/>
          </a:xfrm>
          <a:prstGeom prst="rect">
            <a:avLst/>
          </a:prstGeom>
          <a:solidFill>
            <a:srgbClr val="FFF1E0"/>
          </a:solidFill>
          <a:ln w="11430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67512" y="3451860"/>
            <a:ext cx="329183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67512" y="3639312"/>
            <a:ext cx="329183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67512" y="3826763"/>
            <a:ext cx="329183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93775" y="4050791"/>
            <a:ext cx="67665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D37832"/>
                </a:solidFill>
                <a:latin typeface="Arial"/>
              </a:rPr>
              <a:t>h_{t-15:t}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3" y="4215383"/>
            <a:ext cx="640080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646E7E"/>
                </a:solidFill>
                <a:latin typeface="Arial"/>
              </a:rPr>
              <a:t>16 x 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7904" y="3895344"/>
            <a:ext cx="109728" cy="347472"/>
          </a:xfrm>
          <a:prstGeom prst="rect">
            <a:avLst/>
          </a:prstGeom>
          <a:solidFill>
            <a:srgbClr val="FFF1E0"/>
          </a:solidFill>
          <a:ln w="8890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517904" y="4011168"/>
            <a:ext cx="109728" cy="0"/>
          </a:xfrm>
          <a:prstGeom prst="line">
            <a:avLst/>
          </a:prstGeom>
          <a:ln w="3810">
            <a:solidFill>
              <a:srgbClr val="E2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17904" y="4126991"/>
            <a:ext cx="109728" cy="0"/>
          </a:xfrm>
          <a:prstGeom prst="line">
            <a:avLst/>
          </a:prstGeom>
          <a:ln w="3810">
            <a:solidFill>
              <a:srgbClr val="E2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80744" y="4251960"/>
            <a:ext cx="38404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D37832"/>
                </a:solidFill>
                <a:latin typeface="Arial"/>
              </a:rPr>
              <a:t>x_{t-15}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44752" y="3346704"/>
            <a:ext cx="256032" cy="384048"/>
          </a:xfrm>
          <a:prstGeom prst="rect">
            <a:avLst/>
          </a:prstGeom>
          <a:solidFill>
            <a:srgbClr val="FFF1E0"/>
          </a:solidFill>
          <a:ln w="1079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53896" y="3465576"/>
            <a:ext cx="237744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D37832"/>
                </a:solidFill>
                <a:latin typeface="Arial"/>
              </a:rPr>
              <a:t>GRU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572768" y="3749040"/>
            <a:ext cx="0" cy="146304"/>
          </a:xfrm>
          <a:prstGeom prst="line">
            <a:avLst/>
          </a:prstGeom>
          <a:ln w="6985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700784" y="3538728"/>
            <a:ext cx="228600" cy="0"/>
          </a:xfrm>
          <a:prstGeom prst="line">
            <a:avLst/>
          </a:prstGeom>
          <a:ln w="9525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728216" y="3383280"/>
            <a:ext cx="237744" cy="914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D37832"/>
                </a:solidFill>
                <a:latin typeface="Arial"/>
              </a:rPr>
              <a:t>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39112" y="3895344"/>
            <a:ext cx="109728" cy="347472"/>
          </a:xfrm>
          <a:prstGeom prst="rect">
            <a:avLst/>
          </a:prstGeom>
          <a:solidFill>
            <a:srgbClr val="FFF1E0"/>
          </a:solidFill>
          <a:ln w="8890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039112" y="4011168"/>
            <a:ext cx="109728" cy="0"/>
          </a:xfrm>
          <a:prstGeom prst="line">
            <a:avLst/>
          </a:prstGeom>
          <a:ln w="3810">
            <a:solidFill>
              <a:srgbClr val="E2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39112" y="4126991"/>
            <a:ext cx="109728" cy="0"/>
          </a:xfrm>
          <a:prstGeom prst="line">
            <a:avLst/>
          </a:prstGeom>
          <a:ln w="3810">
            <a:solidFill>
              <a:srgbClr val="E2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901952" y="4251960"/>
            <a:ext cx="38404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D37832"/>
                </a:solidFill>
                <a:latin typeface="Arial"/>
              </a:rPr>
              <a:t>...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65960" y="3346704"/>
            <a:ext cx="256032" cy="384048"/>
          </a:xfrm>
          <a:prstGeom prst="rect">
            <a:avLst/>
          </a:prstGeom>
          <a:solidFill>
            <a:srgbClr val="FFF1E0"/>
          </a:solidFill>
          <a:ln w="1079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75103" y="3465576"/>
            <a:ext cx="237744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D37832"/>
                </a:solidFill>
                <a:latin typeface="Arial"/>
              </a:rPr>
              <a:t>GRU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2093976" y="3749040"/>
            <a:ext cx="0" cy="146304"/>
          </a:xfrm>
          <a:prstGeom prst="line">
            <a:avLst/>
          </a:prstGeom>
          <a:ln w="6985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221991" y="3538728"/>
            <a:ext cx="228600" cy="0"/>
          </a:xfrm>
          <a:prstGeom prst="line">
            <a:avLst/>
          </a:prstGeom>
          <a:ln w="9525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249424" y="3383280"/>
            <a:ext cx="237744" cy="914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D37832"/>
                </a:solidFill>
                <a:latin typeface="Arial"/>
              </a:rPr>
              <a:t>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60320" y="3895344"/>
            <a:ext cx="109728" cy="347472"/>
          </a:xfrm>
          <a:prstGeom prst="rect">
            <a:avLst/>
          </a:prstGeom>
          <a:solidFill>
            <a:srgbClr val="FFF1E0"/>
          </a:solidFill>
          <a:ln w="8890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60320" y="4011168"/>
            <a:ext cx="109728" cy="0"/>
          </a:xfrm>
          <a:prstGeom prst="line">
            <a:avLst/>
          </a:prstGeom>
          <a:ln w="3810">
            <a:solidFill>
              <a:srgbClr val="E2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60320" y="4126991"/>
            <a:ext cx="109728" cy="0"/>
          </a:xfrm>
          <a:prstGeom prst="line">
            <a:avLst/>
          </a:prstGeom>
          <a:ln w="3810">
            <a:solidFill>
              <a:srgbClr val="E2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423160" y="4251960"/>
            <a:ext cx="38404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D37832"/>
                </a:solidFill>
                <a:latin typeface="Arial"/>
              </a:rPr>
              <a:t>x_t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87168" y="3346704"/>
            <a:ext cx="256032" cy="384048"/>
          </a:xfrm>
          <a:prstGeom prst="rect">
            <a:avLst/>
          </a:prstGeom>
          <a:solidFill>
            <a:srgbClr val="FFF1E0"/>
          </a:solidFill>
          <a:ln w="1079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96311" y="3465576"/>
            <a:ext cx="237744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D37832"/>
                </a:solidFill>
                <a:latin typeface="Arial"/>
              </a:rPr>
              <a:t>GRU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2615184" y="3749040"/>
            <a:ext cx="0" cy="146304"/>
          </a:xfrm>
          <a:prstGeom prst="line">
            <a:avLst/>
          </a:prstGeom>
          <a:ln w="6985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743200" y="3538728"/>
            <a:ext cx="128015" cy="0"/>
          </a:xfrm>
          <a:prstGeom prst="line">
            <a:avLst/>
          </a:prstGeom>
          <a:ln w="9525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481328" y="3118104"/>
            <a:ext cx="1225296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D37832"/>
                </a:solidFill>
                <a:latin typeface="Arial"/>
              </a:rPr>
              <a:t>unrolled GRU over time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16352" y="3218688"/>
            <a:ext cx="201168" cy="841248"/>
          </a:xfrm>
          <a:prstGeom prst="rect">
            <a:avLst/>
          </a:prstGeom>
          <a:solidFill>
            <a:srgbClr val="F8D1A6"/>
          </a:solidFill>
          <a:ln w="1079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0" y="3044952"/>
            <a:ext cx="530352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D37832"/>
                </a:solidFill>
                <a:latin typeface="Arial"/>
              </a:rPr>
              <a:t>h_T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96896" y="4096512"/>
            <a:ext cx="640080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64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38144" y="3264408"/>
            <a:ext cx="137160" cy="749808"/>
          </a:xfrm>
          <a:prstGeom prst="rect">
            <a:avLst/>
          </a:prstGeom>
          <a:solidFill>
            <a:srgbClr val="F8D1A6"/>
          </a:solidFill>
          <a:ln w="1079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73551" y="3090672"/>
            <a:ext cx="466344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D37832"/>
                </a:solidFill>
                <a:latin typeface="Arial"/>
              </a:rPr>
              <a:t>FC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18687" y="4050791"/>
            <a:ext cx="576072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64 -&gt; 32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32504" y="3273552"/>
            <a:ext cx="256032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91356" y="3305556"/>
            <a:ext cx="256032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950208" y="3337560"/>
            <a:ext cx="256032" cy="585216"/>
          </a:xfrm>
          <a:prstGeom prst="rect">
            <a:avLst/>
          </a:prstGeom>
          <a:solidFill>
            <a:srgbClr val="F8D1A6"/>
          </a:solidFill>
          <a:ln w="11430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3977640" y="3483864"/>
            <a:ext cx="201168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977640" y="3630168"/>
            <a:ext cx="201168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977640" y="3776472"/>
            <a:ext cx="201168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803904" y="3959352"/>
            <a:ext cx="548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D37832"/>
                </a:solidFill>
                <a:latin typeface="Arial"/>
              </a:rPr>
              <a:t>z_h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22192" y="4123944"/>
            <a:ext cx="512064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646E7E"/>
                </a:solidFill>
                <a:latin typeface="Arial"/>
              </a:rPr>
              <a:t>32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033271" y="3639312"/>
            <a:ext cx="393193" cy="0"/>
          </a:xfrm>
          <a:prstGeom prst="line">
            <a:avLst/>
          </a:prstGeom>
          <a:ln w="10795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779776" y="3538728"/>
            <a:ext cx="18288" cy="100584"/>
          </a:xfrm>
          <a:prstGeom prst="line">
            <a:avLst/>
          </a:prstGeom>
          <a:ln w="10160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026664" y="3639312"/>
            <a:ext cx="393192" cy="0"/>
          </a:xfrm>
          <a:prstGeom prst="line">
            <a:avLst/>
          </a:prstGeom>
          <a:ln w="10160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584448" y="3639312"/>
            <a:ext cx="347472" cy="0"/>
          </a:xfrm>
          <a:prstGeom prst="line">
            <a:avLst/>
          </a:prstGeom>
          <a:ln w="10160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5248656" y="1234440"/>
            <a:ext cx="109728" cy="676656"/>
          </a:xfrm>
          <a:prstGeom prst="rect">
            <a:avLst/>
          </a:prstGeom>
          <a:solidFill>
            <a:srgbClr val="DCEEFA"/>
          </a:solidFill>
          <a:ln w="10795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84064" y="1060704"/>
            <a:ext cx="438912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E6CA4"/>
                </a:solidFill>
                <a:latin typeface="Arial"/>
              </a:rPr>
              <a:t>FC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29200" y="1947672"/>
            <a:ext cx="548640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32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48656" y="3246120"/>
            <a:ext cx="109728" cy="676656"/>
          </a:xfrm>
          <a:prstGeom prst="rect">
            <a:avLst/>
          </a:prstGeom>
          <a:solidFill>
            <a:srgbClr val="FFF1E0"/>
          </a:solidFill>
          <a:ln w="10795">
            <a:solidFill>
              <a:srgbClr val="D3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84064" y="3072384"/>
            <a:ext cx="438912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D37832"/>
                </a:solidFill>
                <a:latin typeface="Arial"/>
              </a:rPr>
              <a:t>FC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0" y="3959352"/>
            <a:ext cx="548640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32</a:t>
            </a:r>
          </a:p>
        </p:txBody>
      </p:sp>
      <p:sp>
        <p:nvSpPr>
          <p:cNvPr id="105" name="Oval 104"/>
          <p:cNvSpPr/>
          <p:nvPr/>
        </p:nvSpPr>
        <p:spPr>
          <a:xfrm>
            <a:off x="5559552" y="2212848"/>
            <a:ext cx="182880" cy="182880"/>
          </a:xfrm>
          <a:prstGeom prst="ellipse">
            <a:avLst/>
          </a:prstGeom>
          <a:solidFill>
            <a:srgbClr val="FFFFFF"/>
          </a:solidFill>
          <a:ln w="8890">
            <a:solidFill>
              <a:srgbClr val="1C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559552" y="2212848"/>
            <a:ext cx="1828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1C2026"/>
                </a:solidFill>
                <a:latin typeface="Arial"/>
              </a:rPr>
              <a:t>+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85232" y="2432304"/>
            <a:ext cx="731520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46E7E"/>
                </a:solidFill>
                <a:latin typeface="Arial"/>
              </a:rPr>
              <a:t>concat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80176" y="1755648"/>
            <a:ext cx="164592" cy="1097280"/>
          </a:xfrm>
          <a:prstGeom prst="rect">
            <a:avLst/>
          </a:prstGeom>
          <a:solidFill>
            <a:srgbClr val="E1F5DA"/>
          </a:solidFill>
          <a:ln w="11430">
            <a:solidFill>
              <a:srgbClr val="6FB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6007608" y="2029967"/>
            <a:ext cx="109728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07608" y="2304288"/>
            <a:ext cx="109728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007608" y="2578608"/>
            <a:ext cx="109728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833872" y="2889504"/>
            <a:ext cx="45720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6FB253"/>
                </a:solidFill>
                <a:latin typeface="Arial"/>
              </a:rPr>
              <a:t>z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52160" y="3054096"/>
            <a:ext cx="420624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646E7E"/>
                </a:solidFill>
                <a:latin typeface="Arial"/>
              </a:rPr>
              <a:t>64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510528" y="1572768"/>
            <a:ext cx="201168" cy="1463040"/>
          </a:xfrm>
          <a:prstGeom prst="rect">
            <a:avLst/>
          </a:prstGeom>
          <a:solidFill>
            <a:srgbClr val="E1F5DA"/>
          </a:solidFill>
          <a:ln w="10795">
            <a:solidFill>
              <a:srgbClr val="6FB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345936" y="1399032"/>
            <a:ext cx="530352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6FB253"/>
                </a:solidFill>
                <a:latin typeface="Arial"/>
              </a:rPr>
              <a:t>FC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91072" y="3072384"/>
            <a:ext cx="640080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64 -&gt; 64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931152" y="1700784"/>
            <a:ext cx="146304" cy="1207008"/>
          </a:xfrm>
          <a:prstGeom prst="rect">
            <a:avLst/>
          </a:prstGeom>
          <a:solidFill>
            <a:srgbClr val="FFF6CB"/>
          </a:solidFill>
          <a:ln w="11430">
            <a:solidFill>
              <a:srgbClr val="E6B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6958584" y="2002536"/>
            <a:ext cx="91440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958584" y="2304288"/>
            <a:ext cx="91440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958584" y="2606040"/>
            <a:ext cx="91440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784848" y="2944368"/>
            <a:ext cx="438912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E6BC3E"/>
                </a:solidFill>
                <a:latin typeface="Arial"/>
              </a:rPr>
              <a:t>f_t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03136" y="3108960"/>
            <a:ext cx="402336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646E7E"/>
                </a:solidFill>
                <a:latin typeface="Arial"/>
              </a:rPr>
              <a:t>64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529584" y="1444752"/>
            <a:ext cx="1481328" cy="0"/>
          </a:xfrm>
          <a:prstGeom prst="line">
            <a:avLst/>
          </a:prstGeom>
          <a:ln w="9525">
            <a:solidFill>
              <a:srgbClr val="2E6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5010912" y="1444752"/>
            <a:ext cx="0" cy="128016"/>
          </a:xfrm>
          <a:prstGeom prst="line">
            <a:avLst/>
          </a:prstGeom>
          <a:ln w="9525">
            <a:solidFill>
              <a:srgbClr val="2E6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010912" y="1572768"/>
            <a:ext cx="219456" cy="0"/>
          </a:xfrm>
          <a:prstGeom prst="line">
            <a:avLst/>
          </a:prstGeom>
          <a:ln w="9525">
            <a:solidFill>
              <a:srgbClr val="2E6C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206240" y="3639312"/>
            <a:ext cx="804672" cy="0"/>
          </a:xfrm>
          <a:prstGeom prst="line">
            <a:avLst/>
          </a:prstGeom>
          <a:ln w="9525">
            <a:solidFill>
              <a:srgbClr val="D37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010912" y="3584448"/>
            <a:ext cx="0" cy="54864"/>
          </a:xfrm>
          <a:prstGeom prst="line">
            <a:avLst/>
          </a:prstGeom>
          <a:ln w="9525">
            <a:solidFill>
              <a:srgbClr val="D37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010912" y="3584448"/>
            <a:ext cx="219456" cy="0"/>
          </a:xfrm>
          <a:prstGeom prst="line">
            <a:avLst/>
          </a:prstGeom>
          <a:ln w="9525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5358384" y="1572768"/>
            <a:ext cx="146304" cy="0"/>
          </a:xfrm>
          <a:prstGeom prst="line">
            <a:avLst/>
          </a:prstGeom>
          <a:ln w="8255">
            <a:solidFill>
              <a:srgbClr val="2E6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504688" y="1572768"/>
            <a:ext cx="0" cy="731520"/>
          </a:xfrm>
          <a:prstGeom prst="line">
            <a:avLst/>
          </a:prstGeom>
          <a:ln w="8255">
            <a:solidFill>
              <a:srgbClr val="2E6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504688" y="2304288"/>
            <a:ext cx="54864" cy="0"/>
          </a:xfrm>
          <a:prstGeom prst="line">
            <a:avLst/>
          </a:prstGeom>
          <a:ln w="8255">
            <a:solidFill>
              <a:srgbClr val="2E6C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358384" y="3584448"/>
            <a:ext cx="146304" cy="0"/>
          </a:xfrm>
          <a:prstGeom prst="line">
            <a:avLst/>
          </a:prstGeom>
          <a:ln w="8255">
            <a:solidFill>
              <a:srgbClr val="D37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5504688" y="2304288"/>
            <a:ext cx="0" cy="1280160"/>
          </a:xfrm>
          <a:prstGeom prst="line">
            <a:avLst/>
          </a:prstGeom>
          <a:ln w="8255">
            <a:solidFill>
              <a:srgbClr val="D37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504688" y="2304288"/>
            <a:ext cx="54864" cy="0"/>
          </a:xfrm>
          <a:prstGeom prst="line">
            <a:avLst/>
          </a:prstGeom>
          <a:ln w="8255">
            <a:solidFill>
              <a:srgbClr val="D378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742432" y="2304288"/>
            <a:ext cx="219456" cy="0"/>
          </a:xfrm>
          <a:prstGeom prst="line">
            <a:avLst/>
          </a:prstGeom>
          <a:ln w="10795">
            <a:solidFill>
              <a:srgbClr val="6FB2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144768" y="2304288"/>
            <a:ext cx="347472" cy="0"/>
          </a:xfrm>
          <a:prstGeom prst="line">
            <a:avLst/>
          </a:prstGeom>
          <a:ln w="10795">
            <a:solidFill>
              <a:srgbClr val="6FB2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711696" y="2304288"/>
            <a:ext cx="201168" cy="0"/>
          </a:xfrm>
          <a:prstGeom prst="line">
            <a:avLst/>
          </a:prstGeom>
          <a:ln w="10795">
            <a:solidFill>
              <a:srgbClr val="E6BC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114032" y="2304288"/>
            <a:ext cx="292608" cy="0"/>
          </a:xfrm>
          <a:prstGeom prst="line">
            <a:avLst/>
          </a:prstGeom>
          <a:ln w="8255">
            <a:solidFill>
              <a:srgbClr val="1C20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406640" y="1298448"/>
            <a:ext cx="0" cy="2633472"/>
          </a:xfrm>
          <a:prstGeom prst="line">
            <a:avLst/>
          </a:prstGeom>
          <a:ln w="8255">
            <a:solidFill>
              <a:srgbClr val="1C20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7699248" y="1078992"/>
            <a:ext cx="146304" cy="841248"/>
          </a:xfrm>
          <a:prstGeom prst="rect">
            <a:avLst/>
          </a:prstGeom>
          <a:solidFill>
            <a:srgbClr val="FFE7E9"/>
          </a:solidFill>
          <a:ln w="10795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34656" y="905256"/>
            <a:ext cx="475488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D12A30"/>
                </a:solidFill>
                <a:latin typeface="Arial"/>
              </a:rPr>
              <a:t>FC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79792" y="1956816"/>
            <a:ext cx="585216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64 -&gt; 64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394192" y="896112"/>
            <a:ext cx="146304" cy="749808"/>
          </a:xfrm>
          <a:prstGeom prst="rect">
            <a:avLst/>
          </a:prstGeom>
          <a:solidFill>
            <a:srgbClr val="FFE7E9"/>
          </a:solidFill>
          <a:ln w="10795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29600" y="722376"/>
            <a:ext cx="475488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D12A30"/>
                </a:solidFill>
                <a:latin typeface="Arial"/>
              </a:rPr>
              <a:t>FC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174736" y="1682495"/>
            <a:ext cx="585216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64 -&gt; H*2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034272" y="768096"/>
            <a:ext cx="365760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93124" y="800100"/>
            <a:ext cx="365760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51976" y="832103"/>
            <a:ext cx="365760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10828" y="864108"/>
            <a:ext cx="365760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869680" y="896112"/>
            <a:ext cx="365760" cy="676656"/>
          </a:xfrm>
          <a:prstGeom prst="rect">
            <a:avLst/>
          </a:prstGeom>
          <a:solidFill>
            <a:srgbClr val="FFE7E9"/>
          </a:solidFill>
          <a:ln w="11430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>
            <a:off x="8897111" y="1065276"/>
            <a:ext cx="310897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897111" y="1234440"/>
            <a:ext cx="310897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897111" y="1403604"/>
            <a:ext cx="310897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8723376" y="1609344"/>
            <a:ext cx="658368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D12A30"/>
                </a:solidFill>
                <a:latin typeface="Arial"/>
              </a:rPr>
              <a:t>D_hat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41663" y="1773936"/>
            <a:ext cx="621792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646E7E"/>
                </a:solidFill>
                <a:latin typeface="Arial"/>
              </a:rPr>
              <a:t>H x 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394192" y="1783080"/>
            <a:ext cx="146304" cy="493776"/>
          </a:xfrm>
          <a:prstGeom prst="rect">
            <a:avLst/>
          </a:prstGeom>
          <a:solidFill>
            <a:srgbClr val="FFE7E9"/>
          </a:solidFill>
          <a:ln w="10795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229600" y="1609344"/>
            <a:ext cx="475488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D12A30"/>
                </a:solidFill>
                <a:latin typeface="Arial"/>
              </a:rPr>
              <a:t>FC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174736" y="2313432"/>
            <a:ext cx="585216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64 -&gt; 1</a:t>
            </a:r>
          </a:p>
        </p:txBody>
      </p:sp>
      <p:sp>
        <p:nvSpPr>
          <p:cNvPr id="159" name="Oval 158"/>
          <p:cNvSpPr/>
          <p:nvPr/>
        </p:nvSpPr>
        <p:spPr>
          <a:xfrm>
            <a:off x="9034272" y="1947672"/>
            <a:ext cx="118872" cy="118872"/>
          </a:xfrm>
          <a:prstGeom prst="ellipse">
            <a:avLst/>
          </a:prstGeom>
          <a:solidFill>
            <a:srgbClr val="FFE7E9"/>
          </a:solidFill>
          <a:ln w="8890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915400" y="2084831"/>
            <a:ext cx="38404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D12A30"/>
                </a:solidFill>
                <a:latin typeface="Arial"/>
              </a:rPr>
              <a:t>risk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232136" y="868680"/>
            <a:ext cx="256032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190988" y="900684"/>
            <a:ext cx="256032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149840" y="932688"/>
            <a:ext cx="256032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D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10177272" y="1092708"/>
            <a:ext cx="201168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177272" y="1252728"/>
            <a:ext cx="201168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177272" y="1412748"/>
            <a:ext cx="201168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10003536" y="1609344"/>
            <a:ext cx="548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D12A30"/>
                </a:solidFill>
                <a:latin typeface="Arial"/>
              </a:rPr>
              <a:t>targets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21824" y="1773936"/>
            <a:ext cx="512064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646E7E"/>
                </a:solidFill>
                <a:latin typeface="Arial"/>
              </a:rPr>
              <a:t>D, y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028431" y="2185416"/>
            <a:ext cx="1600200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D12A30"/>
                </a:solidFill>
                <a:latin typeface="Arial"/>
              </a:rPr>
              <a:t>aux loss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7406640" y="1481328"/>
            <a:ext cx="274320" cy="0"/>
          </a:xfrm>
          <a:prstGeom prst="line">
            <a:avLst/>
          </a:prstGeom>
          <a:ln w="9525">
            <a:solidFill>
              <a:srgbClr val="D12A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845552" y="1481328"/>
            <a:ext cx="310896" cy="0"/>
          </a:xfrm>
          <a:prstGeom prst="line">
            <a:avLst/>
          </a:prstGeom>
          <a:ln w="9525">
            <a:solidFill>
              <a:srgbClr val="D1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8156448" y="1271016"/>
            <a:ext cx="0" cy="210312"/>
          </a:xfrm>
          <a:prstGeom prst="line">
            <a:avLst/>
          </a:prstGeom>
          <a:ln w="9525">
            <a:solidFill>
              <a:srgbClr val="D1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8156448" y="1271016"/>
            <a:ext cx="219456" cy="0"/>
          </a:xfrm>
          <a:prstGeom prst="line">
            <a:avLst/>
          </a:prstGeom>
          <a:ln w="9525">
            <a:solidFill>
              <a:srgbClr val="D12A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8156448" y="1481328"/>
            <a:ext cx="0" cy="548640"/>
          </a:xfrm>
          <a:prstGeom prst="line">
            <a:avLst/>
          </a:prstGeom>
          <a:ln w="9525">
            <a:solidFill>
              <a:srgbClr val="D1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8156448" y="2029968"/>
            <a:ext cx="219456" cy="0"/>
          </a:xfrm>
          <a:prstGeom prst="line">
            <a:avLst/>
          </a:prstGeom>
          <a:ln w="9525">
            <a:solidFill>
              <a:srgbClr val="D12A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8540496" y="1271016"/>
            <a:ext cx="310896" cy="0"/>
          </a:xfrm>
          <a:prstGeom prst="line">
            <a:avLst/>
          </a:prstGeom>
          <a:ln w="9525">
            <a:solidFill>
              <a:srgbClr val="D12A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8540496" y="2029968"/>
            <a:ext cx="475488" cy="0"/>
          </a:xfrm>
          <a:prstGeom prst="line">
            <a:avLst/>
          </a:prstGeom>
          <a:ln w="9525">
            <a:solidFill>
              <a:srgbClr val="D12A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9363456" y="1252728"/>
            <a:ext cx="768096" cy="0"/>
          </a:xfrm>
          <a:prstGeom prst="line">
            <a:avLst/>
          </a:prstGeom>
          <a:ln w="6985">
            <a:solidFill>
              <a:srgbClr val="D12A3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7699248" y="3246120"/>
            <a:ext cx="146304" cy="694944"/>
          </a:xfrm>
          <a:prstGeom prst="rect">
            <a:avLst/>
          </a:prstGeom>
          <a:solidFill>
            <a:srgbClr val="E8EEFA"/>
          </a:solidFill>
          <a:ln w="10795">
            <a:solidFill>
              <a:srgbClr val="44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534656" y="3072384"/>
            <a:ext cx="475488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44527B"/>
                </a:solidFill>
                <a:latin typeface="Arial"/>
              </a:rPr>
              <a:t>Actor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394192" y="3364992"/>
            <a:ext cx="128016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44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>
            <a:off x="8394192" y="3584448"/>
            <a:ext cx="128016" cy="0"/>
          </a:xfrm>
          <a:prstGeom prst="line">
            <a:avLst/>
          </a:prstGeom>
          <a:ln w="4445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8229600" y="3840480"/>
            <a:ext cx="457200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44527B"/>
                </a:solidFill>
                <a:latin typeface="Arial"/>
              </a:rPr>
              <a:t>a_t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229600" y="3986784"/>
            <a:ext cx="457200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646E7E"/>
                </a:solidFill>
                <a:latin typeface="Arial"/>
              </a:rPr>
              <a:t>2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699248" y="4005072"/>
            <a:ext cx="146304" cy="438912"/>
          </a:xfrm>
          <a:prstGeom prst="rect">
            <a:avLst/>
          </a:prstGeom>
          <a:solidFill>
            <a:srgbClr val="F1EBFA"/>
          </a:solidFill>
          <a:ln w="10795">
            <a:solidFill>
              <a:srgbClr val="5C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534656" y="3831335"/>
            <a:ext cx="475488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5C4E7E"/>
                </a:solidFill>
                <a:latin typeface="Arial"/>
              </a:rPr>
              <a:t>Critic</a:t>
            </a:r>
          </a:p>
        </p:txBody>
      </p:sp>
      <p:sp>
        <p:nvSpPr>
          <p:cNvPr id="187" name="Oval 186"/>
          <p:cNvSpPr/>
          <p:nvPr/>
        </p:nvSpPr>
        <p:spPr>
          <a:xfrm>
            <a:off x="8403336" y="4133087"/>
            <a:ext cx="109728" cy="109728"/>
          </a:xfrm>
          <a:prstGeom prst="ellipse">
            <a:avLst/>
          </a:prstGeom>
          <a:solidFill>
            <a:srgbClr val="F1EBFA"/>
          </a:solidFill>
          <a:ln w="8890">
            <a:solidFill>
              <a:srgbClr val="5C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247888" y="4279392"/>
            <a:ext cx="411480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5C4E7E"/>
                </a:solidFill>
                <a:latin typeface="Arial"/>
              </a:rPr>
              <a:t>V_t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067544" y="3346704"/>
            <a:ext cx="292608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44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026396" y="3378708"/>
            <a:ext cx="292608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44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985248" y="3410712"/>
            <a:ext cx="292608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44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10012680" y="3552444"/>
            <a:ext cx="237744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0012680" y="3694176"/>
            <a:ext cx="237744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0012680" y="3835908"/>
            <a:ext cx="237744" cy="0"/>
          </a:xfrm>
          <a:prstGeom prst="line">
            <a:avLst/>
          </a:prstGeom>
          <a:ln w="4445">
            <a:solidFill>
              <a:srgbClr val="CE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9838944" y="4014215"/>
            <a:ext cx="58521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44527B"/>
                </a:solidFill>
                <a:latin typeface="Arial"/>
              </a:rPr>
              <a:t>rollout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857232" y="4178807"/>
            <a:ext cx="548640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646E7E"/>
                </a:solidFill>
                <a:latin typeface="Arial"/>
              </a:rPr>
              <a:t>o,a,r,V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601200" y="4279392"/>
            <a:ext cx="1005840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44527B"/>
                </a:solidFill>
                <a:latin typeface="Arial"/>
              </a:rPr>
              <a:t>PPO update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7406640" y="3602736"/>
            <a:ext cx="274320" cy="0"/>
          </a:xfrm>
          <a:prstGeom prst="line">
            <a:avLst/>
          </a:prstGeom>
          <a:ln w="9525">
            <a:solidFill>
              <a:srgbClr val="4452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406640" y="4224528"/>
            <a:ext cx="274320" cy="0"/>
          </a:xfrm>
          <a:prstGeom prst="line">
            <a:avLst/>
          </a:prstGeom>
          <a:ln w="9525">
            <a:solidFill>
              <a:srgbClr val="5C4E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845552" y="3602736"/>
            <a:ext cx="530352" cy="0"/>
          </a:xfrm>
          <a:prstGeom prst="line">
            <a:avLst/>
          </a:prstGeom>
          <a:ln w="9525">
            <a:solidFill>
              <a:srgbClr val="4452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7845552" y="4187952"/>
            <a:ext cx="548640" cy="36576"/>
          </a:xfrm>
          <a:prstGeom prst="line">
            <a:avLst/>
          </a:prstGeom>
          <a:ln w="9525">
            <a:solidFill>
              <a:srgbClr val="5C4E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540496" y="3602736"/>
            <a:ext cx="1426464" cy="0"/>
          </a:xfrm>
          <a:prstGeom prst="line">
            <a:avLst/>
          </a:prstGeom>
          <a:ln w="6985">
            <a:solidFill>
              <a:srgbClr val="44527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149840" y="3986784"/>
            <a:ext cx="0" cy="201168"/>
          </a:xfrm>
          <a:prstGeom prst="line">
            <a:avLst/>
          </a:prstGeom>
          <a:ln w="6985">
            <a:solidFill>
              <a:srgbClr val="44527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H="1">
            <a:off x="7900416" y="4334256"/>
            <a:ext cx="1682496" cy="0"/>
          </a:xfrm>
          <a:prstGeom prst="line">
            <a:avLst/>
          </a:prstGeom>
          <a:ln w="6985">
            <a:solidFill>
              <a:srgbClr val="44527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4709160" y="4718304"/>
            <a:ext cx="347472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46E7E"/>
                </a:solidFill>
                <a:latin typeface="Arial"/>
              </a:rPr>
              <a:t>L_total = L_PPO + lambda_traj L_traj + lambda_risk L_risk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