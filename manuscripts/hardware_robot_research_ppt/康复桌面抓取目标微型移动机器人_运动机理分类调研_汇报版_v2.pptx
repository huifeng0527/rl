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actu.epfl.ch/news/a-robot-to-help-visually-impaired-schoolchildren-2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toio.io/platform/cube/" TargetMode="External"/><Relationship Id="rId4" Type="http://schemas.openxmlformats.org/officeDocument/2006/relationships/hyperlink" Target="https://toio.github.io/toio-spec/en/docs/hardware_other/" TargetMode="External"/><Relationship Id="rId5" Type="http://schemas.openxmlformats.org/officeDocument/2006/relationships/hyperlink" Target="https://projects.gctronic.com/epuck2/e-puck2-flyer.pdf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hackaday.io/project/181818/gallery" TargetMode="External"/><Relationship Id="rId4" Type="http://schemas.openxmlformats.org/officeDocument/2006/relationships/hyperlink" Target="https://arxiv.org/abs/2404.17125" TargetMode="External"/><Relationship Id="rId5" Type="http://schemas.openxmlformats.org/officeDocument/2006/relationships/hyperlink" Target="https://robot-soccer-kit.github.io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hyperlink" Target="https://lgdxrobot.uk/lgdxrobot2/" TargetMode="External"/><Relationship Id="rId4" Type="http://schemas.openxmlformats.org/officeDocument/2006/relationships/hyperlink" Target="https://www.jstage.jst.go.jp/article/jsmermd/2021/0/2021_1P1-L14/_article/-char/en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sphero.com/products/sphero-mini" TargetMode="External"/><Relationship Id="rId4" Type="http://schemas.openxmlformats.org/officeDocument/2006/relationships/hyperlink" Target="https://help.sphero.com/sphero-support/bolt1-speed-and-distance-accuracy" TargetMode="External"/><Relationship Id="rId5" Type="http://schemas.openxmlformats.org/officeDocument/2006/relationships/hyperlink" Target="https://research.aalto.fi/en/publications/mechanical-development-and-control-of-a-miniature-nonholonomic-sp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hyperlink" Target="https://actu.epfl.ch/news/a-robot-to-help-visually-impaired-schoolchildren-2/" TargetMode="External"/><Relationship Id="rId4" Type="http://schemas.openxmlformats.org/officeDocument/2006/relationships/hyperlink" Target="https://academia.skadge.org/publis/ozgur2017cellulo.pdf" TargetMode="External"/><Relationship Id="rId5" Type="http://schemas.openxmlformats.org/officeDocument/2006/relationships/hyperlink" Target="https://infoscience.epfl.ch/server/api/core/bitstreams/4dccb2b7-e91c-4fa9-9c95-c25ef41669c4/content" TargetMode="External"/><Relationship Id="rId6" Type="http://schemas.openxmlformats.org/officeDocument/2006/relationships/hyperlink" Target="https://doi.org/10.1109/IROS47612.2022.9981983" TargetMode="External"/><Relationship Id="rId7" Type="http://schemas.openxmlformats.org/officeDocument/2006/relationships/hyperlink" Target="https://catalog.lib.kyushu-u.ac.jp/opac_download_md/7172240/7172240_AM.pdf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cademia.skadge.org/publis/ozgur2017cellulo.pdf" TargetMode="External"/><Relationship Id="rId3" Type="http://schemas.openxmlformats.org/officeDocument/2006/relationships/hyperlink" Target="https://arxiv.org/abs/2404.17125" TargetMode="External"/><Relationship Id="rId4" Type="http://schemas.openxmlformats.org/officeDocument/2006/relationships/hyperlink" Target="https://toio.io/platform/cube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170432"/>
            <a:ext cx="5669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8B89"/>
                </a:solidFill>
                <a:latin typeface="Microsoft YaHei"/>
              </a:rPr>
              <a:t>微型桌面小车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64792"/>
            <a:ext cx="749807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B3043"/>
                </a:solidFill>
                <a:latin typeface="Microsoft YaHei"/>
              </a:rPr>
              <a:t>运动机理分类调研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724912"/>
            <a:ext cx="5852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52F39"/>
                </a:solidFill>
                <a:latin typeface="Microsoft YaHei"/>
              </a:rPr>
              <a:t>面向康复桌面抓取目标的结构筛选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3401568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C77"/>
                </a:solidFill>
                <a:latin typeface="Microsoft YaHei"/>
              </a:rPr>
              <a:t>重点比较差速、全向轮、麦克纳姆、球形滚动与全向球驱动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315968"/>
            <a:ext cx="3017520" cy="36576"/>
          </a:xfrm>
          <a:prstGeom prst="rect">
            <a:avLst/>
          </a:prstGeom>
          <a:solidFill>
            <a:srgbClr val="1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460857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06C77"/>
                </a:solidFill>
                <a:latin typeface="Microsoft YaHei"/>
              </a:rPr>
              <a:t>石慧峰  ·  2026.07</a:t>
            </a:r>
          </a:p>
        </p:txBody>
      </p:sp>
      <p:pic>
        <p:nvPicPr>
          <p:cNvPr id="8" name="Picture 7" descr="cellulo_body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60804"/>
            <a:ext cx="3703320" cy="2962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26679" y="5614416"/>
            <a:ext cx="3520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06C77"/>
                </a:solidFill>
                <a:latin typeface="Microsoft YaHei"/>
              </a:rPr>
              <a:t>代表性全向球驱动科研平台：Cellulo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3043"/>
                </a:solidFill>
                <a:latin typeface="Microsoft YaHei"/>
              </a:rPr>
              <a:t>场景要求决定底盘机理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06C77"/>
                </a:solidFill>
                <a:latin typeface="Microsoft YaHei"/>
              </a:rPr>
              <a:t>目标不是普通移动机器人，而是能够复现机械臂二维末端效果的小型抓取目标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99032"/>
            <a:ext cx="10771632" cy="22860"/>
          </a:xfrm>
          <a:prstGeom prst="rect">
            <a:avLst/>
          </a:prstGeom>
          <a:solidFill>
            <a:srgbClr val="1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755648"/>
            <a:ext cx="4754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8B89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9616" y="1755648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B3043"/>
                </a:solidFill>
                <a:latin typeface="Microsoft YaHei"/>
              </a:rPr>
              <a:t>尺寸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55648"/>
            <a:ext cx="7909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52F39"/>
                </a:solidFill>
                <a:latin typeface="Microsoft YaHei"/>
              </a:rPr>
              <a:t>优先30–80 mm；质量和外形应允许安全触碰或抓取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15184"/>
            <a:ext cx="4754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8B89"/>
                </a:solidFill>
                <a:latin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615184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B3043"/>
                </a:solidFill>
                <a:latin typeface="Microsoft YaHei"/>
              </a:rPr>
              <a:t>运动学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15184"/>
            <a:ext cx="7909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52F39"/>
                </a:solidFill>
                <a:latin typeface="Microsoft YaHei"/>
              </a:rPr>
              <a:t>最好能够保持朝向横移，即独立控制 vx、vy 与角速度 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474720"/>
            <a:ext cx="4754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8B89"/>
                </a:solidFill>
                <a:latin typeface="Microsoft Ya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3474720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B3043"/>
                </a:solidFill>
                <a:latin typeface="Microsoft YaHei"/>
              </a:rPr>
              <a:t>平滑性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474720"/>
            <a:ext cx="7909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52F39"/>
                </a:solidFill>
                <a:latin typeface="Microsoft YaHei"/>
              </a:rPr>
              <a:t>5–20 mm/s低速不爬行；快速换向没有明显停顿、振动或轮滑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334256"/>
            <a:ext cx="4754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8B89"/>
                </a:solidFill>
                <a:latin typeface="Microsoft YaHe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433425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B3043"/>
                </a:solidFill>
                <a:latin typeface="Microsoft YaHei"/>
              </a:rPr>
              <a:t>控制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334256"/>
            <a:ext cx="7909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52F39"/>
                </a:solidFill>
                <a:latin typeface="Microsoft YaHei"/>
              </a:rPr>
              <a:t>外部20 Hz RL指令可持续接入，底层具有更高频速度/位置闭环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193792"/>
            <a:ext cx="4754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8B89"/>
                </a:solidFill>
                <a:latin typeface="Microsoft YaHe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5193792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B3043"/>
                </a:solidFill>
                <a:latin typeface="Microsoft YaHei"/>
              </a:rPr>
              <a:t>精度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193792"/>
            <a:ext cx="7909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52F39"/>
                </a:solidFill>
                <a:latin typeface="Microsoft YaHei"/>
              </a:rPr>
              <a:t>不能把编码器分辨率当运动精度；目标是毫米级动态轨迹误差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6080760"/>
            <a:ext cx="10332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3043"/>
                </a:solidFill>
                <a:latin typeface="Microsoft YaHei"/>
              </a:rPr>
              <a:t>筛选逻辑：先看机理能否全向，再看现有平台是否足够小、足够平滑、具有精度证据。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53796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06C77"/>
                </a:solidFill>
                <a:latin typeface="Microsoft YaHei"/>
              </a:rPr>
              <a:t>运动机理分类调研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3043"/>
                </a:solidFill>
                <a:latin typeface="Microsoft YaHei"/>
              </a:rPr>
              <a:t>五类主要运动机理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06C77"/>
                </a:solidFill>
                <a:latin typeface="Microsoft YaHei"/>
              </a:rPr>
              <a:t>从非完整约束到真正三自由度全向，结构自由度决定轨迹形态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99032"/>
            <a:ext cx="10771632" cy="22860"/>
          </a:xfrm>
          <a:prstGeom prst="rect">
            <a:avLst/>
          </a:prstGeom>
          <a:solidFill>
            <a:srgbClr val="1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664208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B3043"/>
                </a:solidFill>
                <a:latin typeface="Microsoft YaHei"/>
              </a:rPr>
              <a:t>机理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9191" y="1664208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B3043"/>
                </a:solidFill>
                <a:latin typeface="Microsoft YaHei"/>
              </a:rPr>
              <a:t>典型控制量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64208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B3043"/>
                </a:solidFill>
                <a:latin typeface="Microsoft YaHei"/>
              </a:rPr>
              <a:t>保持朝向横移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18504" y="166420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B3043"/>
                </a:solidFill>
                <a:latin typeface="Microsoft YaHei"/>
              </a:rPr>
              <a:t>低速主要问题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2872" y="1664208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B3043"/>
                </a:solidFill>
                <a:latin typeface="Microsoft YaHei"/>
              </a:rPr>
              <a:t>代表平台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975104"/>
            <a:ext cx="10817352" cy="10972"/>
          </a:xfrm>
          <a:prstGeom prst="rect">
            <a:avLst/>
          </a:prstGeom>
          <a:solidFill>
            <a:srgbClr val="D7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093976"/>
            <a:ext cx="187451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1">
                <a:solidFill>
                  <a:srgbClr val="252F39"/>
                </a:solidFill>
                <a:latin typeface="Microsoft YaHei"/>
              </a:rPr>
              <a:t>双轮差速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1" y="2093976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v, 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093976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B43F46"/>
                </a:solidFill>
                <a:latin typeface="Microsoft YaHei"/>
              </a:rPr>
              <a:t>不能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093976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转向停顿；非完整约束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2093976"/>
            <a:ext cx="217627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toio / e-puck2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779776"/>
            <a:ext cx="10817352" cy="10972"/>
          </a:xfrm>
          <a:prstGeom prst="rect">
            <a:avLst/>
          </a:prstGeom>
          <a:solidFill>
            <a:srgbClr val="D7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898648"/>
            <a:ext cx="187451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1">
                <a:solidFill>
                  <a:srgbClr val="252F39"/>
                </a:solidFill>
                <a:latin typeface="Microsoft YaHei"/>
              </a:rPr>
              <a:t>三轮全向轮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1" y="2898648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vx, vy, 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2898648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307C53"/>
                </a:solidFill>
                <a:latin typeface="Microsoft YaHei"/>
              </a:rPr>
              <a:t>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898648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滚子切换与侧向打滑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2898648"/>
            <a:ext cx="217627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Misaka / RSK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584448"/>
            <a:ext cx="10817352" cy="10972"/>
          </a:xfrm>
          <a:prstGeom prst="rect">
            <a:avLst/>
          </a:prstGeom>
          <a:solidFill>
            <a:srgbClr val="D7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3703320"/>
            <a:ext cx="187451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1">
                <a:solidFill>
                  <a:srgbClr val="252F39"/>
                </a:solidFill>
                <a:latin typeface="Microsoft YaHei"/>
              </a:rPr>
              <a:t>四轮麦克纳姆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4911" y="3703320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vx, vy, 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3703320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307C53"/>
                </a:solidFill>
                <a:latin typeface="Microsoft YaHei"/>
              </a:rPr>
              <a:t>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3703320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滚子振动；横移里程计误差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3703320"/>
            <a:ext cx="217627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LGDX / ROSbot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4389120"/>
            <a:ext cx="10817352" cy="10972"/>
          </a:xfrm>
          <a:prstGeom prst="rect">
            <a:avLst/>
          </a:prstGeom>
          <a:solidFill>
            <a:srgbClr val="D7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4507992"/>
            <a:ext cx="187451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1">
                <a:solidFill>
                  <a:srgbClr val="252F39"/>
                </a:solidFill>
                <a:latin typeface="Microsoft YaHei"/>
              </a:rPr>
              <a:t>球形滚动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4911" y="4507992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方向 + 速度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4507992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通常不能严格实现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507992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球壳惯性、低速漂移、换向滞后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4507992"/>
            <a:ext cx="217627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Sphero / 学术球形原型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5193792"/>
            <a:ext cx="10817352" cy="10972"/>
          </a:xfrm>
          <a:prstGeom prst="rect">
            <a:avLst/>
          </a:prstGeom>
          <a:solidFill>
            <a:srgbClr val="D7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5312664"/>
            <a:ext cx="187451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1">
                <a:solidFill>
                  <a:srgbClr val="252F39"/>
                </a:solidFill>
                <a:latin typeface="Microsoft YaHei"/>
              </a:rPr>
              <a:t>全向球/特殊驱动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24911" y="5312664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vx, vy, 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5312664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307C53"/>
                </a:solidFill>
                <a:latin typeface="Microsoft YaHei"/>
              </a:rPr>
              <a:t>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4224" y="5312664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制造复杂；平台多为科研原型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5312664"/>
            <a:ext cx="217627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Cellulo / torus wheel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6016752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B3043"/>
                </a:solidFill>
                <a:latin typeface="Microsoft YaHei"/>
              </a:rPr>
              <a:t>只有后三类在运动学上具备机械臂式平面全向能力；其中全向球的连续接触最有利于低速平滑。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653796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06C77"/>
                </a:solidFill>
                <a:latin typeface="Microsoft YaHei"/>
              </a:rPr>
              <a:t>运动机理分类调研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3043"/>
                </a:solidFill>
                <a:latin typeface="Microsoft YaHei"/>
              </a:rPr>
              <a:t>双轮差速驱动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06C77"/>
                </a:solidFill>
                <a:latin typeface="Microsoft YaHei"/>
              </a:rPr>
              <a:t>最容易做到微型化，但横向运动必须通过转向或圆弧完成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99032"/>
            <a:ext cx="10771632" cy="22860"/>
          </a:xfrm>
          <a:prstGeom prst="rect">
            <a:avLst/>
          </a:prstGeom>
          <a:solidFill>
            <a:srgbClr val="1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oio_body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77949"/>
            <a:ext cx="5074920" cy="38061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5925312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06C77"/>
                </a:solidFill>
                <a:latin typeface="Microsoft YaHei"/>
              </a:rPr>
              <a:t>代表实物：Sony toio Core Cube（商用）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1700784"/>
            <a:ext cx="4773168" cy="3877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机理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左右两轮独立调速，直接控制线速度v和角速度ω；属于非完整约束。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代表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商用toio 32×32×20 mm、30 g；科研e-puck2直径70 mm、130 g。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速度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toio最高350 mm/s；e-puck2最高约154 mm/s。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控制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BLE/Python目标点控制或ROS/外部视觉均成熟。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精度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toio无官方毫米实测；e-puck2的0.13 mm仅为电机步进分辨率。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场景判断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尺寸和成熟度最好，但不能保持朝向横移，无法复现机械臂二维末端轨迹。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5797296"/>
            <a:ext cx="4663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07E26"/>
                </a:solidFill>
                <a:latin typeface="Microsoft YaHei"/>
              </a:rPr>
              <a:t>筛选：适合快速原型，不适合作为“机械臂效果”等效方案。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53796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06C77"/>
                </a:solidFill>
                <a:latin typeface="Microsoft YaHei"/>
              </a:rPr>
              <a:t>运动机理分类调研  | 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653796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B6196"/>
                </a:solidFill>
                <a:latin typeface="Microsoft YaHei"/>
                <a:hlinkClick r:id="rId3"/>
              </a:rPr>
              <a:t>toio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6537960"/>
            <a:ext cx="7955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B6196"/>
                </a:solidFill>
                <a:latin typeface="Microsoft YaHei"/>
                <a:hlinkClick r:id="rId4"/>
              </a:rPr>
              <a:t>toio规格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6537960"/>
            <a:ext cx="8823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B6196"/>
                </a:solidFill>
                <a:latin typeface="Microsoft YaHei"/>
                <a:hlinkClick r:id="rId5"/>
              </a:rPr>
              <a:t>e-puck2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3043"/>
                </a:solidFill>
                <a:latin typeface="Microsoft YaHei"/>
              </a:rPr>
              <a:t>三轮全向轮驱动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06C77"/>
                </a:solidFill>
                <a:latin typeface="Microsoft YaHei"/>
              </a:rPr>
              <a:t>三个120°布置的全向轮能够直接产生任意平移与旋转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99032"/>
            <a:ext cx="10771632" cy="22860"/>
          </a:xfrm>
          <a:prstGeom prst="rect">
            <a:avLst/>
          </a:prstGeom>
          <a:solidFill>
            <a:srgbClr val="1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bot_soccer_omni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09907"/>
            <a:ext cx="5074919" cy="37514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5925312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06C77"/>
                </a:solidFill>
                <a:latin typeface="Microsoft YaHei"/>
              </a:rPr>
              <a:t>代表实物：Robot Soccer Kit（三全向轮科研/开源平台）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1700784"/>
            <a:ext cx="4773168" cy="3877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机理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三个全向轮通常以120°布置，独立控制vx、vy、ω，是真正平面全向。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代表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Misaka直径100 mm、高50 mm；RSK直径约176 mm、710 g。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速度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两类平台公开最高平移速度均约200 mm/s。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控制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Arduino/XBee/纸面微点阵，或Python/蓝牙/顶部ArUco视觉。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精度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Misaka未报告整机轨迹误差；RSK视觉约3 mm/像素，未报告路径RMSE。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场景判断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运动学符合，但现有完整平台仍偏大，滚子接触会带来低速波动与侧滑。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5797296"/>
            <a:ext cx="4663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07E26"/>
                </a:solidFill>
                <a:latin typeface="Microsoft YaHei"/>
              </a:rPr>
              <a:t>筛选：可作为第二候选机理，但需要进一步微型化并验证低速轨迹。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53796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06C77"/>
                </a:solidFill>
                <a:latin typeface="Microsoft YaHei"/>
              </a:rPr>
              <a:t>运动机理分类调研  | 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6537960"/>
            <a:ext cx="7955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B6196"/>
                </a:solidFill>
                <a:latin typeface="Microsoft YaHei"/>
                <a:hlinkClick r:id="rId4"/>
              </a:rPr>
              <a:t>Misaka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6537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B6196"/>
                </a:solidFill>
                <a:latin typeface="Microsoft YaHei"/>
                <a:hlinkClick r:id="rId5"/>
              </a:rPr>
              <a:t>Robot Soccer 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653796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B6196"/>
                </a:solidFill>
                <a:latin typeface="Microsoft YaHei"/>
                <a:hlinkClick r:id="rId3"/>
              </a:rPr>
              <a:t>照片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3043"/>
                </a:solidFill>
                <a:latin typeface="Microsoft YaHei"/>
              </a:rPr>
              <a:t>四轮麦克纳姆驱动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06C77"/>
                </a:solidFill>
                <a:latin typeface="Microsoft YaHei"/>
              </a:rPr>
              <a:t>四个带45°滚子的车轮可全向移动，但紧凑性和低速丝滑性较差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99032"/>
            <a:ext cx="10771632" cy="22860"/>
          </a:xfrm>
          <a:prstGeom prst="rect">
            <a:avLst/>
          </a:prstGeom>
          <a:solidFill>
            <a:srgbClr val="1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gdx_mecanum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87092"/>
            <a:ext cx="507492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5925312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06C77"/>
                </a:solidFill>
                <a:latin typeface="Microsoft YaHei"/>
              </a:rPr>
              <a:t>代表实物：LGDXRobot2（开源ROS 2麦克纳姆平台）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1700784"/>
            <a:ext cx="4773168" cy="3877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机理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四轮滚子轴通常为±45°，通过轮速组合独立生成vx、vy、ω。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代表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LGDXRobot2约240×240×134 mm；较小的MentorPi仍约212×171×147 mm、1.2 kg。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速度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同类ROS底盘常见0.6–1.0 m/s，远高于康复目标需求。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控制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STM32电机PID、编码器、IMU、ROS 2 cmd_vel与外部定位。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精度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小型产品通常无轨迹RMSE；横移与斜移时编码器里程计受轮滑影响明显。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场景判断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现有平台尺寸和质量过大；外露滚子、振动和侧向滑移不利于手部交互。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5797296"/>
            <a:ext cx="4663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43F46"/>
                </a:solidFill>
                <a:latin typeface="Microsoft YaHei"/>
              </a:rPr>
              <a:t>筛选：运动学全向，但现有尺寸和机械接触特性不适合抓取目标。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53796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06C77"/>
                </a:solidFill>
                <a:latin typeface="Microsoft YaHei"/>
              </a:rPr>
              <a:t>运动机理分类调研  | 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653796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B6196"/>
                </a:solidFill>
                <a:latin typeface="Microsoft YaHei"/>
                <a:hlinkClick r:id="rId3"/>
              </a:rPr>
              <a:t>LGDXRobot2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653796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B6196"/>
                </a:solidFill>
                <a:latin typeface="Microsoft YaHei"/>
                <a:hlinkClick r:id="rId4"/>
              </a:rPr>
              <a:t>轮滑研究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3043"/>
                </a:solidFill>
                <a:latin typeface="Microsoft YaHei"/>
              </a:rPr>
              <a:t>球形滚动机器人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06C77"/>
                </a:solidFill>
                <a:latin typeface="Microsoft YaHei"/>
              </a:rPr>
              <a:t>外形最适合抓握，但球体运动并不等于机械臂式三自由度全向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99032"/>
            <a:ext cx="10771632" cy="22860"/>
          </a:xfrm>
          <a:prstGeom prst="rect">
            <a:avLst/>
          </a:prstGeom>
          <a:solidFill>
            <a:srgbClr val="1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hero_mini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48" y="1682496"/>
            <a:ext cx="420624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5925312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06C77"/>
                </a:solidFill>
                <a:latin typeface="Microsoft YaHei"/>
              </a:rPr>
              <a:t>代表实物：Sphero Mini（商用球形机器人）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1700784"/>
            <a:ext cx="4773168" cy="3877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机理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内部差速车、摆锤或摩擦机构驱动球壳滚动；方向改变伴随内部姿态调整。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代表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Sphero Mini直径42 mm、46 g；学术非完整球形原型可做到约60 mm、55 g。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速度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Mini最高约1 m/s；60 mm学术原型约0.16 m/s。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控制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BLE应用/API或实验室视觉反馈；通常缺乏桌面绝对位置闭环。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精度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Sphero无位置精度指标；厂商对BOLT明确说明其不是精密测量设备。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场景判断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圆润、轻、易抓握，但低速漂移、滚动惯性和换向滞后使轨迹不可控。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5797296"/>
            <a:ext cx="4663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43F46"/>
                </a:solidFill>
                <a:latin typeface="Microsoft YaHei"/>
              </a:rPr>
              <a:t>筛选：交互外形优秀，但不适合作为高精度机械臂替代运动平台。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53796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06C77"/>
                </a:solidFill>
                <a:latin typeface="Microsoft YaHei"/>
              </a:rPr>
              <a:t>运动机理分类调研  | 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6537960"/>
            <a:ext cx="12298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B6196"/>
                </a:solidFill>
                <a:latin typeface="Microsoft YaHei"/>
                <a:hlinkClick r:id="rId3"/>
              </a:rPr>
              <a:t>Sphero 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2420" y="653796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B6196"/>
                </a:solidFill>
                <a:latin typeface="Microsoft YaHei"/>
                <a:hlinkClick r:id="rId4"/>
              </a:rPr>
              <a:t>精度说明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5380" y="6537960"/>
            <a:ext cx="7955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B6196"/>
                </a:solidFill>
                <a:latin typeface="Microsoft YaHei"/>
                <a:hlinkClick r:id="rId5"/>
              </a:rPr>
              <a:t>球形科研原型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3043"/>
                </a:solidFill>
                <a:latin typeface="Microsoft YaHei"/>
              </a:rPr>
              <a:t>全向球与特殊全向驱动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06C77"/>
                </a:solidFill>
                <a:latin typeface="Microsoft YaHei"/>
              </a:rPr>
              <a:t>连续接触的全向球驱动最接近机械臂平面末端的运动效果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99032"/>
            <a:ext cx="10771632" cy="22860"/>
          </a:xfrm>
          <a:prstGeom prst="rect">
            <a:avLst/>
          </a:prstGeom>
          <a:solidFill>
            <a:srgbClr val="1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ellulo_body_epfl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357290"/>
            <a:ext cx="5074920" cy="28566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5925312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06C77"/>
                </a:solidFill>
                <a:latin typeface="Microsoft YaHei"/>
              </a:rPr>
              <a:t>代表实物：Cellulo（全向球驱动科研平台）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1700784"/>
            <a:ext cx="4773168" cy="3877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机理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三个全向球驱动单元以120°布置，连续接触地面并独立控制vx、vy、ω。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代表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Cellulo约75 mm、167.8 g；另有双自由度环面轮等实验室特殊机构。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速度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Cellulo实测最大线速度约185 mm/s，适合康复桌面速度范围。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控制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约93 Hz板载定位/控制、Bluetooth、位置与路径跟踪、辅助回驱。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精度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纸面定位约0.27 mm、1.5°；这是感知精度，公开资料未给动态路径RMSE。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108B89"/>
                </a:solidFill>
                <a:latin typeface="Microsoft YaHei"/>
              </a:rPr>
              <a:t>场景判断  </a:t>
            </a:r>
            <a:r>
              <a:rPr sz="1420" b="0">
                <a:solidFill>
                  <a:srgbClr val="252F39"/>
                </a:solidFill>
                <a:latin typeface="Microsoft YaHei"/>
              </a:rPr>
              <a:t>真全向、连续接触、尺寸可掌握，已有康复研究；主要问题是未商业化。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5797296"/>
            <a:ext cx="4663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07C53"/>
                </a:solidFill>
                <a:latin typeface="Microsoft YaHei"/>
              </a:rPr>
              <a:t>筛选：当前机理上最符合要求，是后续优先获取和验证的方向。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53796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06C77"/>
                </a:solidFill>
                <a:latin typeface="Microsoft YaHei"/>
              </a:rPr>
              <a:t>运动机理分类调研  | 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6537960"/>
            <a:ext cx="10561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B6196"/>
                </a:solidFill>
                <a:latin typeface="Microsoft YaHei"/>
                <a:hlinkClick r:id="rId4"/>
              </a:rPr>
              <a:t>Cellulo论文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8683" y="653796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B6196"/>
                </a:solidFill>
                <a:latin typeface="Microsoft YaHei"/>
                <a:hlinkClick r:id="rId5"/>
              </a:rPr>
              <a:t>运动控制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1644" y="6537960"/>
            <a:ext cx="7955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B6196"/>
                </a:solidFill>
                <a:latin typeface="Microsoft YaHei"/>
                <a:hlinkClick r:id="rId6"/>
              </a:rPr>
              <a:t>Modulo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41764" y="653796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B6196"/>
                </a:solidFill>
                <a:latin typeface="Microsoft YaHei"/>
                <a:hlinkClick r:id="rId7"/>
              </a:rPr>
              <a:t>环面轮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3043"/>
                </a:solidFill>
                <a:latin typeface="Microsoft YaHei"/>
              </a:rPr>
              <a:t>机理层面的横向筛选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06C77"/>
                </a:solidFill>
                <a:latin typeface="Microsoft YaHei"/>
              </a:rPr>
              <a:t>先判断结构上能否达到目标，再考虑具体产品或科研平台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99032"/>
            <a:ext cx="10771632" cy="22860"/>
          </a:xfrm>
          <a:prstGeom prst="rect">
            <a:avLst/>
          </a:prstGeom>
          <a:solidFill>
            <a:srgbClr val="1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73352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70" b="1">
                <a:solidFill>
                  <a:srgbClr val="1B3043"/>
                </a:solidFill>
                <a:latin typeface="Microsoft YaHei"/>
              </a:rPr>
              <a:t>机理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2887" y="1673352"/>
            <a:ext cx="11704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70" b="1">
                <a:solidFill>
                  <a:srgbClr val="1B3043"/>
                </a:solidFill>
                <a:latin typeface="Microsoft YaHei"/>
              </a:rPr>
              <a:t>可横移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673352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70" b="1">
                <a:solidFill>
                  <a:srgbClr val="1B3043"/>
                </a:solidFill>
                <a:latin typeface="Microsoft YaHei"/>
              </a:rPr>
              <a:t>低速平滑潜力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673352"/>
            <a:ext cx="19019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70" b="1">
                <a:solidFill>
                  <a:srgbClr val="1B3043"/>
                </a:solidFill>
                <a:latin typeface="Microsoft YaHei"/>
              </a:rPr>
              <a:t>小型化证据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2" y="1673352"/>
            <a:ext cx="21214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70" b="1">
                <a:solidFill>
                  <a:srgbClr val="1B3043"/>
                </a:solidFill>
                <a:latin typeface="Microsoft YaHei"/>
              </a:rPr>
              <a:t>精度证据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1673352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70" b="1">
                <a:solidFill>
                  <a:srgbClr val="1B3043"/>
                </a:solidFill>
                <a:latin typeface="Microsoft YaHei"/>
              </a:rPr>
              <a:t>场景结论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48256"/>
            <a:ext cx="10954512" cy="10972"/>
          </a:xfrm>
          <a:prstGeom prst="rect">
            <a:avLst/>
          </a:prstGeom>
          <a:solidFill>
            <a:srgbClr val="D7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167128"/>
            <a:ext cx="180136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1">
                <a:solidFill>
                  <a:srgbClr val="252F39"/>
                </a:solidFill>
                <a:latin typeface="Microsoft YaHei"/>
              </a:rPr>
              <a:t>双轮差速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9463" y="2167128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B43F46"/>
                </a:solidFill>
                <a:latin typeface="Microsoft YaHei"/>
              </a:rPr>
              <a:t>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2167128"/>
            <a:ext cx="19385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较好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51576" y="2167128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32 mm商品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7" y="2167128"/>
            <a:ext cx="204825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无机械臂级实证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4936" y="2167128"/>
            <a:ext cx="180136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1">
                <a:solidFill>
                  <a:srgbClr val="B43F46"/>
                </a:solidFill>
                <a:latin typeface="Microsoft YaHei"/>
              </a:rPr>
              <a:t>原型备选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871216"/>
            <a:ext cx="10954512" cy="10972"/>
          </a:xfrm>
          <a:prstGeom prst="rect">
            <a:avLst/>
          </a:prstGeom>
          <a:solidFill>
            <a:srgbClr val="D7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80136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1">
                <a:solidFill>
                  <a:srgbClr val="252F39"/>
                </a:solidFill>
                <a:latin typeface="Microsoft YaHei"/>
              </a:rPr>
              <a:t>三轮全向轮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9463" y="2990088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307C53"/>
                </a:solidFill>
                <a:latin typeface="Microsoft YaHei"/>
              </a:rPr>
              <a:t>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9896" y="2990088"/>
            <a:ext cx="19385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中等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51576" y="2990088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100 mm科研平台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2990088"/>
            <a:ext cx="204825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定位有、轨迹不足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4936" y="2990088"/>
            <a:ext cx="180136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1">
                <a:solidFill>
                  <a:srgbClr val="D07E26"/>
                </a:solidFill>
                <a:latin typeface="Microsoft YaHei"/>
              </a:rPr>
              <a:t>第二候选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94176"/>
            <a:ext cx="10954512" cy="10972"/>
          </a:xfrm>
          <a:prstGeom prst="rect">
            <a:avLst/>
          </a:prstGeom>
          <a:solidFill>
            <a:srgbClr val="D7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3813048"/>
            <a:ext cx="180136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1">
                <a:solidFill>
                  <a:srgbClr val="252F39"/>
                </a:solidFill>
                <a:latin typeface="Microsoft YaHei"/>
              </a:rPr>
              <a:t>四轮麦克纳姆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9463" y="3813048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307C53"/>
                </a:solidFill>
                <a:latin typeface="Microsoft YaHei"/>
              </a:rPr>
              <a:t>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9896" y="3813048"/>
            <a:ext cx="19385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较差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51576" y="3813048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约200 mm以上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53527" y="3813048"/>
            <a:ext cx="204825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横移轮滑明显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4936" y="3813048"/>
            <a:ext cx="180136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1">
                <a:solidFill>
                  <a:srgbClr val="B43F46"/>
                </a:solidFill>
                <a:latin typeface="Microsoft YaHei"/>
              </a:rPr>
              <a:t>排除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517136"/>
            <a:ext cx="10954512" cy="10972"/>
          </a:xfrm>
          <a:prstGeom prst="rect">
            <a:avLst/>
          </a:prstGeom>
          <a:solidFill>
            <a:srgbClr val="D7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636008"/>
            <a:ext cx="180136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1">
                <a:solidFill>
                  <a:srgbClr val="252F39"/>
                </a:solidFill>
                <a:latin typeface="Microsoft YaHei"/>
              </a:rPr>
              <a:t>球形滚动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9463" y="4636008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D07E26"/>
                </a:solidFill>
                <a:latin typeface="Microsoft YaHei"/>
              </a:rPr>
              <a:t>非严格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39896" y="4636008"/>
            <a:ext cx="19385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较差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51576" y="4636008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42–60 mm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53527" y="4636008"/>
            <a:ext cx="204825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无精度保证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74936" y="4636008"/>
            <a:ext cx="180136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1">
                <a:solidFill>
                  <a:srgbClr val="B43F46"/>
                </a:solidFill>
                <a:latin typeface="Microsoft YaHei"/>
              </a:rPr>
              <a:t>排除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340096"/>
            <a:ext cx="10954512" cy="10972"/>
          </a:xfrm>
          <a:prstGeom prst="rect">
            <a:avLst/>
          </a:prstGeom>
          <a:solidFill>
            <a:srgbClr val="D7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5458968"/>
            <a:ext cx="180136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1">
                <a:solidFill>
                  <a:srgbClr val="252F39"/>
                </a:solidFill>
                <a:latin typeface="Microsoft YaHei"/>
              </a:rPr>
              <a:t>全向球/特殊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9463" y="5458968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307C53"/>
                </a:solidFill>
                <a:latin typeface="Microsoft YaHei"/>
              </a:rPr>
              <a:t>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39896" y="5458968"/>
            <a:ext cx="19385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最好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51576" y="5458968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75 mm科研平台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53527" y="5458968"/>
            <a:ext cx="204825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0">
                <a:solidFill>
                  <a:srgbClr val="252F39"/>
                </a:solidFill>
                <a:latin typeface="Microsoft YaHei"/>
              </a:rPr>
              <a:t>0.27 mm感知；路径待测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74936" y="5458968"/>
            <a:ext cx="180136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0" b="1">
                <a:solidFill>
                  <a:srgbClr val="307C53"/>
                </a:solidFill>
                <a:latin typeface="Microsoft YaHei"/>
              </a:rPr>
              <a:t>优先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6035040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B3043"/>
                </a:solidFill>
                <a:latin typeface="Microsoft YaHei"/>
              </a:rPr>
              <a:t>结论并不是“全向轮一定最好”，而是连续接触的全向球比离散滚子更有机会实现低速丝滑。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653796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06C77"/>
                </a:solidFill>
                <a:latin typeface="Microsoft YaHei"/>
              </a:rPr>
              <a:t>运动机理分类调研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3043"/>
                </a:solidFill>
                <a:latin typeface="Microsoft YaHei"/>
              </a:rPr>
              <a:t>面向康复场景的筛选结果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06C77"/>
                </a:solidFill>
                <a:latin typeface="Microsoft YaHei"/>
              </a:rPr>
              <a:t>按机械臂等效程度、尺寸、安全性和现有证据进行取舍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99032"/>
            <a:ext cx="10771632" cy="22860"/>
          </a:xfrm>
          <a:prstGeom prst="rect">
            <a:avLst/>
          </a:prstGeom>
          <a:solidFill>
            <a:srgbClr val="1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755648"/>
            <a:ext cx="10789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07C53"/>
                </a:solidFill>
                <a:latin typeface="Microsoft YaHei"/>
              </a:rPr>
              <a:t>优先方向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4831" y="1755648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043"/>
                </a:solidFill>
                <a:latin typeface="Microsoft YaHei"/>
              </a:rPr>
              <a:t>全向球/特殊全向驱动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755648"/>
            <a:ext cx="6446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30" b="0">
                <a:solidFill>
                  <a:srgbClr val="252F39"/>
                </a:solidFill>
                <a:latin typeface="Microsoft YaHei"/>
              </a:rPr>
              <a:t>Cellulo类机构同时满足真全向、连续接触、75 mm级尺寸和高频绝对定位。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798063"/>
            <a:ext cx="10789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07E26"/>
                </a:solidFill>
                <a:latin typeface="Microsoft YaHei"/>
              </a:rPr>
              <a:t>第二方向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1" y="2798063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043"/>
                </a:solidFill>
                <a:latin typeface="Microsoft YaHei"/>
              </a:rPr>
              <a:t>三轮全向轮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798063"/>
            <a:ext cx="6446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30" b="0">
                <a:solidFill>
                  <a:srgbClr val="252F39"/>
                </a:solidFill>
                <a:latin typeface="Microsoft YaHei"/>
              </a:rPr>
              <a:t>运动学满足，但现有平台多在100 mm以上；需要重点验证滚子振动、侧滑与低速轨迹。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840479"/>
            <a:ext cx="10789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B6196"/>
                </a:solidFill>
                <a:latin typeface="Microsoft YaHei"/>
              </a:rPr>
              <a:t>快速验证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3840479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043"/>
                </a:solidFill>
                <a:latin typeface="Microsoft YaHei"/>
              </a:rPr>
              <a:t>双轮差速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840479"/>
            <a:ext cx="6446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30" b="0">
                <a:solidFill>
                  <a:srgbClr val="252F39"/>
                </a:solidFill>
                <a:latin typeface="Microsoft YaHei"/>
              </a:rPr>
              <a:t>toio尺寸和控制最成熟，可验证康复交互流程，但不能作为机械臂运动等效证据。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882895"/>
            <a:ext cx="10789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43F46"/>
                </a:solidFill>
                <a:latin typeface="Microsoft YaHei"/>
              </a:rPr>
              <a:t>不建议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4882895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043"/>
                </a:solidFill>
                <a:latin typeface="Microsoft YaHei"/>
              </a:rPr>
              <a:t>麦克纳姆 / 球形滚动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882895"/>
            <a:ext cx="6446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30" b="0">
                <a:solidFill>
                  <a:srgbClr val="252F39"/>
                </a:solidFill>
                <a:latin typeface="Microsoft YaHei"/>
              </a:rPr>
              <a:t>前者过大且低速振动，后者精度和换向不可控，均不适合最终目标。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6053328"/>
            <a:ext cx="10378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B3043"/>
                </a:solidFill>
                <a:latin typeface="Microsoft YaHei"/>
              </a:rPr>
              <a:t>当前没有可直接购买、尺寸小于80 mm、又具有机械臂级动态轨迹精度的完整产品。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53796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06C77"/>
                </a:solidFill>
                <a:latin typeface="Microsoft YaHei"/>
              </a:rPr>
              <a:t>运动机理分类调研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69494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8B89"/>
                </a:solidFill>
                <a:latin typeface="Microsoft YaHei"/>
              </a:rPr>
              <a:t>最终建议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243584"/>
            <a:ext cx="6583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B3043"/>
                </a:solidFill>
                <a:latin typeface="Microsoft YaHei"/>
              </a:rPr>
              <a:t>先选机理，再选平台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139696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52F39"/>
                </a:solidFill>
                <a:latin typeface="Microsoft YaHei"/>
              </a:rPr>
              <a:t>最接近机械臂二维末端效果的不是普通小车，而是全向球/连续接触式全向机构。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108960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8B89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3108960"/>
            <a:ext cx="9555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52F39"/>
                </a:solidFill>
                <a:latin typeface="Microsoft YaHei"/>
              </a:rPr>
              <a:t>优先联系Cellulo/Modulo相关团队，确认平台获取、控制接口和动态轨迹数据。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68496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8B89"/>
                </a:solidFill>
                <a:latin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3968496"/>
            <a:ext cx="9555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52F39"/>
                </a:solidFill>
                <a:latin typeface="Microsoft YaHei"/>
              </a:rPr>
              <a:t>若无法获得，三轮全向轮是可实施的结构备选，但必须做到更小并开展低速滑移测试。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28031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8B89"/>
                </a:solidFill>
                <a:latin typeface="Microsoft YaHe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4828031"/>
            <a:ext cx="9555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52F39"/>
                </a:solidFill>
                <a:latin typeface="Microsoft YaHei"/>
              </a:rPr>
              <a:t>toio可用于近期软件与康复流程验证，但汇报中应明确其非全向，不等效于机械臂。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852160"/>
            <a:ext cx="10332720" cy="32004"/>
          </a:xfrm>
          <a:prstGeom prst="rect">
            <a:avLst/>
          </a:prstGeom>
          <a:solidFill>
            <a:srgbClr val="1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6071616"/>
            <a:ext cx="10287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3043"/>
                </a:solidFill>
                <a:latin typeface="Microsoft YaHei"/>
              </a:rPr>
              <a:t>需要补齐的关键指标：最低稳定速度、90°换向响应、动态轨迹RMSE、载荷与接触扰动。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53796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06C77"/>
                </a:solidFill>
                <a:latin typeface="Microsoft YaHei"/>
              </a:rPr>
              <a:t>运动机理分类调研  | 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6537960"/>
            <a:ext cx="8823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B6196"/>
                </a:solidFill>
                <a:latin typeface="Microsoft YaHei"/>
                <a:hlinkClick r:id="rId2"/>
              </a:rPr>
              <a:t>Cellulo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4948" y="6537960"/>
            <a:ext cx="7955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B6196"/>
                </a:solidFill>
                <a:latin typeface="Microsoft YaHei"/>
                <a:hlinkClick r:id="rId3"/>
              </a:rPr>
              <a:t>Misaka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5068" y="653796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B6196"/>
                </a:solidFill>
                <a:latin typeface="Microsoft YaHei"/>
                <a:hlinkClick r:id="rId4"/>
              </a:rPr>
              <a:t>toio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康复桌面抓取目标微型移动机器人运动机理分类调研</dc:title>
  <dc:subject>差速、全向轮、麦克纳姆、球形与全向球驱动筛选</dc:subject>
  <dc:creator>石慧峰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